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87"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embeddedFontLst>
    <p:embeddedFont>
      <p:font typeface="Arimo" panose="020B0604020202020204" charset="0"/>
      <p:regular r:id="rId13"/>
    </p:embeddedFont>
    <p:embeddedFont>
      <p:font typeface="Outfit ExtraBold" panose="020B0604020202020204" charset="0"/>
      <p:regular r:id="rId14"/>
    </p:embeddedFont>
    <p:embeddedFont>
      <p:font typeface="Trebuchet MS" panose="020B0603020202020204" pitchFamily="34" charset="0"/>
      <p:regular r:id="rId15"/>
      <p:bold r:id="rId16"/>
      <p:italic r:id="rId17"/>
      <p:boldItalic r:id="rId18"/>
    </p:embeddedFont>
    <p:embeddedFont>
      <p:font typeface="Wingdings 3" panose="05040102010807070707" pitchFamily="18" charset="2"/>
      <p:regular r:id="rId1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31831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6350"/>
            <a:ext cx="9144000" cy="5149850"/>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300" y="1803400"/>
            <a:ext cx="5825202" cy="1234727"/>
          </a:xfrm>
        </p:spPr>
        <p:txBody>
          <a:bodyPr anchor="b">
            <a:noAutofit/>
          </a:bodyPr>
          <a:lstStyle>
            <a:lvl1pPr algn="r">
              <a:defRPr sz="4050">
                <a:solidFill>
                  <a:schemeClr val="accent1"/>
                </a:solidFill>
              </a:defRPr>
            </a:lvl1pPr>
          </a:lstStyle>
          <a:p>
            <a:r>
              <a:rPr lang="en-GB"/>
              <a:t>Click to edit Master title style</a:t>
            </a:r>
            <a:endParaRPr lang="en-US" dirty="0"/>
          </a:p>
        </p:txBody>
      </p:sp>
      <p:sp>
        <p:nvSpPr>
          <p:cNvPr id="3" name="Subtitle 2"/>
          <p:cNvSpPr>
            <a:spLocks noGrp="1"/>
          </p:cNvSpPr>
          <p:nvPr>
            <p:ph type="subTitle" idx="1"/>
          </p:nvPr>
        </p:nvSpPr>
        <p:spPr>
          <a:xfrm>
            <a:off x="1130300" y="3038125"/>
            <a:ext cx="5825202" cy="822674"/>
          </a:xfrm>
        </p:spPr>
        <p:txBody>
          <a:bodyPr anchor="t"/>
          <a:lstStyle>
            <a:lvl1pPr marL="0" indent="0" algn="r">
              <a:buNone/>
              <a:defRPr>
                <a:solidFill>
                  <a:schemeClr val="tx1">
                    <a:lumMod val="50000"/>
                    <a:lumOff val="5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5/21/2026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8136295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700"/>
            </a:lvl1p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5/21/2026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8517580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08001" y="2025651"/>
            <a:ext cx="6447501" cy="1369936"/>
          </a:xfrm>
        </p:spPr>
        <p:txBody>
          <a:bodyPr anchor="b"/>
          <a:lstStyle>
            <a:lvl1pPr algn="l">
              <a:defRPr sz="3000" b="0" cap="none"/>
            </a:lvl1pPr>
          </a:lstStyle>
          <a:p>
            <a:r>
              <a:rPr lang="en-GB"/>
              <a:t>Click to edit Master title style</a:t>
            </a:r>
            <a:endParaRPr lang="en-US" dirty="0"/>
          </a:p>
        </p:txBody>
      </p:sp>
      <p:sp>
        <p:nvSpPr>
          <p:cNvPr id="3" name="Text Placeholder 2"/>
          <p:cNvSpPr>
            <a:spLocks noGrp="1"/>
          </p:cNvSpPr>
          <p:nvPr>
            <p:ph type="body" idx="1"/>
          </p:nvPr>
        </p:nvSpPr>
        <p:spPr>
          <a:xfrm>
            <a:off x="508001" y="3395586"/>
            <a:ext cx="6447501" cy="645300"/>
          </a:xfrm>
        </p:spPr>
        <p:txBody>
          <a:bodyPr anchor="t"/>
          <a:lstStyle>
            <a:lvl1pPr marL="0" indent="0" algn="l">
              <a:buNone/>
              <a:defRPr sz="150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5/21/2026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79736827"/>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508001" y="1620442"/>
            <a:ext cx="3138026" cy="291057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3817477" y="1620442"/>
            <a:ext cx="3138026" cy="291058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5/21/2026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1277131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506809" y="1620737"/>
            <a:ext cx="3139217" cy="432197"/>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Content Placeholder 3"/>
          <p:cNvSpPr>
            <a:spLocks noGrp="1"/>
          </p:cNvSpPr>
          <p:nvPr>
            <p:ph sz="half" idx="2"/>
          </p:nvPr>
        </p:nvSpPr>
        <p:spPr>
          <a:xfrm>
            <a:off x="506809" y="2052934"/>
            <a:ext cx="3139217" cy="2478088"/>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3816287" y="1620737"/>
            <a:ext cx="3139214" cy="432197"/>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p:cNvSpPr>
            <a:spLocks noGrp="1"/>
          </p:cNvSpPr>
          <p:nvPr>
            <p:ph sz="quarter" idx="4"/>
          </p:nvPr>
        </p:nvSpPr>
        <p:spPr>
          <a:xfrm>
            <a:off x="3816288" y="2052934"/>
            <a:ext cx="3139213" cy="2478088"/>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5/21/2026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3465217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08001" y="457200"/>
            <a:ext cx="6447501" cy="990600"/>
          </a:xfrm>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5/21/2026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0496636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5/21/2026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5500944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1123953"/>
            <a:ext cx="2890896" cy="958850"/>
          </a:xfrm>
        </p:spPr>
        <p:txBody>
          <a:bodyPr anchor="b">
            <a:normAutofit/>
          </a:bodyPr>
          <a:lstStyle>
            <a:lvl1pPr>
              <a:defRPr sz="1500"/>
            </a:lvl1pPr>
          </a:lstStyle>
          <a:p>
            <a:r>
              <a:rPr lang="en-GB"/>
              <a:t>Click to edit Master title style</a:t>
            </a:r>
            <a:endParaRPr lang="en-US" dirty="0"/>
          </a:p>
        </p:txBody>
      </p:sp>
      <p:sp>
        <p:nvSpPr>
          <p:cNvPr id="3" name="Content Placeholder 2"/>
          <p:cNvSpPr>
            <a:spLocks noGrp="1"/>
          </p:cNvSpPr>
          <p:nvPr>
            <p:ph idx="1"/>
          </p:nvPr>
        </p:nvSpPr>
        <p:spPr>
          <a:xfrm>
            <a:off x="3570346" y="386193"/>
            <a:ext cx="3385156" cy="4144828"/>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508001" y="2082802"/>
            <a:ext cx="2890896" cy="1938337"/>
          </a:xfrm>
        </p:spPr>
        <p:txBody>
          <a:bodyPr>
            <a:normAutofit/>
          </a:bodyPr>
          <a:lstStyle>
            <a:lvl1pPr marL="0" indent="0">
              <a:buNone/>
              <a:defRPr sz="1050"/>
            </a:lvl1pPr>
            <a:lvl2pPr marL="342797" indent="0">
              <a:buNone/>
              <a:defRPr sz="1050"/>
            </a:lvl2pPr>
            <a:lvl3pPr marL="685595" indent="0">
              <a:buNone/>
              <a:defRPr sz="900"/>
            </a:lvl3pPr>
            <a:lvl4pPr marL="1028392" indent="0">
              <a:buNone/>
              <a:defRPr sz="750"/>
            </a:lvl4pPr>
            <a:lvl5pPr marL="1371188" indent="0">
              <a:buNone/>
              <a:defRPr sz="750"/>
            </a:lvl5pPr>
            <a:lvl6pPr marL="1713986" indent="0">
              <a:buNone/>
              <a:defRPr sz="750"/>
            </a:lvl6pPr>
            <a:lvl7pPr marL="2056783" indent="0">
              <a:buNone/>
              <a:defRPr sz="750"/>
            </a:lvl7pPr>
            <a:lvl8pPr marL="2399580" indent="0">
              <a:buNone/>
              <a:defRPr sz="750"/>
            </a:lvl8pPr>
            <a:lvl9pPr marL="2742377" indent="0">
              <a:buNone/>
              <a:defRPr sz="750"/>
            </a:lvl9pPr>
          </a:lstStyle>
          <a:p>
            <a:pPr lvl="0"/>
            <a:r>
              <a:rPr lang="en-GB"/>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5/21/2026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222591953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3600450"/>
            <a:ext cx="6447500" cy="425054"/>
          </a:xfrm>
        </p:spPr>
        <p:txBody>
          <a:bodyPr anchor="b">
            <a:normAutofit/>
          </a:bodyPr>
          <a:lstStyle>
            <a:lvl1pPr algn="l">
              <a:defRPr sz="18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508001" y="457200"/>
            <a:ext cx="6447501" cy="2884289"/>
          </a:xfrm>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GB"/>
              <a:t>Click icon to add picture</a:t>
            </a:r>
            <a:endParaRPr lang="en-US" dirty="0"/>
          </a:p>
        </p:txBody>
      </p:sp>
      <p:sp>
        <p:nvSpPr>
          <p:cNvPr id="4" name="Text Placeholder 3"/>
          <p:cNvSpPr>
            <a:spLocks noGrp="1"/>
          </p:cNvSpPr>
          <p:nvPr>
            <p:ph type="body" sz="half" idx="2"/>
          </p:nvPr>
        </p:nvSpPr>
        <p:spPr>
          <a:xfrm>
            <a:off x="508001" y="4025504"/>
            <a:ext cx="6447500" cy="505518"/>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5/21/2026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5809810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457200"/>
            <a:ext cx="6447501" cy="2552700"/>
          </a:xfrm>
        </p:spPr>
        <p:txBody>
          <a:bodyPr anchor="ctr">
            <a:normAutofit/>
          </a:bodyPr>
          <a:lstStyle>
            <a:lvl1pPr algn="l">
              <a:defRPr sz="3300" b="0" cap="none"/>
            </a:lvl1pPr>
          </a:lstStyle>
          <a:p>
            <a:r>
              <a:rPr lang="en-GB"/>
              <a:t>Click to edit Master title style</a:t>
            </a:r>
            <a:endParaRPr lang="en-US" dirty="0"/>
          </a:p>
        </p:txBody>
      </p:sp>
      <p:sp>
        <p:nvSpPr>
          <p:cNvPr id="3" name="Text Placeholder 2"/>
          <p:cNvSpPr>
            <a:spLocks noGrp="1"/>
          </p:cNvSpPr>
          <p:nvPr>
            <p:ph type="body" idx="1"/>
          </p:nvPr>
        </p:nvSpPr>
        <p:spPr>
          <a:xfrm>
            <a:off x="508001" y="3352800"/>
            <a:ext cx="6447501" cy="117822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5/21/2026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4840321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8500" y="457200"/>
            <a:ext cx="6070601" cy="2266950"/>
          </a:xfrm>
        </p:spPr>
        <p:txBody>
          <a:bodyPr anchor="ctr">
            <a:normAutofit/>
          </a:bodyPr>
          <a:lstStyle>
            <a:lvl1pPr algn="l">
              <a:defRPr sz="33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1024604" y="2724150"/>
            <a:ext cx="5418393" cy="285750"/>
          </a:xfrm>
        </p:spPr>
        <p:txBody>
          <a:bodyPr anchor="ctr">
            <a:noAutofit/>
          </a:bodyPr>
          <a:lstStyle>
            <a:lvl1pPr marL="0" indent="0">
              <a:buFontTx/>
              <a:buNone/>
              <a:defRPr sz="1200">
                <a:solidFill>
                  <a:schemeClr val="tx1">
                    <a:lumMod val="50000"/>
                    <a:lumOff val="50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GB"/>
              <a:t>Click to edit Master text styles</a:t>
            </a:r>
          </a:p>
        </p:txBody>
      </p:sp>
      <p:sp>
        <p:nvSpPr>
          <p:cNvPr id="3" name="Text Placeholder 2"/>
          <p:cNvSpPr>
            <a:spLocks noGrp="1"/>
          </p:cNvSpPr>
          <p:nvPr>
            <p:ph type="body" idx="1"/>
          </p:nvPr>
        </p:nvSpPr>
        <p:spPr>
          <a:xfrm>
            <a:off x="508001" y="3352800"/>
            <a:ext cx="6447501" cy="117822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5/21/2026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0" name="TextBox 19"/>
          <p:cNvSpPr txBox="1"/>
          <p:nvPr/>
        </p:nvSpPr>
        <p:spPr>
          <a:xfrm>
            <a:off x="406403" y="59278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6669758" y="2164917"/>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latin typeface="Arial"/>
              </a:rPr>
              <a:t>”</a:t>
            </a:r>
            <a:endParaRPr lang="en-US" sz="1350" dirty="0">
              <a:solidFill>
                <a:schemeClr val="accent1">
                  <a:lumMod val="60000"/>
                  <a:lumOff val="40000"/>
                </a:schemeClr>
              </a:solidFill>
              <a:latin typeface="Arial"/>
            </a:endParaRPr>
          </a:p>
        </p:txBody>
      </p:sp>
    </p:spTree>
    <p:extLst>
      <p:ext uri="{BB962C8B-B14F-4D97-AF65-F5344CB8AC3E}">
        <p14:creationId xmlns:p14="http://schemas.microsoft.com/office/powerpoint/2010/main" val="301367730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08001" y="1448991"/>
            <a:ext cx="6447501" cy="1946595"/>
          </a:xfrm>
        </p:spPr>
        <p:txBody>
          <a:bodyPr anchor="b">
            <a:normAutofit/>
          </a:bodyPr>
          <a:lstStyle>
            <a:lvl1pPr algn="l">
              <a:defRPr sz="3300" b="0" cap="none"/>
            </a:lvl1pPr>
          </a:lstStyle>
          <a:p>
            <a:r>
              <a:rPr lang="en-GB"/>
              <a:t>Click to edit Master title style</a:t>
            </a:r>
            <a:endParaRPr lang="en-US" dirty="0"/>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5/21/2026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79368125"/>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698500" y="457200"/>
            <a:ext cx="6070601" cy="2266950"/>
          </a:xfrm>
        </p:spPr>
        <p:txBody>
          <a:bodyPr anchor="ctr">
            <a:normAutofit/>
          </a:bodyPr>
          <a:lstStyle>
            <a:lvl1pPr algn="l">
              <a:defRPr sz="33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507999" y="3009900"/>
            <a:ext cx="6447502" cy="385686"/>
          </a:xfrm>
        </p:spPr>
        <p:txBody>
          <a:bodyPr anchor="b">
            <a:noAutofit/>
          </a:bodyPr>
          <a:lstStyle>
            <a:lvl1pPr marL="0" indent="0">
              <a:buFontTx/>
              <a:buNone/>
              <a:defRPr sz="1800">
                <a:solidFill>
                  <a:schemeClr val="tx1">
                    <a:lumMod val="75000"/>
                    <a:lumOff val="25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GB"/>
              <a:t>Click to edit Master text styles</a:t>
            </a:r>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5/21/2026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406403" y="59278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669758" y="2164917"/>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088179429"/>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14350" y="457200"/>
            <a:ext cx="6441152" cy="2266950"/>
          </a:xfrm>
        </p:spPr>
        <p:txBody>
          <a:bodyPr anchor="ctr">
            <a:normAutofit/>
          </a:bodyPr>
          <a:lstStyle>
            <a:lvl1pPr algn="l">
              <a:defRPr sz="33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507999" y="3009900"/>
            <a:ext cx="6447502" cy="385686"/>
          </a:xfrm>
        </p:spPr>
        <p:txBody>
          <a:bodyPr anchor="b">
            <a:noAutofit/>
          </a:bodyPr>
          <a:lstStyle>
            <a:lvl1pPr marL="0" indent="0">
              <a:buFontTx/>
              <a:buNone/>
              <a:defRPr sz="1800">
                <a:solidFill>
                  <a:schemeClr val="accent1"/>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GB"/>
              <a:t>Click to edit Master text styles</a:t>
            </a:r>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5/21/2026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55596554"/>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5/21/2026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3643683179"/>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5755" y="457200"/>
            <a:ext cx="978557" cy="3938588"/>
          </a:xfrm>
        </p:spPr>
        <p:txBody>
          <a:bodyPr vert="eaVert" anchor="ctr"/>
          <a:lstStyle/>
          <a:p>
            <a:r>
              <a:rPr lang="en-GB"/>
              <a:t>Click to edit Master title style</a:t>
            </a:r>
            <a:endParaRPr lang="en-US" dirty="0"/>
          </a:p>
        </p:txBody>
      </p:sp>
      <p:sp>
        <p:nvSpPr>
          <p:cNvPr id="3" name="Vertical Text Placeholder 2"/>
          <p:cNvSpPr>
            <a:spLocks noGrp="1"/>
          </p:cNvSpPr>
          <p:nvPr>
            <p:ph type="body" orient="vert" idx="1"/>
          </p:nvPr>
        </p:nvSpPr>
        <p:spPr>
          <a:xfrm>
            <a:off x="508001" y="457200"/>
            <a:ext cx="5295113" cy="393858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5/21/2026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52575168"/>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691551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688061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32472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30003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87145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483239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111117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502674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557179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07631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6350"/>
            <a:ext cx="9144000" cy="5149850"/>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508001" y="457200"/>
            <a:ext cx="6447501" cy="990600"/>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508001" y="1620442"/>
            <a:ext cx="6447501" cy="291058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5403850" y="4531022"/>
            <a:ext cx="683954" cy="273844"/>
          </a:xfrm>
          <a:prstGeom prst="rect">
            <a:avLst/>
          </a:prstGeom>
        </p:spPr>
        <p:txBody>
          <a:bodyPr vert="horz" lIns="91440" tIns="45720" rIns="91440" bIns="45720" rtlCol="0" anchor="ctr"/>
          <a:lstStyle>
            <a:lvl1pPr algn="r">
              <a:defRPr sz="675">
                <a:solidFill>
                  <a:schemeClr val="tx1">
                    <a:tint val="75000"/>
                  </a:schemeClr>
                </a:solidFill>
              </a:defRPr>
            </a:lvl1pPr>
          </a:lstStyle>
          <a:p>
            <a:fld id="{B61BEF0D-F0BB-DE4B-95CE-6DB70DBA9567}" type="datetimeFigureOut">
              <a:rPr lang="en-US" smtClean="0"/>
              <a:pPr/>
              <a:t>5/21/2026</a:t>
            </a:fld>
            <a:endParaRPr lang="en-US" dirty="0"/>
          </a:p>
        </p:txBody>
      </p:sp>
      <p:sp>
        <p:nvSpPr>
          <p:cNvPr id="5" name="Footer Placeholder 4"/>
          <p:cNvSpPr>
            <a:spLocks noGrp="1"/>
          </p:cNvSpPr>
          <p:nvPr>
            <p:ph type="ftr" sz="quarter" idx="3"/>
          </p:nvPr>
        </p:nvSpPr>
        <p:spPr>
          <a:xfrm>
            <a:off x="508001" y="4531022"/>
            <a:ext cx="4723209" cy="273844"/>
          </a:xfrm>
          <a:prstGeom prst="rect">
            <a:avLst/>
          </a:prstGeom>
        </p:spPr>
        <p:txBody>
          <a:bodyPr vert="horz" lIns="91440" tIns="45720" rIns="91440" bIns="45720" rtlCol="0" anchor="ctr"/>
          <a:lstStyle>
            <a:lvl1pPr algn="l">
              <a:defRPr sz="675">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42998" y="4531022"/>
            <a:ext cx="512504" cy="273844"/>
          </a:xfrm>
          <a:prstGeom prst="rect">
            <a:avLst/>
          </a:prstGeom>
        </p:spPr>
        <p:txBody>
          <a:bodyPr vert="horz" lIns="91440" tIns="45720" rIns="91440" bIns="45720" rtlCol="0" anchor="ctr"/>
          <a:lstStyle>
            <a:lvl1pPr algn="r">
              <a:defRPr sz="675">
                <a:solidFill>
                  <a:schemeClr val="accent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8840455"/>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 id="2147483702" r:id="rId15"/>
    <p:sldLayoutId id="2147483703" r:id="rId16"/>
    <p:sldLayoutId id="2147483704" r:id="rId17"/>
    <p:sldLayoutId id="2147483705" r:id="rId18"/>
    <p:sldLayoutId id="2147483706" r:id="rId19"/>
    <p:sldLayoutId id="2147483707" r:id="rId20"/>
    <p:sldLayoutId id="2147483708" r:id="rId21"/>
    <p:sldLayoutId id="2147483709" r:id="rId22"/>
    <p:sldLayoutId id="2147483710" r:id="rId23"/>
    <p:sldLayoutId id="2147483711" r:id="rId24"/>
    <p:sldLayoutId id="2147483712" r:id="rId25"/>
    <p:sldLayoutId id="2147483713" r:id="rId26"/>
  </p:sldLayoutIdLst>
  <p:hf sldNum="0" hdr="0" ftr="0" dt="0"/>
  <p:txStyles>
    <p:titleStyle>
      <a:lvl1pPr algn="l" defTabSz="342900" rtl="0" eaLnBrk="1" latinLnBrk="0" hangingPunct="1">
        <a:spcBef>
          <a:spcPct val="0"/>
        </a:spcBef>
        <a:buNone/>
        <a:defRPr sz="27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accent1"/>
        </a:buClr>
        <a:buSzPct val="80000"/>
        <a:buFont typeface="Wingdings 3" charset="2"/>
        <a:buChar char=""/>
        <a:defRPr sz="1350" kern="1200">
          <a:solidFill>
            <a:schemeClr val="tx1">
              <a:lumMod val="75000"/>
              <a:lumOff val="25000"/>
            </a:schemeClr>
          </a:solidFill>
          <a:latin typeface="+mn-lt"/>
          <a:ea typeface="+mn-ea"/>
          <a:cs typeface="+mn-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050" kern="1200">
          <a:solidFill>
            <a:schemeClr val="tx1">
              <a:lumMod val="75000"/>
              <a:lumOff val="25000"/>
            </a:schemeClr>
          </a:solidFill>
          <a:latin typeface="+mn-lt"/>
          <a:ea typeface="+mn-ea"/>
          <a:cs typeface="+mn-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17.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9.xml"/><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svg"/></Relationships>
</file>

<file path=ppt/slides/_rels/slide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6.xml"/><Relationship Id="rId1" Type="http://schemas.openxmlformats.org/officeDocument/2006/relationships/slideLayout" Target="../slideLayouts/slideLayout2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7.xml"/><Relationship Id="rId1" Type="http://schemas.openxmlformats.org/officeDocument/2006/relationships/slideLayout" Target="../slideLayouts/slideLayout23.xm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svg"/><Relationship Id="rId7" Type="http://schemas.openxmlformats.org/officeDocument/2006/relationships/image" Target="../media/image25.svg"/><Relationship Id="rId2" Type="http://schemas.openxmlformats.org/officeDocument/2006/relationships/notesSlide" Target="../notesSlides/notesSlide9.xml"/><Relationship Id="rId1" Type="http://schemas.openxmlformats.org/officeDocument/2006/relationships/slideLayout" Target="../slideLayouts/slideLayout25.xml"/><Relationship Id="rId6" Type="http://schemas.openxmlformats.org/officeDocument/2006/relationships/image" Target="../media/image24.svg"/><Relationship Id="rId5" Type="http://schemas.openxmlformats.org/officeDocument/2006/relationships/image" Target="../media/image23.svg"/><Relationship Id="rId4" Type="http://schemas.openxmlformats.org/officeDocument/2006/relationships/image" Target="../media/image22.svg"/><Relationship Id="rId9" Type="http://schemas.openxmlformats.org/officeDocument/2006/relationships/image" Target="../media/image27.svg"/></Relationships>
</file>

<file path=ppt/slides/_rels/slide10.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notesSlide" Target="../notesSlides/notesSlide10.xml"/><Relationship Id="rId1" Type="http://schemas.openxmlformats.org/officeDocument/2006/relationships/slideLayout" Target="../slideLayouts/slideLayout26.xml"/><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2841278" y="365968"/>
            <a:ext cx="3232845" cy="375493"/>
          </a:xfrm>
          <a:prstGeom prst="rect">
            <a:avLst/>
          </a:prstGeom>
          <a:noFill/>
          <a:ln/>
        </p:spPr>
        <p:txBody>
          <a:bodyPr wrap="none" lIns="0" tIns="0" rIns="0" bIns="0" rtlCol="0" anchor="t"/>
          <a:lstStyle/>
          <a:p>
            <a:pPr marL="0" indent="0" algn="ctr">
              <a:lnSpc>
                <a:spcPct val="104000"/>
              </a:lnSpc>
              <a:buNone/>
            </a:pPr>
            <a:r>
              <a:rPr lang="en-US" sz="2350" dirty="0">
                <a:solidFill>
                  <a:srgbClr val="231971"/>
                </a:solidFill>
                <a:latin typeface="Outfit ExtraBold" pitchFamily="34" charset="0"/>
                <a:ea typeface="Outfit ExtraBold" pitchFamily="34" charset="-122"/>
                <a:cs typeface="Outfit ExtraBold" pitchFamily="34" charset="-120"/>
              </a:rPr>
              <a:t>Everyday Dilemma</a:t>
            </a:r>
            <a:endParaRPr lang="en-US" sz="2350" dirty="0"/>
          </a:p>
        </p:txBody>
      </p:sp>
      <p:sp>
        <p:nvSpPr>
          <p:cNvPr id="3" name="Text 1"/>
          <p:cNvSpPr/>
          <p:nvPr/>
        </p:nvSpPr>
        <p:spPr>
          <a:xfrm>
            <a:off x="480640" y="974229"/>
            <a:ext cx="8182719" cy="509364"/>
          </a:xfrm>
          <a:prstGeom prst="rect">
            <a:avLst/>
          </a:prstGeom>
          <a:noFill/>
          <a:ln/>
        </p:spPr>
        <p:txBody>
          <a:bodyPr wrap="square" lIns="0" tIns="0" rIns="0" bIns="0" rtlCol="0" anchor="t"/>
          <a:lstStyle/>
          <a:p>
            <a:pPr marL="0" indent="0" algn="ctr">
              <a:lnSpc>
                <a:spcPct val="131000"/>
              </a:lnSpc>
              <a:spcAft>
                <a:spcPts val="1000"/>
              </a:spcAft>
              <a:buNone/>
            </a:pPr>
            <a:r>
              <a:rPr lang="en-US" sz="900" b="1" dirty="0">
                <a:solidFill>
                  <a:srgbClr val="5E4CE6"/>
                </a:solidFill>
                <a:latin typeface="Arimo" pitchFamily="34" charset="0"/>
                <a:ea typeface="Arimo" pitchFamily="34" charset="-122"/>
                <a:cs typeface="Arimo" pitchFamily="34" charset="-120"/>
              </a:rPr>
              <a:t>Team : Power Rangers</a:t>
            </a:r>
          </a:p>
          <a:p>
            <a:pPr marL="0" indent="0" algn="ctr">
              <a:lnSpc>
                <a:spcPct val="131000"/>
              </a:lnSpc>
              <a:spcAft>
                <a:spcPts val="1000"/>
              </a:spcAft>
              <a:buNone/>
            </a:pPr>
            <a:r>
              <a:rPr lang="en-US" sz="900" b="1" dirty="0">
                <a:solidFill>
                  <a:srgbClr val="5E4CE6"/>
                </a:solidFill>
                <a:latin typeface="Arimo" pitchFamily="34" charset="0"/>
                <a:ea typeface="Arimo" pitchFamily="34" charset="-122"/>
                <a:cs typeface="Arimo" pitchFamily="34" charset="-120"/>
              </a:rPr>
              <a:t>Group Presentation</a:t>
            </a:r>
          </a:p>
          <a:p>
            <a:pPr marL="0" indent="0" algn="ctr">
              <a:lnSpc>
                <a:spcPct val="131000"/>
              </a:lnSpc>
              <a:spcAft>
                <a:spcPts val="1000"/>
              </a:spcAft>
              <a:buNone/>
            </a:pPr>
            <a:endParaRPr lang="en-US" sz="900" dirty="0"/>
          </a:p>
          <a:p>
            <a:pPr marL="0" indent="0" algn="ctr">
              <a:lnSpc>
                <a:spcPct val="131000"/>
              </a:lnSpc>
              <a:buNone/>
            </a:pPr>
            <a:endParaRPr lang="en-US" sz="900" dirty="0"/>
          </a:p>
        </p:txBody>
      </p:sp>
      <p:sp>
        <p:nvSpPr>
          <p:cNvPr id="4" name="Shape 2"/>
          <p:cNvSpPr/>
          <p:nvPr/>
        </p:nvSpPr>
        <p:spPr>
          <a:xfrm>
            <a:off x="480640" y="1644476"/>
            <a:ext cx="8182719" cy="9004"/>
          </a:xfrm>
          <a:prstGeom prst="rect">
            <a:avLst/>
          </a:prstGeom>
          <a:solidFill>
            <a:srgbClr val="2A2742">
              <a:alpha val="50000"/>
            </a:srgbClr>
          </a:solidFill>
          <a:ln/>
        </p:spPr>
        <p:txBody>
          <a:bodyPr/>
          <a:lstStyle/>
          <a:p>
            <a:endParaRPr lang="en-GB"/>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0640" y="1814364"/>
            <a:ext cx="240283" cy="240283"/>
          </a:xfrm>
          <a:prstGeom prst="rect">
            <a:avLst/>
          </a:prstGeom>
        </p:spPr>
      </p:pic>
      <p:sp>
        <p:nvSpPr>
          <p:cNvPr id="6" name="Text 3"/>
          <p:cNvSpPr/>
          <p:nvPr/>
        </p:nvSpPr>
        <p:spPr>
          <a:xfrm>
            <a:off x="480640" y="2200126"/>
            <a:ext cx="1502122" cy="187747"/>
          </a:xfrm>
          <a:prstGeom prst="rect">
            <a:avLst/>
          </a:prstGeom>
          <a:noFill/>
          <a:ln/>
        </p:spPr>
        <p:txBody>
          <a:bodyPr wrap="none" lIns="0" tIns="0" rIns="0" bIns="0" rtlCol="0" anchor="t"/>
          <a:lstStyle/>
          <a:p>
            <a:pPr marL="0" indent="0" algn="l">
              <a:lnSpc>
                <a:spcPct val="104000"/>
              </a:lnSpc>
              <a:buNone/>
            </a:pPr>
            <a:r>
              <a:rPr lang="en-US" sz="1150" dirty="0">
                <a:solidFill>
                  <a:srgbClr val="2A2742"/>
                </a:solidFill>
                <a:latin typeface="Outfit ExtraBold" pitchFamily="34" charset="0"/>
                <a:ea typeface="Outfit ExtraBold" pitchFamily="34" charset="-122"/>
                <a:cs typeface="Outfit ExtraBold" pitchFamily="34" charset="-120"/>
              </a:rPr>
              <a:t>Shalu Thamang</a:t>
            </a:r>
            <a:endParaRPr lang="en-US" sz="1150" dirty="0"/>
          </a:p>
        </p:txBody>
      </p:sp>
      <p:sp>
        <p:nvSpPr>
          <p:cNvPr id="7" name="Text 4"/>
          <p:cNvSpPr/>
          <p:nvPr/>
        </p:nvSpPr>
        <p:spPr>
          <a:xfrm>
            <a:off x="480640" y="2457673"/>
            <a:ext cx="4018583" cy="189235"/>
          </a:xfrm>
          <a:prstGeom prst="rect">
            <a:avLst/>
          </a:prstGeom>
          <a:noFill/>
          <a:ln/>
        </p:spPr>
        <p:txBody>
          <a:bodyPr wrap="none" lIns="0" tIns="0" rIns="0" bIns="0" rtlCol="0" anchor="t"/>
          <a:lstStyle/>
          <a:p>
            <a:pPr marL="0" indent="0" algn="l">
              <a:lnSpc>
                <a:spcPct val="131000"/>
              </a:lnSpc>
              <a:buNone/>
            </a:pPr>
            <a:r>
              <a:rPr lang="en-US" sz="900" dirty="0">
                <a:solidFill>
                  <a:srgbClr val="2A2742"/>
                </a:solidFill>
                <a:latin typeface="Arimo" pitchFamily="34" charset="0"/>
                <a:ea typeface="Arimo" pitchFamily="34" charset="-122"/>
                <a:cs typeface="Arimo" pitchFamily="34" charset="-120"/>
              </a:rPr>
              <a:t>Group Leader &amp; Coordinator</a:t>
            </a:r>
            <a:endParaRPr lang="en-US" sz="90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44703" y="1814364"/>
            <a:ext cx="240283" cy="240283"/>
          </a:xfrm>
          <a:prstGeom prst="rect">
            <a:avLst/>
          </a:prstGeom>
        </p:spPr>
      </p:pic>
      <p:sp>
        <p:nvSpPr>
          <p:cNvPr id="9" name="Text 5"/>
          <p:cNvSpPr/>
          <p:nvPr/>
        </p:nvSpPr>
        <p:spPr>
          <a:xfrm>
            <a:off x="4644703" y="2200126"/>
            <a:ext cx="1502122" cy="187747"/>
          </a:xfrm>
          <a:prstGeom prst="rect">
            <a:avLst/>
          </a:prstGeom>
          <a:noFill/>
          <a:ln/>
        </p:spPr>
        <p:txBody>
          <a:bodyPr wrap="none" lIns="0" tIns="0" rIns="0" bIns="0" rtlCol="0" anchor="t"/>
          <a:lstStyle/>
          <a:p>
            <a:pPr marL="0" indent="0" algn="l">
              <a:lnSpc>
                <a:spcPct val="104000"/>
              </a:lnSpc>
              <a:buNone/>
            </a:pPr>
            <a:r>
              <a:rPr lang="en-US" sz="1150" dirty="0">
                <a:solidFill>
                  <a:srgbClr val="2A2742"/>
                </a:solidFill>
                <a:latin typeface="Outfit ExtraBold" pitchFamily="34" charset="0"/>
                <a:ea typeface="Outfit ExtraBold" pitchFamily="34" charset="-122"/>
                <a:cs typeface="Outfit ExtraBold" pitchFamily="34" charset="-120"/>
              </a:rPr>
              <a:t>Amrit Sharma</a:t>
            </a:r>
            <a:endParaRPr lang="en-US" sz="1150" dirty="0"/>
          </a:p>
        </p:txBody>
      </p:sp>
      <p:sp>
        <p:nvSpPr>
          <p:cNvPr id="10" name="Text 6"/>
          <p:cNvSpPr/>
          <p:nvPr/>
        </p:nvSpPr>
        <p:spPr>
          <a:xfrm>
            <a:off x="4644703" y="2457673"/>
            <a:ext cx="4018657" cy="189235"/>
          </a:xfrm>
          <a:prstGeom prst="rect">
            <a:avLst/>
          </a:prstGeom>
          <a:noFill/>
          <a:ln/>
        </p:spPr>
        <p:txBody>
          <a:bodyPr wrap="none" lIns="0" tIns="0" rIns="0" bIns="0" rtlCol="0" anchor="t"/>
          <a:lstStyle/>
          <a:p>
            <a:pPr marL="0" indent="0" algn="l">
              <a:lnSpc>
                <a:spcPct val="131000"/>
              </a:lnSpc>
              <a:buNone/>
            </a:pPr>
            <a:r>
              <a:rPr lang="en-US" sz="900" dirty="0">
                <a:solidFill>
                  <a:srgbClr val="2A2742"/>
                </a:solidFill>
                <a:latin typeface="Arimo" pitchFamily="34" charset="0"/>
                <a:ea typeface="Arimo" pitchFamily="34" charset="-122"/>
                <a:cs typeface="Arimo" pitchFamily="34" charset="-120"/>
              </a:rPr>
              <a:t>GitHub Lead &amp; Prototype Developer</a:t>
            </a:r>
            <a:endParaRPr lang="en-US" sz="900" dirty="0"/>
          </a:p>
        </p:txBody>
      </p:sp>
      <p:pic>
        <p:nvPicPr>
          <p:cNvPr id="1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80640" y="2879675"/>
            <a:ext cx="240283" cy="240283"/>
          </a:xfrm>
          <a:prstGeom prst="rect">
            <a:avLst/>
          </a:prstGeom>
        </p:spPr>
      </p:pic>
      <p:sp>
        <p:nvSpPr>
          <p:cNvPr id="12" name="Text 7"/>
          <p:cNvSpPr/>
          <p:nvPr/>
        </p:nvSpPr>
        <p:spPr>
          <a:xfrm>
            <a:off x="480640" y="3265438"/>
            <a:ext cx="1502122" cy="187747"/>
          </a:xfrm>
          <a:prstGeom prst="rect">
            <a:avLst/>
          </a:prstGeom>
          <a:noFill/>
          <a:ln/>
        </p:spPr>
        <p:txBody>
          <a:bodyPr wrap="none" lIns="0" tIns="0" rIns="0" bIns="0" rtlCol="0" anchor="t"/>
          <a:lstStyle/>
          <a:p>
            <a:pPr marL="0" indent="0" algn="l">
              <a:lnSpc>
                <a:spcPct val="104000"/>
              </a:lnSpc>
              <a:buNone/>
            </a:pPr>
            <a:r>
              <a:rPr lang="en-US" sz="1150" dirty="0">
                <a:solidFill>
                  <a:srgbClr val="2A2742"/>
                </a:solidFill>
                <a:latin typeface="Outfit ExtraBold" pitchFamily="34" charset="0"/>
                <a:ea typeface="Outfit ExtraBold" pitchFamily="34" charset="-122"/>
                <a:cs typeface="Outfit ExtraBold" pitchFamily="34" charset="-120"/>
              </a:rPr>
              <a:t>Prajwal Shahi</a:t>
            </a:r>
            <a:endParaRPr lang="en-US" sz="1150" dirty="0"/>
          </a:p>
        </p:txBody>
      </p:sp>
      <p:sp>
        <p:nvSpPr>
          <p:cNvPr id="13" name="Text 8"/>
          <p:cNvSpPr/>
          <p:nvPr/>
        </p:nvSpPr>
        <p:spPr>
          <a:xfrm>
            <a:off x="480640" y="3522985"/>
            <a:ext cx="4018583" cy="189235"/>
          </a:xfrm>
          <a:prstGeom prst="rect">
            <a:avLst/>
          </a:prstGeom>
          <a:noFill/>
          <a:ln/>
        </p:spPr>
        <p:txBody>
          <a:bodyPr wrap="none" lIns="0" tIns="0" rIns="0" bIns="0" rtlCol="0" anchor="t"/>
          <a:lstStyle/>
          <a:p>
            <a:pPr marL="0" indent="0" algn="l">
              <a:lnSpc>
                <a:spcPct val="131000"/>
              </a:lnSpc>
              <a:buNone/>
            </a:pPr>
            <a:r>
              <a:rPr lang="en-US" sz="900" dirty="0">
                <a:solidFill>
                  <a:srgbClr val="2A2742"/>
                </a:solidFill>
                <a:latin typeface="Arimo" pitchFamily="34" charset="0"/>
                <a:ea typeface="Arimo" pitchFamily="34" charset="-122"/>
                <a:cs typeface="Arimo" pitchFamily="34" charset="-120"/>
              </a:rPr>
              <a:t>Research Lead &amp; Game Designer</a:t>
            </a:r>
            <a:endParaRPr lang="en-US" sz="900" dirty="0"/>
          </a:p>
        </p:txBody>
      </p:sp>
      <p:pic>
        <p:nvPicPr>
          <p:cNvPr id="14"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44703" y="2879675"/>
            <a:ext cx="240283" cy="240283"/>
          </a:xfrm>
          <a:prstGeom prst="rect">
            <a:avLst/>
          </a:prstGeom>
        </p:spPr>
      </p:pic>
      <p:sp>
        <p:nvSpPr>
          <p:cNvPr id="15" name="Text 9"/>
          <p:cNvSpPr/>
          <p:nvPr/>
        </p:nvSpPr>
        <p:spPr>
          <a:xfrm>
            <a:off x="4644703" y="3265438"/>
            <a:ext cx="1502122" cy="187747"/>
          </a:xfrm>
          <a:prstGeom prst="rect">
            <a:avLst/>
          </a:prstGeom>
          <a:noFill/>
          <a:ln/>
        </p:spPr>
        <p:txBody>
          <a:bodyPr wrap="none" lIns="0" tIns="0" rIns="0" bIns="0" rtlCol="0" anchor="t"/>
          <a:lstStyle/>
          <a:p>
            <a:pPr marL="0" indent="0" algn="l">
              <a:lnSpc>
                <a:spcPct val="104000"/>
              </a:lnSpc>
              <a:buNone/>
            </a:pPr>
            <a:r>
              <a:rPr lang="en-US" sz="1150" dirty="0">
                <a:solidFill>
                  <a:srgbClr val="2A2742"/>
                </a:solidFill>
                <a:latin typeface="Outfit ExtraBold" pitchFamily="34" charset="0"/>
                <a:ea typeface="Outfit ExtraBold" pitchFamily="34" charset="-122"/>
                <a:cs typeface="Outfit ExtraBold" pitchFamily="34" charset="-120"/>
              </a:rPr>
              <a:t>Manish Thapa</a:t>
            </a:r>
            <a:endParaRPr lang="en-US" sz="1150" dirty="0"/>
          </a:p>
        </p:txBody>
      </p:sp>
      <p:sp>
        <p:nvSpPr>
          <p:cNvPr id="16" name="Text 10"/>
          <p:cNvSpPr/>
          <p:nvPr/>
        </p:nvSpPr>
        <p:spPr>
          <a:xfrm>
            <a:off x="4644703" y="3522985"/>
            <a:ext cx="4018657" cy="189235"/>
          </a:xfrm>
          <a:prstGeom prst="rect">
            <a:avLst/>
          </a:prstGeom>
          <a:noFill/>
          <a:ln/>
        </p:spPr>
        <p:txBody>
          <a:bodyPr wrap="none" lIns="0" tIns="0" rIns="0" bIns="0" rtlCol="0" anchor="t"/>
          <a:lstStyle/>
          <a:p>
            <a:pPr marL="0" indent="0" algn="l">
              <a:lnSpc>
                <a:spcPct val="131000"/>
              </a:lnSpc>
              <a:buNone/>
            </a:pPr>
            <a:r>
              <a:rPr lang="en-US" sz="900" dirty="0">
                <a:solidFill>
                  <a:srgbClr val="2A2742"/>
                </a:solidFill>
                <a:latin typeface="Arimo" pitchFamily="34" charset="0"/>
                <a:ea typeface="Arimo" pitchFamily="34" charset="-122"/>
                <a:cs typeface="Arimo" pitchFamily="34" charset="-120"/>
              </a:rPr>
              <a:t>Project Coordinator</a:t>
            </a:r>
            <a:endParaRPr lang="en-US" sz="900" dirty="0"/>
          </a:p>
        </p:txBody>
      </p:sp>
      <p:pic>
        <p:nvPicPr>
          <p:cNvPr id="17"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80640" y="3944987"/>
            <a:ext cx="240283" cy="240283"/>
          </a:xfrm>
          <a:prstGeom prst="rect">
            <a:avLst/>
          </a:prstGeom>
        </p:spPr>
      </p:pic>
      <p:sp>
        <p:nvSpPr>
          <p:cNvPr id="18" name="Text 11"/>
          <p:cNvSpPr/>
          <p:nvPr/>
        </p:nvSpPr>
        <p:spPr>
          <a:xfrm>
            <a:off x="480640" y="4330750"/>
            <a:ext cx="1502122" cy="187747"/>
          </a:xfrm>
          <a:prstGeom prst="rect">
            <a:avLst/>
          </a:prstGeom>
          <a:noFill/>
          <a:ln/>
        </p:spPr>
        <p:txBody>
          <a:bodyPr wrap="none" lIns="0" tIns="0" rIns="0" bIns="0" rtlCol="0" anchor="t"/>
          <a:lstStyle/>
          <a:p>
            <a:pPr marL="0" indent="0" algn="l">
              <a:lnSpc>
                <a:spcPct val="104000"/>
              </a:lnSpc>
              <a:buNone/>
            </a:pPr>
            <a:r>
              <a:rPr lang="en-US" sz="1150" dirty="0">
                <a:solidFill>
                  <a:srgbClr val="2A2742"/>
                </a:solidFill>
                <a:latin typeface="Outfit ExtraBold" pitchFamily="34" charset="0"/>
                <a:ea typeface="Outfit ExtraBold" pitchFamily="34" charset="-122"/>
                <a:cs typeface="Outfit ExtraBold" pitchFamily="34" charset="-120"/>
              </a:rPr>
              <a:t>Sujal Pathak</a:t>
            </a:r>
            <a:endParaRPr lang="en-US" sz="1150" dirty="0"/>
          </a:p>
        </p:txBody>
      </p:sp>
      <p:sp>
        <p:nvSpPr>
          <p:cNvPr id="19" name="Text 12"/>
          <p:cNvSpPr/>
          <p:nvPr/>
        </p:nvSpPr>
        <p:spPr>
          <a:xfrm>
            <a:off x="480640" y="4588297"/>
            <a:ext cx="4018583" cy="189235"/>
          </a:xfrm>
          <a:prstGeom prst="rect">
            <a:avLst/>
          </a:prstGeom>
          <a:noFill/>
          <a:ln/>
        </p:spPr>
        <p:txBody>
          <a:bodyPr wrap="none" lIns="0" tIns="0" rIns="0" bIns="0" rtlCol="0" anchor="t"/>
          <a:lstStyle/>
          <a:p>
            <a:pPr marL="0" indent="0" algn="l">
              <a:lnSpc>
                <a:spcPct val="131000"/>
              </a:lnSpc>
              <a:buNone/>
            </a:pPr>
            <a:r>
              <a:rPr lang="en-US" sz="900" dirty="0">
                <a:solidFill>
                  <a:srgbClr val="2A2742"/>
                </a:solidFill>
                <a:latin typeface="Arimo" pitchFamily="34" charset="0"/>
                <a:ea typeface="Arimo" pitchFamily="34" charset="-122"/>
                <a:cs typeface="Arimo" pitchFamily="34" charset="-120"/>
              </a:rPr>
              <a:t>Timekeeper &amp; Deadline Manager</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96119" y="873026"/>
            <a:ext cx="1008608" cy="233214"/>
          </a:xfrm>
          <a:prstGeom prst="roundRect">
            <a:avLst>
              <a:gd name="adj" fmla="val 17872"/>
            </a:avLst>
          </a:prstGeom>
          <a:solidFill>
            <a:srgbClr val="D7D2F9"/>
          </a:solidFill>
          <a:ln/>
        </p:spPr>
        <p:txBody>
          <a:bodyPr/>
          <a:lstStyle/>
          <a:p>
            <a:endParaRPr lang="en-GB"/>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70533" y="939998"/>
            <a:ext cx="99194" cy="99194"/>
          </a:xfrm>
          <a:prstGeom prst="rect">
            <a:avLst/>
          </a:prstGeom>
        </p:spPr>
      </p:pic>
      <p:sp>
        <p:nvSpPr>
          <p:cNvPr id="4" name="Text 1"/>
          <p:cNvSpPr/>
          <p:nvPr/>
        </p:nvSpPr>
        <p:spPr>
          <a:xfrm>
            <a:off x="719286" y="910233"/>
            <a:ext cx="1168226" cy="158800"/>
          </a:xfrm>
          <a:prstGeom prst="rect">
            <a:avLst/>
          </a:prstGeom>
          <a:noFill/>
          <a:ln/>
        </p:spPr>
        <p:txBody>
          <a:bodyPr wrap="none" lIns="0" tIns="0" rIns="0" bIns="0" rtlCol="0" anchor="t"/>
          <a:lstStyle/>
          <a:p>
            <a:pPr marL="0" indent="0" algn="l">
              <a:lnSpc>
                <a:spcPct val="133000"/>
              </a:lnSpc>
              <a:buNone/>
            </a:pPr>
            <a:r>
              <a:rPr lang="en-US" sz="750" dirty="0">
                <a:solidFill>
                  <a:srgbClr val="2A2742"/>
                </a:solidFill>
                <a:latin typeface="Arimo" pitchFamily="34" charset="0"/>
                <a:ea typeface="Arimo" pitchFamily="34" charset="-122"/>
                <a:cs typeface="Arimo" pitchFamily="34" charset="-120"/>
              </a:rPr>
              <a:t>THE PROBLEM</a:t>
            </a:r>
            <a:endParaRPr lang="en-US" sz="750" dirty="0"/>
          </a:p>
        </p:txBody>
      </p:sp>
      <p:sp>
        <p:nvSpPr>
          <p:cNvPr id="5" name="Text 2"/>
          <p:cNvSpPr/>
          <p:nvPr/>
        </p:nvSpPr>
        <p:spPr>
          <a:xfrm>
            <a:off x="496119" y="1155799"/>
            <a:ext cx="8139857" cy="387548"/>
          </a:xfrm>
          <a:prstGeom prst="rect">
            <a:avLst/>
          </a:prstGeom>
          <a:noFill/>
          <a:ln/>
        </p:spPr>
        <p:txBody>
          <a:bodyPr wrap="none" lIns="0" tIns="0" rIns="0" bIns="0" rtlCol="0" anchor="t"/>
          <a:lstStyle/>
          <a:p>
            <a:pPr marL="0" indent="0" algn="l">
              <a:lnSpc>
                <a:spcPct val="104000"/>
              </a:lnSpc>
              <a:buNone/>
            </a:pPr>
            <a:r>
              <a:rPr lang="en-US" sz="2400" dirty="0">
                <a:solidFill>
                  <a:srgbClr val="231971"/>
                </a:solidFill>
                <a:latin typeface="Outfit ExtraBold" pitchFamily="34" charset="0"/>
                <a:ea typeface="Outfit ExtraBold" pitchFamily="34" charset="-122"/>
                <a:cs typeface="Outfit ExtraBold" pitchFamily="34" charset="-120"/>
              </a:rPr>
              <a:t>Phishing Attacks Are Targeting Students — Right Now</a:t>
            </a:r>
            <a:endParaRPr lang="en-US" sz="2400" dirty="0"/>
          </a:p>
        </p:txBody>
      </p:sp>
      <p:sp>
        <p:nvSpPr>
          <p:cNvPr id="6" name="Text 3"/>
          <p:cNvSpPr/>
          <p:nvPr/>
        </p:nvSpPr>
        <p:spPr>
          <a:xfrm>
            <a:off x="496119" y="1729383"/>
            <a:ext cx="8151763"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A2742"/>
                </a:solidFill>
                <a:latin typeface="Arimo" pitchFamily="34" charset="0"/>
                <a:ea typeface="Arimo" pitchFamily="34" charset="-122"/>
                <a:cs typeface="Arimo" pitchFamily="34" charset="-120"/>
              </a:rPr>
              <a:t>Cyber phishing is one of the fastest-growing threats facing university students. Attackers craft convincing fake emails, messages, and websites designed to steal login credentials, financial information, and personal data. Students are particularly vulnerable: they manage multiple online accounts, communicate heavily via email, and often lack formal cybersecurity training.</a:t>
            </a:r>
            <a:endParaRPr lang="en-US" sz="950" dirty="0"/>
          </a:p>
        </p:txBody>
      </p:sp>
      <p:sp>
        <p:nvSpPr>
          <p:cNvPr id="7" name="Shape 4"/>
          <p:cNvSpPr/>
          <p:nvPr/>
        </p:nvSpPr>
        <p:spPr>
          <a:xfrm>
            <a:off x="406822" y="2464296"/>
            <a:ext cx="4103191" cy="1806104"/>
          </a:xfrm>
          <a:prstGeom prst="roundRect">
            <a:avLst>
              <a:gd name="adj" fmla="val 4945"/>
            </a:avLst>
          </a:prstGeom>
          <a:solidFill>
            <a:srgbClr val="5E4CE6">
              <a:alpha val="95000"/>
            </a:srgbClr>
          </a:solidFill>
          <a:ln/>
        </p:spPr>
        <p:txBody>
          <a:bodyPr/>
          <a:lstStyle/>
          <a:p>
            <a:endParaRPr lang="en-GB"/>
          </a:p>
        </p:txBody>
      </p:sp>
      <p:sp>
        <p:nvSpPr>
          <p:cNvPr id="8" name="Text 5"/>
          <p:cNvSpPr/>
          <p:nvPr/>
        </p:nvSpPr>
        <p:spPr>
          <a:xfrm>
            <a:off x="530796" y="2588270"/>
            <a:ext cx="2272829" cy="193849"/>
          </a:xfrm>
          <a:prstGeom prst="rect">
            <a:avLst/>
          </a:prstGeom>
          <a:noFill/>
          <a:ln/>
        </p:spPr>
        <p:txBody>
          <a:bodyPr wrap="none" lIns="0" tIns="0" rIns="0" bIns="0" rtlCol="0" anchor="t"/>
          <a:lstStyle/>
          <a:p>
            <a:pPr marL="0" indent="0" algn="l">
              <a:lnSpc>
                <a:spcPct val="104000"/>
              </a:lnSpc>
              <a:buNone/>
            </a:pPr>
            <a:r>
              <a:rPr lang="en-US" sz="1200" dirty="0">
                <a:solidFill>
                  <a:srgbClr val="FFFFFF"/>
                </a:solidFill>
                <a:latin typeface="Outfit ExtraBold" pitchFamily="34" charset="0"/>
                <a:ea typeface="Outfit ExtraBold" pitchFamily="34" charset="-122"/>
                <a:cs typeface="Outfit ExtraBold" pitchFamily="34" charset="-120"/>
              </a:rPr>
              <a:t>Why Students Are at Risk</a:t>
            </a:r>
            <a:endParaRPr lang="en-US" sz="1200" dirty="0"/>
          </a:p>
        </p:txBody>
      </p:sp>
      <p:sp>
        <p:nvSpPr>
          <p:cNvPr id="9" name="Text 6"/>
          <p:cNvSpPr/>
          <p:nvPr/>
        </p:nvSpPr>
        <p:spPr>
          <a:xfrm>
            <a:off x="530796" y="2906092"/>
            <a:ext cx="3855244" cy="1320924"/>
          </a:xfrm>
          <a:prstGeom prst="rect">
            <a:avLst/>
          </a:prstGeom>
          <a:noFill/>
          <a:ln/>
        </p:spPr>
        <p:txBody>
          <a:bodyPr wrap="square" lIns="0" tIns="0" rIns="0" bIns="0" rtlCol="0" anchor="t">
            <a:normAutofit lnSpcReduction="10000"/>
          </a:bodyPr>
          <a:lstStyle/>
          <a:p>
            <a:pPr marL="342900" indent="-342900" algn="l">
              <a:lnSpc>
                <a:spcPct val="133000"/>
              </a:lnSpc>
              <a:buSzPct val="100000"/>
              <a:buChar char="•"/>
            </a:pPr>
            <a:r>
              <a:rPr lang="en-US" sz="950" dirty="0">
                <a:solidFill>
                  <a:srgbClr val="FFFFFF"/>
                </a:solidFill>
                <a:latin typeface="Arimo" pitchFamily="34" charset="0"/>
                <a:ea typeface="Arimo" pitchFamily="34" charset="-122"/>
                <a:cs typeface="Arimo" pitchFamily="34" charset="-120"/>
              </a:rPr>
              <a:t>Frequent use of academic portals, banking apps, and social media</a:t>
            </a:r>
            <a:endParaRPr lang="en-US" sz="950" dirty="0"/>
          </a:p>
          <a:p>
            <a:pPr marL="342900" indent="-342900" algn="l">
              <a:lnSpc>
                <a:spcPct val="133000"/>
              </a:lnSpc>
              <a:buSzPct val="100000"/>
              <a:buChar char="•"/>
            </a:pPr>
            <a:r>
              <a:rPr lang="en-US" sz="950" dirty="0">
                <a:solidFill>
                  <a:srgbClr val="FFFFFF"/>
                </a:solidFill>
                <a:latin typeface="Arimo" pitchFamily="34" charset="0"/>
                <a:ea typeface="Arimo" pitchFamily="34" charset="-122"/>
                <a:cs typeface="Arimo" pitchFamily="34" charset="-120"/>
              </a:rPr>
              <a:t>High-pressure communications around deadlines, visas, and grades</a:t>
            </a:r>
            <a:endParaRPr lang="en-US" sz="950" dirty="0"/>
          </a:p>
          <a:p>
            <a:pPr marL="342900" indent="-342900" algn="l">
              <a:lnSpc>
                <a:spcPct val="133000"/>
              </a:lnSpc>
              <a:buSzPct val="100000"/>
              <a:buChar char="•"/>
            </a:pPr>
            <a:r>
              <a:rPr lang="en-US" sz="950" dirty="0">
                <a:solidFill>
                  <a:srgbClr val="FFFFFF"/>
                </a:solidFill>
                <a:latin typeface="Arimo" pitchFamily="34" charset="0"/>
                <a:ea typeface="Arimo" pitchFamily="34" charset="-122"/>
                <a:cs typeface="Arimo" pitchFamily="34" charset="-120"/>
              </a:rPr>
              <a:t>Limited experience recognising social engineering tactics</a:t>
            </a:r>
            <a:endParaRPr lang="en-US" sz="950" dirty="0"/>
          </a:p>
          <a:p>
            <a:pPr marL="342900" indent="-342900" algn="l">
              <a:lnSpc>
                <a:spcPct val="133000"/>
              </a:lnSpc>
              <a:buSzPct val="100000"/>
              <a:buChar char="•"/>
            </a:pPr>
            <a:r>
              <a:rPr lang="en-US" sz="950" dirty="0">
                <a:solidFill>
                  <a:srgbClr val="FFFFFF"/>
                </a:solidFill>
                <a:latin typeface="Arimo" pitchFamily="34" charset="0"/>
                <a:ea typeface="Arimo" pitchFamily="34" charset="-122"/>
                <a:cs typeface="Arimo" pitchFamily="34" charset="-120"/>
              </a:rPr>
              <a:t>International students face additional language and cultural barriers</a:t>
            </a:r>
            <a:endParaRPr lang="en-US" sz="950" dirty="0"/>
          </a:p>
        </p:txBody>
      </p:sp>
      <p:sp>
        <p:nvSpPr>
          <p:cNvPr id="10" name="Text 7"/>
          <p:cNvSpPr/>
          <p:nvPr/>
        </p:nvSpPr>
        <p:spPr>
          <a:xfrm>
            <a:off x="4728046" y="2588270"/>
            <a:ext cx="2128168" cy="193849"/>
          </a:xfrm>
          <a:prstGeom prst="rect">
            <a:avLst/>
          </a:prstGeom>
          <a:noFill/>
          <a:ln/>
        </p:spPr>
        <p:txBody>
          <a:bodyPr wrap="none" lIns="0" tIns="0" rIns="0" bIns="0" rtlCol="0" anchor="t"/>
          <a:lstStyle/>
          <a:p>
            <a:pPr marL="0" indent="0" algn="l">
              <a:lnSpc>
                <a:spcPct val="104000"/>
              </a:lnSpc>
              <a:buNone/>
            </a:pPr>
            <a:r>
              <a:rPr lang="en-US" sz="1200" dirty="0">
                <a:solidFill>
                  <a:srgbClr val="231971"/>
                </a:solidFill>
                <a:latin typeface="Outfit ExtraBold" pitchFamily="34" charset="0"/>
                <a:ea typeface="Outfit ExtraBold" pitchFamily="34" charset="-122"/>
                <a:cs typeface="Outfit ExtraBold" pitchFamily="34" charset="-120"/>
              </a:rPr>
              <a:t>The Real-World Impact</a:t>
            </a:r>
            <a:endParaRPr lang="en-US" sz="1200" dirty="0"/>
          </a:p>
        </p:txBody>
      </p:sp>
      <p:sp>
        <p:nvSpPr>
          <p:cNvPr id="11" name="Text 8"/>
          <p:cNvSpPr/>
          <p:nvPr/>
        </p:nvSpPr>
        <p:spPr>
          <a:xfrm>
            <a:off x="4728046" y="2906092"/>
            <a:ext cx="3924598" cy="923999"/>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950" dirty="0">
                <a:solidFill>
                  <a:srgbClr val="2A2742"/>
                </a:solidFill>
                <a:latin typeface="Arimo" pitchFamily="34" charset="0"/>
                <a:ea typeface="Arimo" pitchFamily="34" charset="-122"/>
                <a:cs typeface="Arimo" pitchFamily="34" charset="-120"/>
              </a:rPr>
              <a:t>Account compromise and identity theft</a:t>
            </a:r>
            <a:endParaRPr lang="en-US" sz="950" dirty="0"/>
          </a:p>
          <a:p>
            <a:pPr marL="342900" indent="-342900" algn="l">
              <a:lnSpc>
                <a:spcPct val="133000"/>
              </a:lnSpc>
              <a:buSzPct val="100000"/>
              <a:buChar char="•"/>
            </a:pPr>
            <a:r>
              <a:rPr lang="en-US" sz="950" dirty="0">
                <a:solidFill>
                  <a:srgbClr val="2A2742"/>
                </a:solidFill>
                <a:latin typeface="Arimo" pitchFamily="34" charset="0"/>
                <a:ea typeface="Arimo" pitchFamily="34" charset="-122"/>
                <a:cs typeface="Arimo" pitchFamily="34" charset="-120"/>
              </a:rPr>
              <a:t>Financial loss from credential and banking fraud</a:t>
            </a:r>
            <a:endParaRPr lang="en-US" sz="950" dirty="0"/>
          </a:p>
          <a:p>
            <a:pPr marL="342900" indent="-342900" algn="l">
              <a:lnSpc>
                <a:spcPct val="133000"/>
              </a:lnSpc>
              <a:buSzPct val="100000"/>
              <a:buChar char="•"/>
            </a:pPr>
            <a:r>
              <a:rPr lang="en-US" sz="950" dirty="0">
                <a:solidFill>
                  <a:srgbClr val="2A2742"/>
                </a:solidFill>
                <a:latin typeface="Arimo" pitchFamily="34" charset="0"/>
                <a:ea typeface="Arimo" pitchFamily="34" charset="-122"/>
                <a:cs typeface="Arimo" pitchFamily="34" charset="-120"/>
              </a:rPr>
              <a:t>Academic disruption caused by unauthorised access</a:t>
            </a:r>
            <a:endParaRPr lang="en-US" sz="950" dirty="0"/>
          </a:p>
          <a:p>
            <a:pPr marL="342900" indent="-342900" algn="l">
              <a:lnSpc>
                <a:spcPct val="133000"/>
              </a:lnSpc>
              <a:buSzPct val="100000"/>
              <a:buChar char="•"/>
            </a:pPr>
            <a:r>
              <a:rPr lang="en-US" sz="950" dirty="0">
                <a:solidFill>
                  <a:srgbClr val="2A2742"/>
                </a:solidFill>
                <a:latin typeface="Arimo" pitchFamily="34" charset="0"/>
                <a:ea typeface="Arimo" pitchFamily="34" charset="-122"/>
                <a:cs typeface="Arimo" pitchFamily="34" charset="-120"/>
              </a:rPr>
              <a:t>Emotional distress and loss of trust in digital systems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96119" y="488231"/>
            <a:ext cx="1225451" cy="233214"/>
          </a:xfrm>
          <a:prstGeom prst="roundRect">
            <a:avLst>
              <a:gd name="adj" fmla="val 17872"/>
            </a:avLst>
          </a:prstGeom>
          <a:solidFill>
            <a:srgbClr val="D7D2F9"/>
          </a:solidFill>
          <a:ln/>
        </p:spPr>
        <p:txBody>
          <a:bodyPr/>
          <a:lstStyle/>
          <a:p>
            <a:endParaRPr lang="en-GB"/>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70533" y="555203"/>
            <a:ext cx="99194" cy="99194"/>
          </a:xfrm>
          <a:prstGeom prst="rect">
            <a:avLst/>
          </a:prstGeom>
        </p:spPr>
      </p:pic>
      <p:sp>
        <p:nvSpPr>
          <p:cNvPr id="4" name="Text 1"/>
          <p:cNvSpPr/>
          <p:nvPr/>
        </p:nvSpPr>
        <p:spPr>
          <a:xfrm>
            <a:off x="719286" y="525438"/>
            <a:ext cx="1385069" cy="158800"/>
          </a:xfrm>
          <a:prstGeom prst="rect">
            <a:avLst/>
          </a:prstGeom>
          <a:noFill/>
          <a:ln/>
        </p:spPr>
        <p:txBody>
          <a:bodyPr wrap="none" lIns="0" tIns="0" rIns="0" bIns="0" rtlCol="0" anchor="t"/>
          <a:lstStyle/>
          <a:p>
            <a:pPr marL="0" indent="0" algn="l">
              <a:lnSpc>
                <a:spcPct val="133000"/>
              </a:lnSpc>
              <a:buNone/>
            </a:pPr>
            <a:r>
              <a:rPr lang="en-US" sz="750" dirty="0">
                <a:solidFill>
                  <a:srgbClr val="2A2742"/>
                </a:solidFill>
                <a:latin typeface="Arimo" pitchFamily="34" charset="0"/>
                <a:ea typeface="Arimo" pitchFamily="34" charset="-122"/>
                <a:cs typeface="Arimo" pitchFamily="34" charset="-120"/>
              </a:rPr>
              <a:t>TARGET AUDIENCE</a:t>
            </a:r>
            <a:endParaRPr lang="en-US" sz="750" dirty="0"/>
          </a:p>
        </p:txBody>
      </p:sp>
      <p:sp>
        <p:nvSpPr>
          <p:cNvPr id="5" name="Text 2"/>
          <p:cNvSpPr/>
          <p:nvPr/>
        </p:nvSpPr>
        <p:spPr>
          <a:xfrm>
            <a:off x="496119" y="771004"/>
            <a:ext cx="6919094" cy="387548"/>
          </a:xfrm>
          <a:prstGeom prst="rect">
            <a:avLst/>
          </a:prstGeom>
          <a:noFill/>
          <a:ln/>
        </p:spPr>
        <p:txBody>
          <a:bodyPr wrap="none" lIns="0" tIns="0" rIns="0" bIns="0" rtlCol="0" anchor="t"/>
          <a:lstStyle/>
          <a:p>
            <a:pPr marL="0" indent="0" algn="l">
              <a:lnSpc>
                <a:spcPct val="104000"/>
              </a:lnSpc>
              <a:buNone/>
            </a:pPr>
            <a:r>
              <a:rPr lang="en-US" sz="2400" dirty="0">
                <a:solidFill>
                  <a:srgbClr val="231971"/>
                </a:solidFill>
                <a:latin typeface="Outfit ExtraBold" pitchFamily="34" charset="0"/>
                <a:ea typeface="Outfit ExtraBold" pitchFamily="34" charset="-122"/>
                <a:cs typeface="Outfit ExtraBold" pitchFamily="34" charset="-120"/>
              </a:rPr>
              <a:t>Designed for University Students Aged 18–25</a:t>
            </a:r>
            <a:endParaRPr lang="en-US" sz="2400" dirty="0"/>
          </a:p>
        </p:txBody>
      </p:sp>
      <p:sp>
        <p:nvSpPr>
          <p:cNvPr id="6" name="Text 3"/>
          <p:cNvSpPr/>
          <p:nvPr/>
        </p:nvSpPr>
        <p:spPr>
          <a:xfrm>
            <a:off x="496119" y="1344588"/>
            <a:ext cx="8151763"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A2742"/>
                </a:solidFill>
                <a:latin typeface="Arimo" pitchFamily="34" charset="0"/>
                <a:ea typeface="Arimo" pitchFamily="34" charset="-122"/>
                <a:cs typeface="Arimo" pitchFamily="34" charset="-120"/>
              </a:rPr>
              <a:t>Our game is purpose-built for the student demographic — a group that is digitally active yet statistically underprepared for sophisticated phishing attempts. International students face compounded risks due to unfamiliarity with local systems and heightened anxiety around immigration and academic performance.</a:t>
            </a:r>
            <a:endParaRPr lang="en-US" sz="950" dirty="0"/>
          </a:p>
        </p:txBody>
      </p:sp>
      <p:sp>
        <p:nvSpPr>
          <p:cNvPr id="7" name="Shape 4"/>
          <p:cNvSpPr/>
          <p:nvPr/>
        </p:nvSpPr>
        <p:spPr>
          <a:xfrm>
            <a:off x="496119" y="2079501"/>
            <a:ext cx="2634555" cy="1710705"/>
          </a:xfrm>
          <a:prstGeom prst="roundRect">
            <a:avLst>
              <a:gd name="adj" fmla="val 3046"/>
            </a:avLst>
          </a:prstGeom>
          <a:solidFill>
            <a:srgbClr val="FAFAFA">
              <a:alpha val="95000"/>
            </a:srgbClr>
          </a:solidFill>
          <a:ln w="14288">
            <a:solidFill>
              <a:srgbClr val="BDB8DF"/>
            </a:solidFill>
            <a:prstDash val="solid"/>
          </a:ln>
        </p:spPr>
        <p:txBody>
          <a:bodyPr/>
          <a:lstStyle/>
          <a:p>
            <a:endParaRPr lang="en-GB"/>
          </a:p>
        </p:txBody>
      </p:sp>
      <p:sp>
        <p:nvSpPr>
          <p:cNvPr id="8" name="Shape 5"/>
          <p:cNvSpPr/>
          <p:nvPr/>
        </p:nvSpPr>
        <p:spPr>
          <a:xfrm>
            <a:off x="510406" y="2093788"/>
            <a:ext cx="2605980" cy="372070"/>
          </a:xfrm>
          <a:prstGeom prst="roundRect">
            <a:avLst>
              <a:gd name="adj" fmla="val 9395"/>
            </a:avLst>
          </a:prstGeom>
          <a:solidFill>
            <a:srgbClr val="E9E6FA"/>
          </a:solidFill>
          <a:ln/>
        </p:spPr>
        <p:txBody>
          <a:bodyPr/>
          <a:lstStyle/>
          <a:p>
            <a:endParaRPr lang="en-GB"/>
          </a:p>
        </p:txBody>
      </p:sp>
      <p:pic>
        <p:nvPicPr>
          <p:cNvPr id="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20379" y="2184350"/>
            <a:ext cx="186035" cy="186035"/>
          </a:xfrm>
          <a:prstGeom prst="rect">
            <a:avLst/>
          </a:prstGeom>
        </p:spPr>
      </p:pic>
      <p:sp>
        <p:nvSpPr>
          <p:cNvPr id="10" name="Text 6"/>
          <p:cNvSpPr/>
          <p:nvPr/>
        </p:nvSpPr>
        <p:spPr>
          <a:xfrm>
            <a:off x="634380" y="2589833"/>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2A2742"/>
                </a:solidFill>
                <a:latin typeface="Outfit ExtraBold" pitchFamily="34" charset="0"/>
                <a:ea typeface="Outfit ExtraBold" pitchFamily="34" charset="-122"/>
                <a:cs typeface="Outfit ExtraBold" pitchFamily="34" charset="-120"/>
              </a:rPr>
              <a:t>Digital Natives</a:t>
            </a:r>
            <a:endParaRPr lang="en-US" sz="1200" dirty="0"/>
          </a:p>
        </p:txBody>
      </p:sp>
      <p:sp>
        <p:nvSpPr>
          <p:cNvPr id="11" name="Text 7"/>
          <p:cNvSpPr/>
          <p:nvPr/>
        </p:nvSpPr>
        <p:spPr>
          <a:xfrm>
            <a:off x="634380" y="2858095"/>
            <a:ext cx="2358033" cy="793849"/>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A2742"/>
                </a:solidFill>
                <a:latin typeface="Arimo" pitchFamily="34" charset="0"/>
                <a:ea typeface="Arimo" pitchFamily="34" charset="-122"/>
                <a:cs typeface="Arimo" pitchFamily="34" charset="-120"/>
              </a:rPr>
              <a:t>Students live online but often mistake familiarity with security awareness. High engagement with email, portals, and apps creates multiple attack surfaces.</a:t>
            </a:r>
            <a:endParaRPr lang="en-US" sz="950" dirty="0"/>
          </a:p>
        </p:txBody>
      </p:sp>
      <p:sp>
        <p:nvSpPr>
          <p:cNvPr id="12" name="Shape 8"/>
          <p:cNvSpPr/>
          <p:nvPr/>
        </p:nvSpPr>
        <p:spPr>
          <a:xfrm>
            <a:off x="3254648" y="2079501"/>
            <a:ext cx="2634630" cy="1710705"/>
          </a:xfrm>
          <a:prstGeom prst="roundRect">
            <a:avLst>
              <a:gd name="adj" fmla="val 3046"/>
            </a:avLst>
          </a:prstGeom>
          <a:solidFill>
            <a:srgbClr val="FAFAFA">
              <a:alpha val="95000"/>
            </a:srgbClr>
          </a:solidFill>
          <a:ln w="14288">
            <a:solidFill>
              <a:srgbClr val="BDB8DF"/>
            </a:solidFill>
            <a:prstDash val="solid"/>
          </a:ln>
        </p:spPr>
        <p:txBody>
          <a:bodyPr/>
          <a:lstStyle/>
          <a:p>
            <a:endParaRPr lang="en-GB"/>
          </a:p>
        </p:txBody>
      </p:sp>
      <p:sp>
        <p:nvSpPr>
          <p:cNvPr id="13" name="Shape 9"/>
          <p:cNvSpPr/>
          <p:nvPr/>
        </p:nvSpPr>
        <p:spPr>
          <a:xfrm>
            <a:off x="3268935" y="2093788"/>
            <a:ext cx="2606055" cy="372070"/>
          </a:xfrm>
          <a:prstGeom prst="roundRect">
            <a:avLst>
              <a:gd name="adj" fmla="val 9395"/>
            </a:avLst>
          </a:prstGeom>
          <a:solidFill>
            <a:srgbClr val="E9E6FA"/>
          </a:solidFill>
          <a:ln/>
        </p:spPr>
        <p:txBody>
          <a:bodyPr/>
          <a:lstStyle/>
          <a:p>
            <a:endParaRPr lang="en-GB"/>
          </a:p>
        </p:txBody>
      </p:sp>
      <p:pic>
        <p:nvPicPr>
          <p:cNvPr id="1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478908" y="2184350"/>
            <a:ext cx="186035" cy="186035"/>
          </a:xfrm>
          <a:prstGeom prst="rect">
            <a:avLst/>
          </a:prstGeom>
        </p:spPr>
      </p:pic>
      <p:sp>
        <p:nvSpPr>
          <p:cNvPr id="15" name="Text 10"/>
          <p:cNvSpPr/>
          <p:nvPr/>
        </p:nvSpPr>
        <p:spPr>
          <a:xfrm>
            <a:off x="3392909" y="2589833"/>
            <a:ext cx="1632198" cy="193849"/>
          </a:xfrm>
          <a:prstGeom prst="rect">
            <a:avLst/>
          </a:prstGeom>
          <a:noFill/>
          <a:ln/>
        </p:spPr>
        <p:txBody>
          <a:bodyPr wrap="none" lIns="0" tIns="0" rIns="0" bIns="0" rtlCol="0" anchor="t"/>
          <a:lstStyle/>
          <a:p>
            <a:pPr marL="0" indent="0" algn="l">
              <a:lnSpc>
                <a:spcPct val="104000"/>
              </a:lnSpc>
              <a:buNone/>
            </a:pPr>
            <a:r>
              <a:rPr lang="en-US" sz="1200" dirty="0">
                <a:solidFill>
                  <a:srgbClr val="2A2742"/>
                </a:solidFill>
                <a:latin typeface="Outfit ExtraBold" pitchFamily="34" charset="0"/>
                <a:ea typeface="Outfit ExtraBold" pitchFamily="34" charset="-122"/>
                <a:cs typeface="Outfit ExtraBold" pitchFamily="34" charset="-120"/>
              </a:rPr>
              <a:t>International Students</a:t>
            </a:r>
            <a:endParaRPr lang="en-US" sz="1200" dirty="0"/>
          </a:p>
        </p:txBody>
      </p:sp>
      <p:sp>
        <p:nvSpPr>
          <p:cNvPr id="16" name="Text 11"/>
          <p:cNvSpPr/>
          <p:nvPr/>
        </p:nvSpPr>
        <p:spPr>
          <a:xfrm>
            <a:off x="3392909" y="2858095"/>
            <a:ext cx="2358107" cy="793849"/>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A2742"/>
                </a:solidFill>
                <a:latin typeface="Arimo" pitchFamily="34" charset="0"/>
                <a:ea typeface="Arimo" pitchFamily="34" charset="-122"/>
                <a:cs typeface="Arimo" pitchFamily="34" charset="-120"/>
              </a:rPr>
              <a:t>Visa-related threats and unfamiliar institutional processes make international students especially susceptible to urgency-based phishing tactics.</a:t>
            </a:r>
            <a:endParaRPr lang="en-US" sz="950" dirty="0"/>
          </a:p>
        </p:txBody>
      </p:sp>
      <p:sp>
        <p:nvSpPr>
          <p:cNvPr id="17" name="Shape 12"/>
          <p:cNvSpPr/>
          <p:nvPr/>
        </p:nvSpPr>
        <p:spPr>
          <a:xfrm>
            <a:off x="6013252" y="2079501"/>
            <a:ext cx="2634555" cy="1710705"/>
          </a:xfrm>
          <a:prstGeom prst="roundRect">
            <a:avLst>
              <a:gd name="adj" fmla="val 3046"/>
            </a:avLst>
          </a:prstGeom>
          <a:solidFill>
            <a:srgbClr val="FAFAFA">
              <a:alpha val="95000"/>
            </a:srgbClr>
          </a:solidFill>
          <a:ln w="14288">
            <a:solidFill>
              <a:srgbClr val="BDB8DF"/>
            </a:solidFill>
            <a:prstDash val="solid"/>
          </a:ln>
        </p:spPr>
        <p:txBody>
          <a:bodyPr/>
          <a:lstStyle/>
          <a:p>
            <a:endParaRPr lang="en-GB"/>
          </a:p>
        </p:txBody>
      </p:sp>
      <p:sp>
        <p:nvSpPr>
          <p:cNvPr id="18" name="Shape 13"/>
          <p:cNvSpPr/>
          <p:nvPr/>
        </p:nvSpPr>
        <p:spPr>
          <a:xfrm>
            <a:off x="6027539" y="2093788"/>
            <a:ext cx="2605980" cy="372070"/>
          </a:xfrm>
          <a:prstGeom prst="roundRect">
            <a:avLst>
              <a:gd name="adj" fmla="val 9395"/>
            </a:avLst>
          </a:prstGeom>
          <a:solidFill>
            <a:srgbClr val="E9E6FA"/>
          </a:solidFill>
          <a:ln/>
        </p:spPr>
        <p:txBody>
          <a:bodyPr/>
          <a:lstStyle/>
          <a:p>
            <a:endParaRPr lang="en-GB"/>
          </a:p>
        </p:txBody>
      </p:sp>
      <p:pic>
        <p:nvPicPr>
          <p:cNvPr id="19"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237512" y="2184350"/>
            <a:ext cx="186035" cy="186035"/>
          </a:xfrm>
          <a:prstGeom prst="rect">
            <a:avLst/>
          </a:prstGeom>
        </p:spPr>
      </p:pic>
      <p:sp>
        <p:nvSpPr>
          <p:cNvPr id="20" name="Text 14"/>
          <p:cNvSpPr/>
          <p:nvPr/>
        </p:nvSpPr>
        <p:spPr>
          <a:xfrm>
            <a:off x="6151513" y="2589833"/>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2A2742"/>
                </a:solidFill>
                <a:latin typeface="Outfit ExtraBold" pitchFamily="34" charset="0"/>
                <a:ea typeface="Outfit ExtraBold" pitchFamily="34" charset="-122"/>
                <a:cs typeface="Outfit ExtraBold" pitchFamily="34" charset="-120"/>
              </a:rPr>
              <a:t>No Prior Training</a:t>
            </a:r>
            <a:endParaRPr lang="en-US" sz="1200" dirty="0"/>
          </a:p>
        </p:txBody>
      </p:sp>
      <p:sp>
        <p:nvSpPr>
          <p:cNvPr id="21" name="Text 15"/>
          <p:cNvSpPr/>
          <p:nvPr/>
        </p:nvSpPr>
        <p:spPr>
          <a:xfrm>
            <a:off x="6151513" y="2858095"/>
            <a:ext cx="2358033" cy="793849"/>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A2742"/>
                </a:solidFill>
                <a:latin typeface="Arimo" pitchFamily="34" charset="0"/>
                <a:ea typeface="Arimo" pitchFamily="34" charset="-122"/>
                <a:cs typeface="Arimo" pitchFamily="34" charset="-120"/>
              </a:rPr>
              <a:t>Most students have never received formal cybersecurity education. A game-based approach lowers the barrier to learning and makes it memorable and engaging.</a:t>
            </a:r>
            <a:endParaRPr lang="en-US" sz="950" dirty="0"/>
          </a:p>
        </p:txBody>
      </p:sp>
      <p:sp>
        <p:nvSpPr>
          <p:cNvPr id="22" name="Shape 16"/>
          <p:cNvSpPr/>
          <p:nvPr/>
        </p:nvSpPr>
        <p:spPr>
          <a:xfrm>
            <a:off x="496119" y="3929732"/>
            <a:ext cx="8151763" cy="725463"/>
          </a:xfrm>
          <a:prstGeom prst="roundRect">
            <a:avLst>
              <a:gd name="adj" fmla="val 7182"/>
            </a:avLst>
          </a:prstGeom>
          <a:solidFill>
            <a:srgbClr val="B6D6FC"/>
          </a:solidFill>
          <a:ln/>
        </p:spPr>
        <p:txBody>
          <a:bodyPr/>
          <a:lstStyle/>
          <a:p>
            <a:endParaRPr lang="en-GB"/>
          </a:p>
        </p:txBody>
      </p:sp>
      <p:pic>
        <p:nvPicPr>
          <p:cNvPr id="23" name="Image 4" descr="preencoded.png"/>
          <p:cNvPicPr>
            <a:picLocks noChangeAspect="1"/>
          </p:cNvPicPr>
          <p:nvPr/>
        </p:nvPicPr>
        <p:blipFill>
          <a:blip r:embed="rId7"/>
          <a:stretch>
            <a:fillRect/>
          </a:stretch>
        </p:blipFill>
        <p:spPr>
          <a:xfrm>
            <a:off x="620092" y="4114279"/>
            <a:ext cx="155004" cy="123974"/>
          </a:xfrm>
          <a:prstGeom prst="rect">
            <a:avLst/>
          </a:prstGeom>
        </p:spPr>
      </p:pic>
      <p:sp>
        <p:nvSpPr>
          <p:cNvPr id="24" name="Text 17"/>
          <p:cNvSpPr/>
          <p:nvPr/>
        </p:nvSpPr>
        <p:spPr>
          <a:xfrm>
            <a:off x="899071" y="4084662"/>
            <a:ext cx="7624837"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Arimo" pitchFamily="34" charset="0"/>
                <a:ea typeface="Arimo" pitchFamily="34" charset="-122"/>
                <a:cs typeface="Arimo" pitchFamily="34" charset="-120"/>
              </a:rPr>
              <a:t>Research shows that interactive, scenario-based learning increases knowledge retention by up to </a:t>
            </a:r>
            <a:r>
              <a:rPr lang="en-US" sz="950" b="1" dirty="0">
                <a:solidFill>
                  <a:srgbClr val="000000"/>
                </a:solidFill>
                <a:latin typeface="Arimo" pitchFamily="34" charset="0"/>
                <a:ea typeface="Arimo" pitchFamily="34" charset="-122"/>
                <a:cs typeface="Arimo" pitchFamily="34" charset="-120"/>
              </a:rPr>
              <a:t>75%</a:t>
            </a:r>
            <a:r>
              <a:rPr lang="en-US" sz="950" dirty="0">
                <a:solidFill>
                  <a:srgbClr val="000000"/>
                </a:solidFill>
                <a:latin typeface="Arimo" pitchFamily="34" charset="0"/>
                <a:ea typeface="Arimo" pitchFamily="34" charset="-122"/>
                <a:cs typeface="Arimo" pitchFamily="34" charset="-120"/>
              </a:rPr>
              <a:t> compared to passive reading — making games the ideal format for cybersecurity education.</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96119" y="483096"/>
            <a:ext cx="1102296" cy="233214"/>
          </a:xfrm>
          <a:prstGeom prst="roundRect">
            <a:avLst>
              <a:gd name="adj" fmla="val 17872"/>
            </a:avLst>
          </a:prstGeom>
          <a:solidFill>
            <a:srgbClr val="D7D2F9"/>
          </a:solidFill>
          <a:ln/>
        </p:spPr>
        <p:txBody>
          <a:bodyPr/>
          <a:lstStyle/>
          <a:p>
            <a:endParaRPr lang="en-GB"/>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70533" y="550069"/>
            <a:ext cx="99194" cy="99194"/>
          </a:xfrm>
          <a:prstGeom prst="rect">
            <a:avLst/>
          </a:prstGeom>
        </p:spPr>
      </p:pic>
      <p:sp>
        <p:nvSpPr>
          <p:cNvPr id="4" name="Text 1"/>
          <p:cNvSpPr/>
          <p:nvPr/>
        </p:nvSpPr>
        <p:spPr>
          <a:xfrm>
            <a:off x="719286" y="520303"/>
            <a:ext cx="1261914" cy="158800"/>
          </a:xfrm>
          <a:prstGeom prst="rect">
            <a:avLst/>
          </a:prstGeom>
          <a:noFill/>
          <a:ln/>
        </p:spPr>
        <p:txBody>
          <a:bodyPr wrap="none" lIns="0" tIns="0" rIns="0" bIns="0" rtlCol="0" anchor="t"/>
          <a:lstStyle/>
          <a:p>
            <a:pPr marL="0" indent="0" algn="l">
              <a:lnSpc>
                <a:spcPct val="133000"/>
              </a:lnSpc>
              <a:buNone/>
            </a:pPr>
            <a:r>
              <a:rPr lang="en-US" sz="750" dirty="0">
                <a:solidFill>
                  <a:srgbClr val="2A2742"/>
                </a:solidFill>
                <a:latin typeface="Arimo" pitchFamily="34" charset="0"/>
                <a:ea typeface="Arimo" pitchFamily="34" charset="-122"/>
                <a:cs typeface="Arimo" pitchFamily="34" charset="-120"/>
              </a:rPr>
              <a:t>GAME CONCEPT</a:t>
            </a:r>
            <a:endParaRPr lang="en-US" sz="750" dirty="0"/>
          </a:p>
        </p:txBody>
      </p:sp>
      <p:sp>
        <p:nvSpPr>
          <p:cNvPr id="5" name="Text 2"/>
          <p:cNvSpPr/>
          <p:nvPr/>
        </p:nvSpPr>
        <p:spPr>
          <a:xfrm>
            <a:off x="496119" y="765870"/>
            <a:ext cx="5496744" cy="387548"/>
          </a:xfrm>
          <a:prstGeom prst="rect">
            <a:avLst/>
          </a:prstGeom>
          <a:noFill/>
          <a:ln/>
        </p:spPr>
        <p:txBody>
          <a:bodyPr wrap="none" lIns="0" tIns="0" rIns="0" bIns="0" rtlCol="0" anchor="t"/>
          <a:lstStyle/>
          <a:p>
            <a:pPr marL="0" indent="0" algn="l">
              <a:lnSpc>
                <a:spcPct val="104000"/>
              </a:lnSpc>
              <a:buNone/>
            </a:pPr>
            <a:r>
              <a:rPr lang="en-US" sz="2400" dirty="0">
                <a:solidFill>
                  <a:srgbClr val="231971"/>
                </a:solidFill>
                <a:latin typeface="Outfit ExtraBold" pitchFamily="34" charset="0"/>
                <a:ea typeface="Outfit ExtraBold" pitchFamily="34" charset="-122"/>
                <a:cs typeface="Outfit ExtraBold" pitchFamily="34" charset="-120"/>
              </a:rPr>
              <a:t>Everyday Dilemma — How It Works</a:t>
            </a:r>
            <a:endParaRPr lang="en-US" sz="2400" dirty="0"/>
          </a:p>
        </p:txBody>
      </p:sp>
      <p:sp>
        <p:nvSpPr>
          <p:cNvPr id="6" name="Text 3"/>
          <p:cNvSpPr/>
          <p:nvPr/>
        </p:nvSpPr>
        <p:spPr>
          <a:xfrm>
            <a:off x="496119" y="1339453"/>
            <a:ext cx="815176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A2742"/>
                </a:solidFill>
                <a:latin typeface="Arimo" pitchFamily="34" charset="0"/>
                <a:ea typeface="Arimo" pitchFamily="34" charset="-122"/>
                <a:cs typeface="Arimo" pitchFamily="34" charset="-120"/>
              </a:rPr>
              <a:t>The player takes on the role of an international university student navigating a semester full of real-world digital challenges. Every decision they make — whether to click a suspicious link, report a dubious email, or verify a source — has consequences that shape their academic fate.</a:t>
            </a:r>
            <a:endParaRPr lang="en-US" sz="950" dirty="0"/>
          </a:p>
        </p:txBody>
      </p:sp>
      <p:sp>
        <p:nvSpPr>
          <p:cNvPr id="7" name="Text 4"/>
          <p:cNvSpPr/>
          <p:nvPr/>
        </p:nvSpPr>
        <p:spPr>
          <a:xfrm>
            <a:off x="496119" y="1999878"/>
            <a:ext cx="2007766" cy="198611"/>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Outfit ExtraBold" pitchFamily="34" charset="0"/>
                <a:ea typeface="Outfit ExtraBold" pitchFamily="34" charset="-122"/>
                <a:cs typeface="Outfit ExtraBold" pitchFamily="34" charset="-120"/>
              </a:rPr>
              <a:t>📧</a:t>
            </a:r>
            <a:r>
              <a:rPr lang="en-US" sz="1200" dirty="0">
                <a:solidFill>
                  <a:srgbClr val="231971"/>
                </a:solidFill>
                <a:latin typeface="Outfit ExtraBold" pitchFamily="34" charset="0"/>
                <a:ea typeface="Outfit ExtraBold" pitchFamily="34" charset="-122"/>
                <a:cs typeface="Outfit ExtraBold" pitchFamily="34" charset="-120"/>
              </a:rPr>
              <a:t> Example Scenario</a:t>
            </a:r>
            <a:endParaRPr lang="en-US" sz="1200" dirty="0"/>
          </a:p>
        </p:txBody>
      </p:sp>
      <p:sp>
        <p:nvSpPr>
          <p:cNvPr id="8" name="Text 5"/>
          <p:cNvSpPr/>
          <p:nvPr/>
        </p:nvSpPr>
        <p:spPr>
          <a:xfrm>
            <a:off x="682154" y="2338015"/>
            <a:ext cx="3738562"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A2742"/>
                </a:solidFill>
                <a:latin typeface="Arimo" pitchFamily="34" charset="0"/>
                <a:ea typeface="Arimo" pitchFamily="34" charset="-122"/>
                <a:cs typeface="Arimo" pitchFamily="34" charset="-120"/>
              </a:rPr>
              <a:t>"Your assignment submission has failed due to a technical issue. Click the link below to resubmit. If you do not submit by tonight, your visa will be cancelled."</a:t>
            </a:r>
            <a:endParaRPr lang="en-US" sz="950" dirty="0"/>
          </a:p>
        </p:txBody>
      </p:sp>
      <p:sp>
        <p:nvSpPr>
          <p:cNvPr id="9" name="Shape 6"/>
          <p:cNvSpPr/>
          <p:nvPr/>
        </p:nvSpPr>
        <p:spPr>
          <a:xfrm>
            <a:off x="496119" y="2338015"/>
            <a:ext cx="14288" cy="595387"/>
          </a:xfrm>
          <a:prstGeom prst="rect">
            <a:avLst/>
          </a:prstGeom>
          <a:solidFill>
            <a:srgbClr val="5E4CE6"/>
          </a:solidFill>
          <a:ln/>
        </p:spPr>
        <p:txBody>
          <a:bodyPr/>
          <a:lstStyle/>
          <a:p>
            <a:endParaRPr lang="en-GB"/>
          </a:p>
        </p:txBody>
      </p:sp>
      <p:sp>
        <p:nvSpPr>
          <p:cNvPr id="10" name="Shape 7"/>
          <p:cNvSpPr/>
          <p:nvPr/>
        </p:nvSpPr>
        <p:spPr>
          <a:xfrm>
            <a:off x="496119" y="3072929"/>
            <a:ext cx="3924598" cy="1175445"/>
          </a:xfrm>
          <a:prstGeom prst="roundRect">
            <a:avLst>
              <a:gd name="adj" fmla="val 4432"/>
            </a:avLst>
          </a:prstGeom>
          <a:solidFill>
            <a:srgbClr val="E9E6FA"/>
          </a:solidFill>
          <a:ln w="4763">
            <a:solidFill>
              <a:srgbClr val="BDB8DF"/>
            </a:solidFill>
            <a:prstDash val="solid"/>
          </a:ln>
        </p:spPr>
        <p:txBody>
          <a:bodyPr/>
          <a:lstStyle/>
          <a:p>
            <a:endParaRPr lang="en-GB"/>
          </a:p>
        </p:txBody>
      </p:sp>
      <p:sp>
        <p:nvSpPr>
          <p:cNvPr id="11" name="Shape 8"/>
          <p:cNvSpPr/>
          <p:nvPr/>
        </p:nvSpPr>
        <p:spPr>
          <a:xfrm>
            <a:off x="500881" y="3077691"/>
            <a:ext cx="1957536" cy="1165920"/>
          </a:xfrm>
          <a:prstGeom prst="roundRect">
            <a:avLst>
              <a:gd name="adj" fmla="val 4469"/>
            </a:avLst>
          </a:prstGeom>
          <a:solidFill>
            <a:srgbClr val="E9E6FA"/>
          </a:solidFill>
          <a:ln/>
        </p:spPr>
        <p:txBody>
          <a:bodyPr/>
          <a:lstStyle/>
          <a:p>
            <a:endParaRPr lang="en-GB"/>
          </a:p>
        </p:txBody>
      </p:sp>
      <p:sp>
        <p:nvSpPr>
          <p:cNvPr id="12" name="Text 9"/>
          <p:cNvSpPr/>
          <p:nvPr/>
        </p:nvSpPr>
        <p:spPr>
          <a:xfrm>
            <a:off x="624855" y="3201665"/>
            <a:ext cx="1550566" cy="198611"/>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Outfit ExtraBold" pitchFamily="34" charset="0"/>
                <a:ea typeface="Outfit ExtraBold" pitchFamily="34" charset="-122"/>
                <a:cs typeface="Outfit ExtraBold" pitchFamily="34" charset="-120"/>
              </a:rPr>
              <a:t>⚠️</a:t>
            </a:r>
            <a:r>
              <a:rPr lang="en-US" sz="1200" dirty="0">
                <a:solidFill>
                  <a:srgbClr val="2A2742"/>
                </a:solidFill>
                <a:latin typeface="Outfit ExtraBold" pitchFamily="34" charset="0"/>
                <a:ea typeface="Outfit ExtraBold" pitchFamily="34" charset="-122"/>
                <a:cs typeface="Outfit ExtraBold" pitchFamily="34" charset="-120"/>
              </a:rPr>
              <a:t> Option A</a:t>
            </a:r>
            <a:endParaRPr lang="en-US" sz="1200" dirty="0"/>
          </a:p>
        </p:txBody>
      </p:sp>
      <p:sp>
        <p:nvSpPr>
          <p:cNvPr id="13" name="Text 10"/>
          <p:cNvSpPr/>
          <p:nvPr/>
        </p:nvSpPr>
        <p:spPr>
          <a:xfrm>
            <a:off x="624855" y="3524250"/>
            <a:ext cx="1709589"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A2742"/>
                </a:solidFill>
                <a:latin typeface="Arimo" pitchFamily="34" charset="0"/>
                <a:ea typeface="Arimo" pitchFamily="34" charset="-122"/>
                <a:cs typeface="Arimo" pitchFamily="34" charset="-120"/>
              </a:rPr>
              <a:t>Click the link and enter credentials — </a:t>
            </a:r>
            <a:r>
              <a:rPr lang="en-US" sz="950" b="1" dirty="0">
                <a:solidFill>
                  <a:srgbClr val="2A2742"/>
                </a:solidFill>
                <a:latin typeface="Arimo" pitchFamily="34" charset="0"/>
                <a:ea typeface="Arimo" pitchFamily="34" charset="-122"/>
                <a:cs typeface="Arimo" pitchFamily="34" charset="-120"/>
              </a:rPr>
              <a:t>Risky!</a:t>
            </a:r>
            <a:r>
              <a:rPr lang="en-US" sz="950" dirty="0">
                <a:solidFill>
                  <a:srgbClr val="2A2742"/>
                </a:solidFill>
                <a:latin typeface="Arimo" pitchFamily="34" charset="0"/>
                <a:ea typeface="Arimo" pitchFamily="34" charset="-122"/>
                <a:cs typeface="Arimo" pitchFamily="34" charset="-120"/>
              </a:rPr>
              <a:t> Lose points.</a:t>
            </a:r>
            <a:endParaRPr lang="en-US" sz="950" dirty="0"/>
          </a:p>
        </p:txBody>
      </p:sp>
      <p:sp>
        <p:nvSpPr>
          <p:cNvPr id="14" name="Shape 11"/>
          <p:cNvSpPr/>
          <p:nvPr/>
        </p:nvSpPr>
        <p:spPr>
          <a:xfrm>
            <a:off x="2458417" y="3077691"/>
            <a:ext cx="1957536" cy="1165920"/>
          </a:xfrm>
          <a:prstGeom prst="rect">
            <a:avLst/>
          </a:prstGeom>
          <a:solidFill>
            <a:srgbClr val="E9E6FA"/>
          </a:solidFill>
          <a:ln/>
        </p:spPr>
        <p:txBody>
          <a:bodyPr/>
          <a:lstStyle/>
          <a:p>
            <a:endParaRPr lang="en-GB"/>
          </a:p>
        </p:txBody>
      </p:sp>
      <p:sp>
        <p:nvSpPr>
          <p:cNvPr id="15" name="Shape 12"/>
          <p:cNvSpPr/>
          <p:nvPr/>
        </p:nvSpPr>
        <p:spPr>
          <a:xfrm>
            <a:off x="2458417" y="3077691"/>
            <a:ext cx="14288" cy="1165920"/>
          </a:xfrm>
          <a:prstGeom prst="roundRect">
            <a:avLst>
              <a:gd name="adj" fmla="val 364638"/>
            </a:avLst>
          </a:prstGeom>
          <a:solidFill>
            <a:srgbClr val="BDB8DF"/>
          </a:solidFill>
          <a:ln/>
        </p:spPr>
        <p:txBody>
          <a:bodyPr/>
          <a:lstStyle/>
          <a:p>
            <a:endParaRPr lang="en-GB"/>
          </a:p>
        </p:txBody>
      </p:sp>
      <p:sp>
        <p:nvSpPr>
          <p:cNvPr id="16" name="Text 13"/>
          <p:cNvSpPr/>
          <p:nvPr/>
        </p:nvSpPr>
        <p:spPr>
          <a:xfrm>
            <a:off x="2582391" y="3201665"/>
            <a:ext cx="1550566" cy="198611"/>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Outfit ExtraBold" pitchFamily="34" charset="0"/>
                <a:ea typeface="Outfit ExtraBold" pitchFamily="34" charset="-122"/>
                <a:cs typeface="Outfit ExtraBold" pitchFamily="34" charset="-120"/>
              </a:rPr>
              <a:t>✅</a:t>
            </a:r>
            <a:r>
              <a:rPr lang="en-US" sz="1200" dirty="0">
                <a:solidFill>
                  <a:srgbClr val="2A2742"/>
                </a:solidFill>
                <a:latin typeface="Outfit ExtraBold" pitchFamily="34" charset="0"/>
                <a:ea typeface="Outfit ExtraBold" pitchFamily="34" charset="-122"/>
                <a:cs typeface="Outfit ExtraBold" pitchFamily="34" charset="-120"/>
              </a:rPr>
              <a:t> Option B</a:t>
            </a:r>
            <a:endParaRPr lang="en-US" sz="1200" dirty="0"/>
          </a:p>
        </p:txBody>
      </p:sp>
      <p:sp>
        <p:nvSpPr>
          <p:cNvPr id="17" name="Text 14"/>
          <p:cNvSpPr/>
          <p:nvPr/>
        </p:nvSpPr>
        <p:spPr>
          <a:xfrm>
            <a:off x="2582391" y="3524250"/>
            <a:ext cx="1709589"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A2742"/>
                </a:solidFill>
                <a:latin typeface="Arimo" pitchFamily="34" charset="0"/>
                <a:ea typeface="Arimo" pitchFamily="34" charset="-122"/>
                <a:cs typeface="Arimo" pitchFamily="34" charset="-120"/>
              </a:rPr>
              <a:t>Ignore, check official website, and report — </a:t>
            </a:r>
            <a:r>
              <a:rPr lang="en-US" sz="950" b="1" dirty="0">
                <a:solidFill>
                  <a:srgbClr val="2A2742"/>
                </a:solidFill>
                <a:latin typeface="Arimo" pitchFamily="34" charset="0"/>
                <a:ea typeface="Arimo" pitchFamily="34" charset="-122"/>
                <a:cs typeface="Arimo" pitchFamily="34" charset="-120"/>
              </a:rPr>
              <a:t>Safe!</a:t>
            </a:r>
            <a:r>
              <a:rPr lang="en-US" sz="950" dirty="0">
                <a:solidFill>
                  <a:srgbClr val="2A2742"/>
                </a:solidFill>
                <a:latin typeface="Arimo" pitchFamily="34" charset="0"/>
                <a:ea typeface="Arimo" pitchFamily="34" charset="-122"/>
                <a:cs typeface="Arimo" pitchFamily="34" charset="-120"/>
              </a:rPr>
              <a:t> Earn points.</a:t>
            </a:r>
            <a:endParaRPr lang="en-US" sz="950" dirty="0"/>
          </a:p>
        </p:txBody>
      </p:sp>
      <p:sp>
        <p:nvSpPr>
          <p:cNvPr id="18" name="Text 15"/>
          <p:cNvSpPr/>
          <p:nvPr/>
        </p:nvSpPr>
        <p:spPr>
          <a:xfrm>
            <a:off x="4728046" y="1999878"/>
            <a:ext cx="2007766" cy="198611"/>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Outfit ExtraBold" pitchFamily="34" charset="0"/>
                <a:ea typeface="Outfit ExtraBold" pitchFamily="34" charset="-122"/>
                <a:cs typeface="Outfit ExtraBold" pitchFamily="34" charset="-120"/>
              </a:rPr>
              <a:t>🏆</a:t>
            </a:r>
            <a:r>
              <a:rPr lang="en-US" sz="1200" dirty="0">
                <a:solidFill>
                  <a:srgbClr val="231971"/>
                </a:solidFill>
                <a:latin typeface="Outfit ExtraBold" pitchFamily="34" charset="0"/>
                <a:ea typeface="Outfit ExtraBold" pitchFamily="34" charset="-122"/>
                <a:cs typeface="Outfit ExtraBold" pitchFamily="34" charset="-120"/>
              </a:rPr>
              <a:t> Scoring &amp; Winning</a:t>
            </a:r>
            <a:endParaRPr lang="en-US" sz="1200" dirty="0"/>
          </a:p>
        </p:txBody>
      </p:sp>
      <p:sp>
        <p:nvSpPr>
          <p:cNvPr id="19" name="Text 16"/>
          <p:cNvSpPr/>
          <p:nvPr/>
        </p:nvSpPr>
        <p:spPr>
          <a:xfrm>
            <a:off x="4728046" y="2322463"/>
            <a:ext cx="3924598" cy="923999"/>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950" dirty="0">
                <a:solidFill>
                  <a:srgbClr val="2A2742"/>
                </a:solidFill>
                <a:latin typeface="Arimo" pitchFamily="34" charset="0"/>
                <a:ea typeface="Arimo" pitchFamily="34" charset="-122"/>
                <a:cs typeface="Arimo" pitchFamily="34" charset="-120"/>
              </a:rPr>
              <a:t>Safe decisions </a:t>
            </a:r>
            <a:r>
              <a:rPr lang="en-US" sz="950" b="1" dirty="0">
                <a:solidFill>
                  <a:srgbClr val="2A2742"/>
                </a:solidFill>
                <a:latin typeface="Arimo" pitchFamily="34" charset="0"/>
                <a:ea typeface="Arimo" pitchFamily="34" charset="-122"/>
                <a:cs typeface="Arimo" pitchFamily="34" charset="-120"/>
              </a:rPr>
              <a:t>award points</a:t>
            </a:r>
            <a:endParaRPr lang="en-US" sz="950" dirty="0"/>
          </a:p>
          <a:p>
            <a:pPr marL="342900" indent="-342900" algn="l">
              <a:lnSpc>
                <a:spcPct val="133000"/>
              </a:lnSpc>
              <a:buSzPct val="100000"/>
              <a:buChar char="•"/>
            </a:pPr>
            <a:r>
              <a:rPr lang="en-US" sz="950" dirty="0">
                <a:solidFill>
                  <a:srgbClr val="2A2742"/>
                </a:solidFill>
                <a:latin typeface="Arimo" pitchFamily="34" charset="0"/>
                <a:ea typeface="Arimo" pitchFamily="34" charset="-122"/>
                <a:cs typeface="Arimo" pitchFamily="34" charset="-120"/>
              </a:rPr>
              <a:t>Risky decisions </a:t>
            </a:r>
            <a:r>
              <a:rPr lang="en-US" sz="950" b="1" dirty="0">
                <a:solidFill>
                  <a:srgbClr val="2A2742"/>
                </a:solidFill>
                <a:latin typeface="Arimo" pitchFamily="34" charset="0"/>
                <a:ea typeface="Arimo" pitchFamily="34" charset="-122"/>
                <a:cs typeface="Arimo" pitchFamily="34" charset="-120"/>
              </a:rPr>
              <a:t>deduct points</a:t>
            </a:r>
            <a:endParaRPr lang="en-US" sz="950" dirty="0"/>
          </a:p>
          <a:p>
            <a:pPr marL="342900" indent="-342900" algn="l">
              <a:lnSpc>
                <a:spcPct val="133000"/>
              </a:lnSpc>
              <a:buSzPct val="100000"/>
              <a:buChar char="•"/>
            </a:pPr>
            <a:r>
              <a:rPr lang="en-US" sz="950" b="1" dirty="0">
                <a:solidFill>
                  <a:srgbClr val="2A2742"/>
                </a:solidFill>
                <a:latin typeface="Arimo" pitchFamily="34" charset="0"/>
                <a:ea typeface="Arimo" pitchFamily="34" charset="-122"/>
                <a:cs typeface="Arimo" pitchFamily="34" charset="-120"/>
              </a:rPr>
              <a:t>80+ points</a:t>
            </a:r>
            <a:r>
              <a:rPr lang="en-US" sz="950" dirty="0">
                <a:solidFill>
                  <a:srgbClr val="2A2742"/>
                </a:solidFill>
                <a:latin typeface="Arimo" pitchFamily="34" charset="0"/>
                <a:ea typeface="Arimo" pitchFamily="34" charset="-122"/>
                <a:cs typeface="Arimo" pitchFamily="34" charset="-120"/>
              </a:rPr>
              <a:t> = Successful Semester </a:t>
            </a:r>
            <a:r>
              <a:rPr lang="en-US" sz="950" dirty="0">
                <a:solidFill>
                  <a:srgbClr val="000000"/>
                </a:solidFill>
                <a:latin typeface="Arimo" pitchFamily="34" charset="0"/>
                <a:ea typeface="Arimo" pitchFamily="34" charset="-122"/>
                <a:cs typeface="Arimo" pitchFamily="34" charset="-120"/>
              </a:rPr>
              <a:t>🎓</a:t>
            </a:r>
            <a:endParaRPr lang="en-US" sz="950" dirty="0"/>
          </a:p>
          <a:p>
            <a:pPr marL="342900" indent="-342900" algn="l">
              <a:lnSpc>
                <a:spcPct val="133000"/>
              </a:lnSpc>
              <a:buSzPct val="100000"/>
              <a:buChar char="•"/>
            </a:pPr>
            <a:r>
              <a:rPr lang="en-US" sz="950" dirty="0">
                <a:solidFill>
                  <a:srgbClr val="2A2742"/>
                </a:solidFill>
                <a:latin typeface="Arimo" pitchFamily="34" charset="0"/>
                <a:ea typeface="Arimo" pitchFamily="34" charset="-122"/>
                <a:cs typeface="Arimo" pitchFamily="34" charset="-120"/>
              </a:rPr>
              <a:t>Low score = Account compromise or academic setback</a:t>
            </a:r>
            <a:endParaRPr lang="en-US" sz="950" dirty="0"/>
          </a:p>
        </p:txBody>
      </p:sp>
      <p:sp>
        <p:nvSpPr>
          <p:cNvPr id="20" name="Text 17"/>
          <p:cNvSpPr/>
          <p:nvPr/>
        </p:nvSpPr>
        <p:spPr>
          <a:xfrm>
            <a:off x="4728046" y="3370436"/>
            <a:ext cx="2130400" cy="198611"/>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Outfit ExtraBold" pitchFamily="34" charset="0"/>
                <a:ea typeface="Outfit ExtraBold" pitchFamily="34" charset="-122"/>
                <a:cs typeface="Outfit ExtraBold" pitchFamily="34" charset="-120"/>
              </a:rPr>
              <a:t>🎯</a:t>
            </a:r>
            <a:r>
              <a:rPr lang="en-US" sz="1200" dirty="0">
                <a:solidFill>
                  <a:srgbClr val="231971"/>
                </a:solidFill>
                <a:latin typeface="Outfit ExtraBold" pitchFamily="34" charset="0"/>
                <a:ea typeface="Outfit ExtraBold" pitchFamily="34" charset="-122"/>
                <a:cs typeface="Outfit ExtraBold" pitchFamily="34" charset="-120"/>
              </a:rPr>
              <a:t> Learning Objectives</a:t>
            </a:r>
            <a:endParaRPr lang="en-US" sz="1200" dirty="0"/>
          </a:p>
        </p:txBody>
      </p:sp>
      <p:sp>
        <p:nvSpPr>
          <p:cNvPr id="21" name="Text 18"/>
          <p:cNvSpPr/>
          <p:nvPr/>
        </p:nvSpPr>
        <p:spPr>
          <a:xfrm>
            <a:off x="4728046" y="3693021"/>
            <a:ext cx="3924598" cy="923999"/>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950" dirty="0">
                <a:solidFill>
                  <a:srgbClr val="2A2742"/>
                </a:solidFill>
                <a:latin typeface="Arimo" pitchFamily="34" charset="0"/>
                <a:ea typeface="Arimo" pitchFamily="34" charset="-122"/>
                <a:cs typeface="Arimo" pitchFamily="34" charset="-120"/>
              </a:rPr>
              <a:t>Identify phishing emails and fake links</a:t>
            </a:r>
            <a:endParaRPr lang="en-US" sz="950" dirty="0"/>
          </a:p>
          <a:p>
            <a:pPr marL="342900" indent="-342900" algn="l">
              <a:lnSpc>
                <a:spcPct val="133000"/>
              </a:lnSpc>
              <a:buSzPct val="100000"/>
              <a:buChar char="•"/>
            </a:pPr>
            <a:r>
              <a:rPr lang="en-US" sz="950" dirty="0">
                <a:solidFill>
                  <a:srgbClr val="2A2742"/>
                </a:solidFill>
                <a:latin typeface="Arimo" pitchFamily="34" charset="0"/>
                <a:ea typeface="Arimo" pitchFamily="34" charset="-122"/>
                <a:cs typeface="Arimo" pitchFamily="34" charset="-120"/>
              </a:rPr>
              <a:t>Recognise social engineering and urgency tactics</a:t>
            </a:r>
            <a:endParaRPr lang="en-US" sz="950" dirty="0"/>
          </a:p>
          <a:p>
            <a:pPr marL="342900" indent="-342900" algn="l">
              <a:lnSpc>
                <a:spcPct val="133000"/>
              </a:lnSpc>
              <a:buSzPct val="100000"/>
              <a:buChar char="•"/>
            </a:pPr>
            <a:r>
              <a:rPr lang="en-US" sz="950" dirty="0">
                <a:solidFill>
                  <a:srgbClr val="2A2742"/>
                </a:solidFill>
                <a:latin typeface="Arimo" pitchFamily="34" charset="0"/>
                <a:ea typeface="Arimo" pitchFamily="34" charset="-122"/>
                <a:cs typeface="Arimo" pitchFamily="34" charset="-120"/>
              </a:rPr>
              <a:t>Practise safe, verified online behaviour</a:t>
            </a:r>
            <a:endParaRPr lang="en-US" sz="950" dirty="0"/>
          </a:p>
          <a:p>
            <a:pPr marL="342900" indent="-342900" algn="l">
              <a:lnSpc>
                <a:spcPct val="133000"/>
              </a:lnSpc>
              <a:buSzPct val="100000"/>
              <a:buChar char="•"/>
            </a:pPr>
            <a:r>
              <a:rPr lang="en-US" sz="950" dirty="0">
                <a:solidFill>
                  <a:srgbClr val="2A2742"/>
                </a:solidFill>
                <a:latin typeface="Arimo" pitchFamily="34" charset="0"/>
                <a:ea typeface="Arimo" pitchFamily="34" charset="-122"/>
                <a:cs typeface="Arimo" pitchFamily="34" charset="-120"/>
              </a:rPr>
              <a:t>Understand real consequences of sharing personal data</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96119" y="493663"/>
            <a:ext cx="937022" cy="233214"/>
          </a:xfrm>
          <a:prstGeom prst="roundRect">
            <a:avLst>
              <a:gd name="adj" fmla="val 17872"/>
            </a:avLst>
          </a:prstGeom>
          <a:solidFill>
            <a:srgbClr val="D7D2F9"/>
          </a:solidFill>
          <a:ln/>
        </p:spPr>
        <p:txBody>
          <a:bodyPr/>
          <a:lstStyle/>
          <a:p>
            <a:endParaRPr lang="en-GB"/>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70533" y="560636"/>
            <a:ext cx="99194" cy="99194"/>
          </a:xfrm>
          <a:prstGeom prst="rect">
            <a:avLst/>
          </a:prstGeom>
        </p:spPr>
      </p:pic>
      <p:sp>
        <p:nvSpPr>
          <p:cNvPr id="4" name="Text 1"/>
          <p:cNvSpPr/>
          <p:nvPr/>
        </p:nvSpPr>
        <p:spPr>
          <a:xfrm>
            <a:off x="719286" y="530870"/>
            <a:ext cx="1096640" cy="158800"/>
          </a:xfrm>
          <a:prstGeom prst="rect">
            <a:avLst/>
          </a:prstGeom>
          <a:noFill/>
          <a:ln/>
        </p:spPr>
        <p:txBody>
          <a:bodyPr wrap="none" lIns="0" tIns="0" rIns="0" bIns="0" rtlCol="0" anchor="t"/>
          <a:lstStyle/>
          <a:p>
            <a:pPr marL="0" indent="0" algn="l">
              <a:lnSpc>
                <a:spcPct val="133000"/>
              </a:lnSpc>
              <a:buNone/>
            </a:pPr>
            <a:r>
              <a:rPr lang="en-US" sz="750" dirty="0">
                <a:solidFill>
                  <a:srgbClr val="2A2742"/>
                </a:solidFill>
                <a:latin typeface="Arimo" pitchFamily="34" charset="0"/>
                <a:ea typeface="Arimo" pitchFamily="34" charset="-122"/>
                <a:cs typeface="Arimo" pitchFamily="34" charset="-120"/>
              </a:rPr>
              <a:t>UX &amp; DESIGN</a:t>
            </a:r>
            <a:endParaRPr lang="en-US" sz="750" dirty="0"/>
          </a:p>
        </p:txBody>
      </p:sp>
      <p:sp>
        <p:nvSpPr>
          <p:cNvPr id="5" name="Text 2"/>
          <p:cNvSpPr/>
          <p:nvPr/>
        </p:nvSpPr>
        <p:spPr>
          <a:xfrm>
            <a:off x="496119" y="776436"/>
            <a:ext cx="8151763" cy="775097"/>
          </a:xfrm>
          <a:prstGeom prst="rect">
            <a:avLst/>
          </a:prstGeom>
          <a:noFill/>
          <a:ln/>
        </p:spPr>
        <p:txBody>
          <a:bodyPr wrap="square" lIns="0" tIns="0" rIns="0" bIns="0" rtlCol="0" anchor="t">
            <a:normAutofit/>
          </a:bodyPr>
          <a:lstStyle/>
          <a:p>
            <a:pPr marL="0" indent="0" algn="l">
              <a:lnSpc>
                <a:spcPct val="104000"/>
              </a:lnSpc>
              <a:buNone/>
            </a:pPr>
            <a:r>
              <a:rPr lang="en-US" sz="2400" dirty="0">
                <a:solidFill>
                  <a:srgbClr val="231971"/>
                </a:solidFill>
                <a:latin typeface="Outfit ExtraBold" pitchFamily="34" charset="0"/>
                <a:ea typeface="Outfit ExtraBold" pitchFamily="34" charset="-122"/>
                <a:cs typeface="Outfit ExtraBold" pitchFamily="34" charset="-120"/>
              </a:rPr>
              <a:t>Design Philosophy — Cyber Aesthetic Meets Accessible UX</a:t>
            </a:r>
            <a:endParaRPr lang="en-US" sz="2400" dirty="0"/>
          </a:p>
        </p:txBody>
      </p:sp>
      <p:sp>
        <p:nvSpPr>
          <p:cNvPr id="6" name="Text 3"/>
          <p:cNvSpPr/>
          <p:nvPr/>
        </p:nvSpPr>
        <p:spPr>
          <a:xfrm>
            <a:off x="496119" y="1737568"/>
            <a:ext cx="815176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A2742"/>
                </a:solidFill>
                <a:latin typeface="Arimo" pitchFamily="34" charset="0"/>
                <a:ea typeface="Arimo" pitchFamily="34" charset="-122"/>
                <a:cs typeface="Arimo" pitchFamily="34" charset="-120"/>
              </a:rPr>
              <a:t>Our design language draws from three key inspirations to create a visual identity that feels authentic, engaging, and inclusive. We combine high-contrast cyber aesthetics with accessible, student-friendly interaction patterns.</a:t>
            </a:r>
            <a:endParaRPr lang="en-US" sz="950" dirty="0"/>
          </a:p>
        </p:txBody>
      </p:sp>
      <p:sp>
        <p:nvSpPr>
          <p:cNvPr id="7" name="Shape 4"/>
          <p:cNvSpPr/>
          <p:nvPr/>
        </p:nvSpPr>
        <p:spPr>
          <a:xfrm>
            <a:off x="496119" y="2274019"/>
            <a:ext cx="4013895" cy="1125885"/>
          </a:xfrm>
          <a:prstGeom prst="roundRect">
            <a:avLst>
              <a:gd name="adj" fmla="val 4627"/>
            </a:avLst>
          </a:prstGeom>
          <a:solidFill>
            <a:srgbClr val="E9E6FA"/>
          </a:solidFill>
          <a:ln w="4763">
            <a:solidFill>
              <a:srgbClr val="BDB8DF"/>
            </a:solidFill>
            <a:prstDash val="solid"/>
          </a:ln>
        </p:spPr>
        <p:txBody>
          <a:bodyPr/>
          <a:lstStyle/>
          <a:p>
            <a:endParaRPr lang="en-GB"/>
          </a:p>
        </p:txBody>
      </p:sp>
      <p:sp>
        <p:nvSpPr>
          <p:cNvPr id="8" name="Text 5"/>
          <p:cNvSpPr/>
          <p:nvPr/>
        </p:nvSpPr>
        <p:spPr>
          <a:xfrm>
            <a:off x="624855" y="2402756"/>
            <a:ext cx="1550566" cy="198611"/>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Outfit ExtraBold" pitchFamily="34" charset="0"/>
                <a:ea typeface="Outfit ExtraBold" pitchFamily="34" charset="-122"/>
                <a:cs typeface="Outfit ExtraBold" pitchFamily="34" charset="-120"/>
              </a:rPr>
              <a:t>🛡️</a:t>
            </a:r>
            <a:r>
              <a:rPr lang="en-US" sz="1200" dirty="0">
                <a:solidFill>
                  <a:srgbClr val="2A2742"/>
                </a:solidFill>
                <a:latin typeface="Outfit ExtraBold" pitchFamily="34" charset="0"/>
                <a:ea typeface="Outfit ExtraBold" pitchFamily="34" charset="-122"/>
                <a:cs typeface="Outfit ExtraBold" pitchFamily="34" charset="-120"/>
              </a:rPr>
              <a:t> CyberMission</a:t>
            </a:r>
            <a:endParaRPr lang="en-US" sz="1200" dirty="0"/>
          </a:p>
        </p:txBody>
      </p:sp>
      <p:sp>
        <p:nvSpPr>
          <p:cNvPr id="9" name="Text 6"/>
          <p:cNvSpPr/>
          <p:nvPr/>
        </p:nvSpPr>
        <p:spPr>
          <a:xfrm>
            <a:off x="624855" y="2675781"/>
            <a:ext cx="3756422"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A2742"/>
                </a:solidFill>
                <a:latin typeface="Arimo" pitchFamily="34" charset="0"/>
                <a:ea typeface="Arimo" pitchFamily="34" charset="-122"/>
                <a:cs typeface="Arimo" pitchFamily="34" charset="-120"/>
              </a:rPr>
              <a:t>Inspired by the </a:t>
            </a:r>
            <a:r>
              <a:rPr lang="en-US" sz="950" b="1" dirty="0">
                <a:solidFill>
                  <a:srgbClr val="2A2742"/>
                </a:solidFill>
                <a:latin typeface="Arimo" pitchFamily="34" charset="0"/>
                <a:ea typeface="Arimo" pitchFamily="34" charset="-122"/>
                <a:cs typeface="Arimo" pitchFamily="34" charset="-120"/>
              </a:rPr>
              <a:t>cyber military theme</a:t>
            </a:r>
            <a:r>
              <a:rPr lang="en-US" sz="950" dirty="0">
                <a:solidFill>
                  <a:srgbClr val="2A2742"/>
                </a:solidFill>
                <a:latin typeface="Arimo" pitchFamily="34" charset="0"/>
                <a:ea typeface="Arimo" pitchFamily="34" charset="-122"/>
                <a:cs typeface="Arimo" pitchFamily="34" charset="-120"/>
              </a:rPr>
              <a:t> — strong iconography, mission-briefing layouts, and a sense of urgency that mirrors real phishing scenarios.</a:t>
            </a:r>
            <a:endParaRPr lang="en-US" sz="950" dirty="0"/>
          </a:p>
        </p:txBody>
      </p:sp>
      <p:sp>
        <p:nvSpPr>
          <p:cNvPr id="10" name="Shape 7"/>
          <p:cNvSpPr/>
          <p:nvPr/>
        </p:nvSpPr>
        <p:spPr>
          <a:xfrm>
            <a:off x="4633987" y="2274019"/>
            <a:ext cx="4013895" cy="1125885"/>
          </a:xfrm>
          <a:prstGeom prst="roundRect">
            <a:avLst>
              <a:gd name="adj" fmla="val 4627"/>
            </a:avLst>
          </a:prstGeom>
          <a:solidFill>
            <a:srgbClr val="E9E6FA"/>
          </a:solidFill>
          <a:ln w="4763">
            <a:solidFill>
              <a:srgbClr val="BDB8DF"/>
            </a:solidFill>
            <a:prstDash val="solid"/>
          </a:ln>
        </p:spPr>
        <p:txBody>
          <a:bodyPr/>
          <a:lstStyle/>
          <a:p>
            <a:endParaRPr lang="en-GB"/>
          </a:p>
        </p:txBody>
      </p:sp>
      <p:sp>
        <p:nvSpPr>
          <p:cNvPr id="11" name="Text 8"/>
          <p:cNvSpPr/>
          <p:nvPr/>
        </p:nvSpPr>
        <p:spPr>
          <a:xfrm>
            <a:off x="4762723" y="2402756"/>
            <a:ext cx="1550566" cy="198611"/>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Outfit ExtraBold" pitchFamily="34" charset="0"/>
                <a:ea typeface="Outfit ExtraBold" pitchFamily="34" charset="-122"/>
                <a:cs typeface="Outfit ExtraBold" pitchFamily="34" charset="-120"/>
              </a:rPr>
              <a:t>🎮</a:t>
            </a:r>
            <a:r>
              <a:rPr lang="en-US" sz="1200" dirty="0">
                <a:solidFill>
                  <a:srgbClr val="2A2742"/>
                </a:solidFill>
                <a:latin typeface="Outfit ExtraBold" pitchFamily="34" charset="0"/>
                <a:ea typeface="Outfit ExtraBold" pitchFamily="34" charset="-122"/>
                <a:cs typeface="Outfit ExtraBold" pitchFamily="34" charset="-120"/>
              </a:rPr>
              <a:t> Prodigy Education</a:t>
            </a:r>
            <a:endParaRPr lang="en-US" sz="1200" dirty="0"/>
          </a:p>
        </p:txBody>
      </p:sp>
      <p:sp>
        <p:nvSpPr>
          <p:cNvPr id="12" name="Text 9"/>
          <p:cNvSpPr/>
          <p:nvPr/>
        </p:nvSpPr>
        <p:spPr>
          <a:xfrm>
            <a:off x="4762723" y="2675781"/>
            <a:ext cx="3756422" cy="595387"/>
          </a:xfrm>
          <a:prstGeom prst="rect">
            <a:avLst/>
          </a:prstGeom>
          <a:noFill/>
          <a:ln/>
        </p:spPr>
        <p:txBody>
          <a:bodyPr wrap="square" lIns="0" tIns="0" rIns="0" bIns="0" rtlCol="0" anchor="t">
            <a:normAutofit/>
          </a:bodyPr>
          <a:lstStyle/>
          <a:p>
            <a:pPr marL="0" indent="0" algn="l">
              <a:lnSpc>
                <a:spcPct val="133000"/>
              </a:lnSpc>
              <a:buNone/>
            </a:pPr>
            <a:r>
              <a:rPr lang="en-US" sz="950" b="1" dirty="0">
                <a:solidFill>
                  <a:srgbClr val="2A2742"/>
                </a:solidFill>
                <a:latin typeface="Arimo" pitchFamily="34" charset="0"/>
                <a:ea typeface="Arimo" pitchFamily="34" charset="-122"/>
                <a:cs typeface="Arimo" pitchFamily="34" charset="-120"/>
              </a:rPr>
              <a:t>Clear visual symbols</a:t>
            </a:r>
            <a:r>
              <a:rPr lang="en-US" sz="950" dirty="0">
                <a:solidFill>
                  <a:srgbClr val="2A2742"/>
                </a:solidFill>
                <a:latin typeface="Arimo" pitchFamily="34" charset="0"/>
                <a:ea typeface="Arimo" pitchFamily="34" charset="-122"/>
                <a:cs typeface="Arimo" pitchFamily="34" charset="-120"/>
              </a:rPr>
              <a:t> and intuitive decision-making prompts that guide students through choices without overwhelming them with text.</a:t>
            </a:r>
            <a:endParaRPr lang="en-US" sz="950" dirty="0"/>
          </a:p>
        </p:txBody>
      </p:sp>
      <p:sp>
        <p:nvSpPr>
          <p:cNvPr id="13" name="Shape 10"/>
          <p:cNvSpPr/>
          <p:nvPr/>
        </p:nvSpPr>
        <p:spPr>
          <a:xfrm>
            <a:off x="496119" y="3523878"/>
            <a:ext cx="4013895" cy="1125885"/>
          </a:xfrm>
          <a:prstGeom prst="roundRect">
            <a:avLst>
              <a:gd name="adj" fmla="val 4627"/>
            </a:avLst>
          </a:prstGeom>
          <a:solidFill>
            <a:srgbClr val="E9E6FA"/>
          </a:solidFill>
          <a:ln w="4763">
            <a:solidFill>
              <a:srgbClr val="BDB8DF"/>
            </a:solidFill>
            <a:prstDash val="solid"/>
          </a:ln>
        </p:spPr>
        <p:txBody>
          <a:bodyPr/>
          <a:lstStyle/>
          <a:p>
            <a:endParaRPr lang="en-GB"/>
          </a:p>
        </p:txBody>
      </p:sp>
      <p:sp>
        <p:nvSpPr>
          <p:cNvPr id="14" name="Text 11"/>
          <p:cNvSpPr/>
          <p:nvPr/>
        </p:nvSpPr>
        <p:spPr>
          <a:xfrm>
            <a:off x="624855" y="3652614"/>
            <a:ext cx="1550566" cy="198611"/>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Outfit ExtraBold" pitchFamily="34" charset="0"/>
                <a:ea typeface="Outfit ExtraBold" pitchFamily="34" charset="-122"/>
                <a:cs typeface="Outfit ExtraBold" pitchFamily="34" charset="-120"/>
              </a:rPr>
              <a:t>🌐</a:t>
            </a:r>
            <a:r>
              <a:rPr lang="en-US" sz="1200" dirty="0">
                <a:solidFill>
                  <a:srgbClr val="2A2742"/>
                </a:solidFill>
                <a:latin typeface="Outfit ExtraBold" pitchFamily="34" charset="0"/>
                <a:ea typeface="Outfit ExtraBold" pitchFamily="34" charset="-122"/>
                <a:cs typeface="Outfit ExtraBold" pitchFamily="34" charset="-120"/>
              </a:rPr>
              <a:t> CyberEdu</a:t>
            </a:r>
            <a:endParaRPr lang="en-US" sz="1200" dirty="0"/>
          </a:p>
        </p:txBody>
      </p:sp>
      <p:sp>
        <p:nvSpPr>
          <p:cNvPr id="15" name="Text 12"/>
          <p:cNvSpPr/>
          <p:nvPr/>
        </p:nvSpPr>
        <p:spPr>
          <a:xfrm>
            <a:off x="624855" y="3925639"/>
            <a:ext cx="3756422" cy="595387"/>
          </a:xfrm>
          <a:prstGeom prst="rect">
            <a:avLst/>
          </a:prstGeom>
          <a:noFill/>
          <a:ln/>
        </p:spPr>
        <p:txBody>
          <a:bodyPr wrap="square" lIns="0" tIns="0" rIns="0" bIns="0" rtlCol="0" anchor="t">
            <a:normAutofit/>
          </a:bodyPr>
          <a:lstStyle/>
          <a:p>
            <a:pPr marL="0" indent="0" algn="l">
              <a:lnSpc>
                <a:spcPct val="133000"/>
              </a:lnSpc>
              <a:buNone/>
            </a:pPr>
            <a:r>
              <a:rPr lang="en-US" sz="950" b="1" dirty="0">
                <a:solidFill>
                  <a:srgbClr val="2A2742"/>
                </a:solidFill>
                <a:latin typeface="Arimo" pitchFamily="34" charset="0"/>
                <a:ea typeface="Arimo" pitchFamily="34" charset="-122"/>
                <a:cs typeface="Arimo" pitchFamily="34" charset="-120"/>
              </a:rPr>
              <a:t>High-contrast colour palette</a:t>
            </a:r>
            <a:r>
              <a:rPr lang="en-US" sz="950" dirty="0">
                <a:solidFill>
                  <a:srgbClr val="2A2742"/>
                </a:solidFill>
                <a:latin typeface="Arimo" pitchFamily="34" charset="0"/>
                <a:ea typeface="Arimo" pitchFamily="34" charset="-122"/>
                <a:cs typeface="Arimo" pitchFamily="34" charset="-120"/>
              </a:rPr>
              <a:t> — electric blues, greens, and deep darks — that emphasises digital security themes and ensures readability.</a:t>
            </a:r>
            <a:endParaRPr lang="en-US" sz="950" dirty="0"/>
          </a:p>
        </p:txBody>
      </p:sp>
      <p:sp>
        <p:nvSpPr>
          <p:cNvPr id="16" name="Shape 13"/>
          <p:cNvSpPr/>
          <p:nvPr/>
        </p:nvSpPr>
        <p:spPr>
          <a:xfrm>
            <a:off x="4633987" y="3523878"/>
            <a:ext cx="4013895" cy="1125885"/>
          </a:xfrm>
          <a:prstGeom prst="roundRect">
            <a:avLst>
              <a:gd name="adj" fmla="val 4627"/>
            </a:avLst>
          </a:prstGeom>
          <a:solidFill>
            <a:srgbClr val="E9E6FA"/>
          </a:solidFill>
          <a:ln w="4763">
            <a:solidFill>
              <a:srgbClr val="BDB8DF"/>
            </a:solidFill>
            <a:prstDash val="solid"/>
          </a:ln>
        </p:spPr>
        <p:txBody>
          <a:bodyPr/>
          <a:lstStyle/>
          <a:p>
            <a:endParaRPr lang="en-GB"/>
          </a:p>
        </p:txBody>
      </p:sp>
      <p:sp>
        <p:nvSpPr>
          <p:cNvPr id="17" name="Text 14"/>
          <p:cNvSpPr/>
          <p:nvPr/>
        </p:nvSpPr>
        <p:spPr>
          <a:xfrm>
            <a:off x="4762723" y="3652614"/>
            <a:ext cx="1550566" cy="198611"/>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Outfit ExtraBold" pitchFamily="34" charset="0"/>
                <a:ea typeface="Outfit ExtraBold" pitchFamily="34" charset="-122"/>
                <a:cs typeface="Outfit ExtraBold" pitchFamily="34" charset="-120"/>
              </a:rPr>
              <a:t>♿</a:t>
            </a:r>
            <a:r>
              <a:rPr lang="en-US" sz="1200" dirty="0">
                <a:solidFill>
                  <a:srgbClr val="2A2742"/>
                </a:solidFill>
                <a:latin typeface="Outfit ExtraBold" pitchFamily="34" charset="0"/>
                <a:ea typeface="Outfit ExtraBold" pitchFamily="34" charset="-122"/>
                <a:cs typeface="Outfit ExtraBold" pitchFamily="34" charset="-120"/>
              </a:rPr>
              <a:t> Accessibility</a:t>
            </a:r>
            <a:endParaRPr lang="en-US" sz="1200" dirty="0"/>
          </a:p>
        </p:txBody>
      </p:sp>
      <p:sp>
        <p:nvSpPr>
          <p:cNvPr id="18" name="Text 15"/>
          <p:cNvSpPr/>
          <p:nvPr/>
        </p:nvSpPr>
        <p:spPr>
          <a:xfrm>
            <a:off x="4762723" y="3925639"/>
            <a:ext cx="3756422" cy="595387"/>
          </a:xfrm>
          <a:prstGeom prst="rect">
            <a:avLst/>
          </a:prstGeom>
          <a:noFill/>
          <a:ln/>
        </p:spPr>
        <p:txBody>
          <a:bodyPr wrap="square" lIns="0" tIns="0" rIns="0" bIns="0" rtlCol="0" anchor="t">
            <a:normAutofit/>
          </a:bodyPr>
          <a:lstStyle/>
          <a:p>
            <a:pPr marL="0" indent="0" algn="l">
              <a:lnSpc>
                <a:spcPct val="133000"/>
              </a:lnSpc>
              <a:buNone/>
            </a:pPr>
            <a:r>
              <a:rPr lang="en-US" sz="950" b="1" dirty="0">
                <a:solidFill>
                  <a:srgbClr val="2A2742"/>
                </a:solidFill>
                <a:latin typeface="Arimo" pitchFamily="34" charset="0"/>
                <a:ea typeface="Arimo" pitchFamily="34" charset="-122"/>
                <a:cs typeface="Arimo" pitchFamily="34" charset="-120"/>
              </a:rPr>
              <a:t>Smooth animations</a:t>
            </a:r>
            <a:r>
              <a:rPr lang="en-US" sz="950" dirty="0">
                <a:solidFill>
                  <a:srgbClr val="2A2742"/>
                </a:solidFill>
                <a:latin typeface="Arimo" pitchFamily="34" charset="0"/>
                <a:ea typeface="Arimo" pitchFamily="34" charset="-122"/>
                <a:cs typeface="Arimo" pitchFamily="34" charset="-120"/>
              </a:rPr>
              <a:t>, readable font sizes, clear button labels, and keyboard-friendly navigation ensure the game is inclusive for all users.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96119" y="583555"/>
            <a:ext cx="1232743" cy="233214"/>
          </a:xfrm>
          <a:prstGeom prst="roundRect">
            <a:avLst>
              <a:gd name="adj" fmla="val 17872"/>
            </a:avLst>
          </a:prstGeom>
          <a:solidFill>
            <a:srgbClr val="D7D2F9"/>
          </a:solidFill>
          <a:ln/>
        </p:spPr>
        <p:txBody>
          <a:bodyPr/>
          <a:lstStyle/>
          <a:p>
            <a:endParaRPr lang="en-GB"/>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70533" y="650528"/>
            <a:ext cx="99194" cy="99194"/>
          </a:xfrm>
          <a:prstGeom prst="rect">
            <a:avLst/>
          </a:prstGeom>
        </p:spPr>
      </p:pic>
      <p:sp>
        <p:nvSpPr>
          <p:cNvPr id="4" name="Text 1"/>
          <p:cNvSpPr/>
          <p:nvPr/>
        </p:nvSpPr>
        <p:spPr>
          <a:xfrm>
            <a:off x="719286" y="620762"/>
            <a:ext cx="1392362" cy="158800"/>
          </a:xfrm>
          <a:prstGeom prst="rect">
            <a:avLst/>
          </a:prstGeom>
          <a:noFill/>
          <a:ln/>
        </p:spPr>
        <p:txBody>
          <a:bodyPr wrap="none" lIns="0" tIns="0" rIns="0" bIns="0" rtlCol="0" anchor="t"/>
          <a:lstStyle/>
          <a:p>
            <a:pPr marL="0" indent="0" algn="l">
              <a:lnSpc>
                <a:spcPct val="133000"/>
              </a:lnSpc>
              <a:buNone/>
            </a:pPr>
            <a:r>
              <a:rPr lang="en-US" sz="750" dirty="0">
                <a:solidFill>
                  <a:srgbClr val="2A2742"/>
                </a:solidFill>
                <a:latin typeface="Arimo" pitchFamily="34" charset="0"/>
                <a:ea typeface="Arimo" pitchFamily="34" charset="-122"/>
                <a:cs typeface="Arimo" pitchFamily="34" charset="-120"/>
              </a:rPr>
              <a:t>PROTOTYPE DEMO</a:t>
            </a:r>
            <a:endParaRPr lang="en-US" sz="750" dirty="0"/>
          </a:p>
        </p:txBody>
      </p:sp>
      <p:sp>
        <p:nvSpPr>
          <p:cNvPr id="5" name="Text 2"/>
          <p:cNvSpPr/>
          <p:nvPr/>
        </p:nvSpPr>
        <p:spPr>
          <a:xfrm>
            <a:off x="496119" y="866329"/>
            <a:ext cx="3925491" cy="387548"/>
          </a:xfrm>
          <a:prstGeom prst="rect">
            <a:avLst/>
          </a:prstGeom>
          <a:noFill/>
          <a:ln/>
        </p:spPr>
        <p:txBody>
          <a:bodyPr wrap="none" lIns="0" tIns="0" rIns="0" bIns="0" rtlCol="0" anchor="t"/>
          <a:lstStyle/>
          <a:p>
            <a:pPr marL="0" indent="0" algn="l">
              <a:lnSpc>
                <a:spcPct val="104000"/>
              </a:lnSpc>
              <a:buNone/>
            </a:pPr>
            <a:r>
              <a:rPr lang="en-US" sz="2400" dirty="0">
                <a:solidFill>
                  <a:srgbClr val="231971"/>
                </a:solidFill>
                <a:latin typeface="Outfit ExtraBold" pitchFamily="34" charset="0"/>
                <a:ea typeface="Outfit ExtraBold" pitchFamily="34" charset="-122"/>
                <a:cs typeface="Outfit ExtraBold" pitchFamily="34" charset="-120"/>
              </a:rPr>
              <a:t>What We've Built So Far</a:t>
            </a:r>
            <a:endParaRPr lang="en-US" sz="2400" dirty="0"/>
          </a:p>
        </p:txBody>
      </p:sp>
      <p:sp>
        <p:nvSpPr>
          <p:cNvPr id="6" name="Text 3"/>
          <p:cNvSpPr/>
          <p:nvPr/>
        </p:nvSpPr>
        <p:spPr>
          <a:xfrm>
            <a:off x="496119" y="1439912"/>
            <a:ext cx="815176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A2742"/>
                </a:solidFill>
                <a:latin typeface="Arimo" pitchFamily="34" charset="0"/>
                <a:ea typeface="Arimo" pitchFamily="34" charset="-122"/>
                <a:cs typeface="Arimo" pitchFamily="34" charset="-120"/>
              </a:rPr>
              <a:t>In just two development sessions, our team has moved from concept to a functional prototype. The welcome screen and instructions section are fully built, with core gameplay screens actively in progress.</a:t>
            </a:r>
            <a:endParaRPr lang="en-US" sz="950" dirty="0"/>
          </a:p>
        </p:txBody>
      </p:sp>
      <p:pic>
        <p:nvPicPr>
          <p:cNvPr id="7" name="Image 1"/>
          <p:cNvPicPr>
            <a:picLocks noChangeAspect="1"/>
          </p:cNvPicPr>
          <p:nvPr/>
        </p:nvPicPr>
        <p:blipFill>
          <a:blip r:embed="rId4"/>
          <a:srcRect/>
          <a:stretch/>
        </p:blipFill>
        <p:spPr>
          <a:xfrm>
            <a:off x="510217" y="1976363"/>
            <a:ext cx="1853735" cy="1163092"/>
          </a:xfrm>
          <a:prstGeom prst="rect">
            <a:avLst/>
          </a:prstGeom>
        </p:spPr>
      </p:pic>
      <p:sp>
        <p:nvSpPr>
          <p:cNvPr id="8" name="Text 4"/>
          <p:cNvSpPr/>
          <p:nvPr/>
        </p:nvSpPr>
        <p:spPr>
          <a:xfrm>
            <a:off x="496119" y="3294459"/>
            <a:ext cx="1550566" cy="198611"/>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Outfit ExtraBold" pitchFamily="34" charset="0"/>
                <a:ea typeface="Outfit ExtraBold" pitchFamily="34" charset="-122"/>
                <a:cs typeface="Outfit ExtraBold" pitchFamily="34" charset="-120"/>
              </a:rPr>
              <a:t>🖥️</a:t>
            </a:r>
            <a:r>
              <a:rPr lang="en-US" sz="1200" dirty="0">
                <a:solidFill>
                  <a:srgbClr val="2A2742"/>
                </a:solidFill>
                <a:latin typeface="Outfit ExtraBold" pitchFamily="34" charset="0"/>
                <a:ea typeface="Outfit ExtraBold" pitchFamily="34" charset="-122"/>
                <a:cs typeface="Outfit ExtraBold" pitchFamily="34" charset="-120"/>
              </a:rPr>
              <a:t> Welcome Screen</a:t>
            </a:r>
            <a:endParaRPr lang="en-US" sz="1200" dirty="0"/>
          </a:p>
        </p:txBody>
      </p:sp>
      <p:sp>
        <p:nvSpPr>
          <p:cNvPr id="9" name="Text 5"/>
          <p:cNvSpPr/>
          <p:nvPr/>
        </p:nvSpPr>
        <p:spPr>
          <a:xfrm>
            <a:off x="496119" y="3567485"/>
            <a:ext cx="2613868" cy="793849"/>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A2742"/>
                </a:solidFill>
                <a:latin typeface="Arimo" pitchFamily="34" charset="0"/>
                <a:ea typeface="Arimo" pitchFamily="34" charset="-122"/>
                <a:cs typeface="Arimo" pitchFamily="34" charset="-120"/>
              </a:rPr>
              <a:t>Displays the </a:t>
            </a:r>
            <a:r>
              <a:rPr lang="en-US" sz="950" b="1" dirty="0">
                <a:solidFill>
                  <a:srgbClr val="2A2742"/>
                </a:solidFill>
                <a:latin typeface="Arimo" pitchFamily="34" charset="0"/>
                <a:ea typeface="Arimo" pitchFamily="34" charset="-122"/>
                <a:cs typeface="Arimo" pitchFamily="34" charset="-120"/>
              </a:rPr>
              <a:t>Everyday Dilemma</a:t>
            </a:r>
            <a:r>
              <a:rPr lang="en-US" sz="950" dirty="0">
                <a:solidFill>
                  <a:srgbClr val="2A2742"/>
                </a:solidFill>
                <a:latin typeface="Arimo" pitchFamily="34" charset="0"/>
                <a:ea typeface="Arimo" pitchFamily="34" charset="-122"/>
                <a:cs typeface="Arimo" pitchFamily="34" charset="-120"/>
              </a:rPr>
              <a:t> title and logo. Three clear buttons: </a:t>
            </a:r>
            <a:r>
              <a:rPr lang="en-US" sz="950" b="1" dirty="0">
                <a:solidFill>
                  <a:srgbClr val="2A2742"/>
                </a:solidFill>
                <a:latin typeface="Arimo" pitchFamily="34" charset="0"/>
                <a:ea typeface="Arimo" pitchFamily="34" charset="-122"/>
                <a:cs typeface="Arimo" pitchFamily="34" charset="-120"/>
              </a:rPr>
              <a:t>How to Play</a:t>
            </a:r>
            <a:r>
              <a:rPr lang="en-US" sz="950" dirty="0">
                <a:solidFill>
                  <a:srgbClr val="2A2742"/>
                </a:solidFill>
                <a:latin typeface="Arimo" pitchFamily="34" charset="0"/>
                <a:ea typeface="Arimo" pitchFamily="34" charset="-122"/>
                <a:cs typeface="Arimo" pitchFamily="34" charset="-120"/>
              </a:rPr>
              <a:t>, </a:t>
            </a:r>
            <a:r>
              <a:rPr lang="en-US" sz="950" b="1" dirty="0">
                <a:solidFill>
                  <a:srgbClr val="2A2742"/>
                </a:solidFill>
                <a:latin typeface="Arimo" pitchFamily="34" charset="0"/>
                <a:ea typeface="Arimo" pitchFamily="34" charset="-122"/>
                <a:cs typeface="Arimo" pitchFamily="34" charset="-120"/>
              </a:rPr>
              <a:t>Start Game</a:t>
            </a:r>
            <a:r>
              <a:rPr lang="en-US" sz="950" dirty="0">
                <a:solidFill>
                  <a:srgbClr val="2A2742"/>
                </a:solidFill>
                <a:latin typeface="Arimo" pitchFamily="34" charset="0"/>
                <a:ea typeface="Arimo" pitchFamily="34" charset="-122"/>
                <a:cs typeface="Arimo" pitchFamily="34" charset="-120"/>
              </a:rPr>
              <a:t>, and </a:t>
            </a:r>
            <a:r>
              <a:rPr lang="en-US" sz="950" b="1" dirty="0">
                <a:solidFill>
                  <a:srgbClr val="2A2742"/>
                </a:solidFill>
                <a:latin typeface="Arimo" pitchFamily="34" charset="0"/>
                <a:ea typeface="Arimo" pitchFamily="34" charset="-122"/>
                <a:cs typeface="Arimo" pitchFamily="34" charset="-120"/>
              </a:rPr>
              <a:t>Score &amp; Feedback</a:t>
            </a:r>
            <a:r>
              <a:rPr lang="en-US" sz="950" dirty="0">
                <a:solidFill>
                  <a:srgbClr val="2A2742"/>
                </a:solidFill>
                <a:latin typeface="Arimo" pitchFamily="34" charset="0"/>
                <a:ea typeface="Arimo" pitchFamily="34" charset="-122"/>
                <a:cs typeface="Arimo" pitchFamily="34" charset="-120"/>
              </a:rPr>
              <a:t>. Clean, high-contrast layout sets the tone immediately.</a:t>
            </a:r>
            <a:endParaRPr lang="en-US" sz="950" dirty="0"/>
          </a:p>
        </p:txBody>
      </p:sp>
      <p:pic>
        <p:nvPicPr>
          <p:cNvPr id="10" name="Image 2"/>
          <p:cNvPicPr>
            <a:picLocks noChangeAspect="1"/>
          </p:cNvPicPr>
          <p:nvPr/>
        </p:nvPicPr>
        <p:blipFill>
          <a:blip r:embed="rId5"/>
          <a:srcRect/>
          <a:stretch/>
        </p:blipFill>
        <p:spPr>
          <a:xfrm>
            <a:off x="3264991" y="2050133"/>
            <a:ext cx="1882006" cy="1015626"/>
          </a:xfrm>
          <a:prstGeom prst="rect">
            <a:avLst/>
          </a:prstGeom>
        </p:spPr>
      </p:pic>
      <p:sp>
        <p:nvSpPr>
          <p:cNvPr id="11" name="Text 6"/>
          <p:cNvSpPr/>
          <p:nvPr/>
        </p:nvSpPr>
        <p:spPr>
          <a:xfrm>
            <a:off x="3264991" y="3294534"/>
            <a:ext cx="1654746" cy="198611"/>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Outfit ExtraBold" pitchFamily="34" charset="0"/>
                <a:ea typeface="Outfit ExtraBold" pitchFamily="34" charset="-122"/>
                <a:cs typeface="Outfit ExtraBold" pitchFamily="34" charset="-120"/>
              </a:rPr>
              <a:t>📖</a:t>
            </a:r>
            <a:r>
              <a:rPr lang="en-US" sz="1200" dirty="0">
                <a:solidFill>
                  <a:srgbClr val="2A2742"/>
                </a:solidFill>
                <a:latin typeface="Outfit ExtraBold" pitchFamily="34" charset="0"/>
                <a:ea typeface="Outfit ExtraBold" pitchFamily="34" charset="-122"/>
                <a:cs typeface="Outfit ExtraBold" pitchFamily="34" charset="-120"/>
              </a:rPr>
              <a:t> Instructions Section</a:t>
            </a:r>
            <a:endParaRPr lang="en-US" sz="1200" dirty="0"/>
          </a:p>
        </p:txBody>
      </p:sp>
      <p:sp>
        <p:nvSpPr>
          <p:cNvPr id="12" name="Text 7"/>
          <p:cNvSpPr/>
          <p:nvPr/>
        </p:nvSpPr>
        <p:spPr>
          <a:xfrm>
            <a:off x="3264991" y="3567559"/>
            <a:ext cx="2613943" cy="992312"/>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A2742"/>
                </a:solidFill>
                <a:latin typeface="Arimo" pitchFamily="34" charset="0"/>
                <a:ea typeface="Arimo" pitchFamily="34" charset="-122"/>
                <a:cs typeface="Arimo" pitchFamily="34" charset="-120"/>
              </a:rPr>
              <a:t>A </a:t>
            </a:r>
            <a:r>
              <a:rPr lang="en-US" sz="950" b="1" dirty="0">
                <a:solidFill>
                  <a:srgbClr val="2A2742"/>
                </a:solidFill>
                <a:latin typeface="Arimo" pitchFamily="34" charset="0"/>
                <a:ea typeface="Arimo" pitchFamily="34" charset="-122"/>
                <a:cs typeface="Arimo" pitchFamily="34" charset="-120"/>
              </a:rPr>
              <a:t>fully animated</a:t>
            </a:r>
            <a:r>
              <a:rPr lang="en-US" sz="950" dirty="0">
                <a:solidFill>
                  <a:srgbClr val="2A2742"/>
                </a:solidFill>
                <a:latin typeface="Arimo" pitchFamily="34" charset="0"/>
                <a:ea typeface="Arimo" pitchFamily="34" charset="-122"/>
                <a:cs typeface="Arimo" pitchFamily="34" charset="-120"/>
              </a:rPr>
              <a:t> game instructions screen walks new players through the rules, scoring system. Designed for first-time users with zero prior knowledge.</a:t>
            </a:r>
            <a:endParaRPr lang="en-US" sz="950" dirty="0"/>
          </a:p>
        </p:txBody>
      </p:sp>
      <p:pic>
        <p:nvPicPr>
          <p:cNvPr id="13" name="Image 3"/>
          <p:cNvPicPr>
            <a:picLocks noChangeAspect="1"/>
          </p:cNvPicPr>
          <p:nvPr/>
        </p:nvPicPr>
        <p:blipFill>
          <a:blip r:embed="rId6"/>
          <a:srcRect/>
          <a:stretch/>
        </p:blipFill>
        <p:spPr>
          <a:xfrm>
            <a:off x="6061611" y="1976363"/>
            <a:ext cx="1826662" cy="1163166"/>
          </a:xfrm>
          <a:prstGeom prst="rect">
            <a:avLst/>
          </a:prstGeom>
        </p:spPr>
      </p:pic>
      <p:sp>
        <p:nvSpPr>
          <p:cNvPr id="14" name="Text 8"/>
          <p:cNvSpPr/>
          <p:nvPr/>
        </p:nvSpPr>
        <p:spPr>
          <a:xfrm>
            <a:off x="6033939" y="3294534"/>
            <a:ext cx="1572741" cy="198611"/>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Outfit ExtraBold" pitchFamily="34" charset="0"/>
                <a:ea typeface="Outfit ExtraBold" pitchFamily="34" charset="-122"/>
                <a:cs typeface="Outfit ExtraBold" pitchFamily="34" charset="-120"/>
              </a:rPr>
              <a:t>🎯</a:t>
            </a:r>
            <a:r>
              <a:rPr lang="en-US" sz="1200" dirty="0">
                <a:solidFill>
                  <a:srgbClr val="2A2742"/>
                </a:solidFill>
                <a:latin typeface="Outfit ExtraBold" pitchFamily="34" charset="0"/>
                <a:ea typeface="Outfit ExtraBold" pitchFamily="34" charset="-122"/>
                <a:cs typeface="Outfit ExtraBold" pitchFamily="34" charset="-120"/>
              </a:rPr>
              <a:t> Gameplay Screens</a:t>
            </a:r>
            <a:endParaRPr lang="en-US" sz="1200" dirty="0"/>
          </a:p>
        </p:txBody>
      </p:sp>
      <p:sp>
        <p:nvSpPr>
          <p:cNvPr id="15" name="Text 9"/>
          <p:cNvSpPr/>
          <p:nvPr/>
        </p:nvSpPr>
        <p:spPr>
          <a:xfrm>
            <a:off x="6033939" y="3567559"/>
            <a:ext cx="2613943" cy="992312"/>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A2742"/>
                </a:solidFill>
                <a:latin typeface="Arimo" pitchFamily="34" charset="0"/>
                <a:ea typeface="Arimo" pitchFamily="34" charset="-122"/>
                <a:cs typeface="Arimo" pitchFamily="34" charset="-120"/>
              </a:rPr>
              <a:t>Scenario-based decision cards present </a:t>
            </a:r>
            <a:r>
              <a:rPr lang="en-US" sz="950" b="1" dirty="0">
                <a:solidFill>
                  <a:srgbClr val="2A2742"/>
                </a:solidFill>
                <a:latin typeface="Arimo" pitchFamily="34" charset="0"/>
                <a:ea typeface="Arimo" pitchFamily="34" charset="-122"/>
                <a:cs typeface="Arimo" pitchFamily="34" charset="-120"/>
              </a:rPr>
              <a:t>realistic phishing emails</a:t>
            </a:r>
            <a:r>
              <a:rPr lang="en-US" sz="950" dirty="0">
                <a:solidFill>
                  <a:srgbClr val="2A2742"/>
                </a:solidFill>
                <a:latin typeface="Arimo" pitchFamily="34" charset="0"/>
                <a:ea typeface="Arimo" pitchFamily="34" charset="-122"/>
                <a:cs typeface="Arimo" pitchFamily="34" charset="-120"/>
              </a:rPr>
              <a:t> with multiple-choice responses. Each choice triggers  feedback, a score update, and an educational explanation of the outcome.</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72901" y="364629"/>
            <a:ext cx="1318989" cy="218554"/>
          </a:xfrm>
          <a:prstGeom prst="roundRect">
            <a:avLst>
              <a:gd name="adj" fmla="val 18177"/>
            </a:avLst>
          </a:prstGeom>
          <a:solidFill>
            <a:srgbClr val="D7D2F9"/>
          </a:solidFill>
          <a:ln/>
        </p:spPr>
        <p:txBody>
          <a:bodyPr/>
          <a:lstStyle/>
          <a:p>
            <a:endParaRPr lang="en-GB"/>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43818" y="426616"/>
            <a:ext cx="94580" cy="94580"/>
          </a:xfrm>
          <a:prstGeom prst="rect">
            <a:avLst/>
          </a:prstGeom>
        </p:spPr>
      </p:pic>
      <p:sp>
        <p:nvSpPr>
          <p:cNvPr id="4" name="Text 1"/>
          <p:cNvSpPr/>
          <p:nvPr/>
        </p:nvSpPr>
        <p:spPr>
          <a:xfrm>
            <a:off x="685651" y="400050"/>
            <a:ext cx="1492523" cy="147712"/>
          </a:xfrm>
          <a:prstGeom prst="rect">
            <a:avLst/>
          </a:prstGeom>
          <a:noFill/>
          <a:ln/>
        </p:spPr>
        <p:txBody>
          <a:bodyPr wrap="none" lIns="0" tIns="0" rIns="0" bIns="0" rtlCol="0" anchor="t"/>
          <a:lstStyle/>
          <a:p>
            <a:pPr marL="0" indent="0" algn="l">
              <a:lnSpc>
                <a:spcPct val="130000"/>
              </a:lnSpc>
              <a:buNone/>
            </a:pPr>
            <a:r>
              <a:rPr lang="en-US" sz="700" dirty="0">
                <a:solidFill>
                  <a:srgbClr val="2A2742"/>
                </a:solidFill>
                <a:latin typeface="Arimo" pitchFamily="34" charset="0"/>
                <a:ea typeface="Arimo" pitchFamily="34" charset="-122"/>
                <a:cs typeface="Arimo" pitchFamily="34" charset="-120"/>
              </a:rPr>
              <a:t>TESTING &amp; FEEDBACK</a:t>
            </a:r>
            <a:endParaRPr lang="en-US" sz="700" dirty="0"/>
          </a:p>
        </p:txBody>
      </p:sp>
      <p:sp>
        <p:nvSpPr>
          <p:cNvPr id="5" name="Text 2"/>
          <p:cNvSpPr/>
          <p:nvPr/>
        </p:nvSpPr>
        <p:spPr>
          <a:xfrm>
            <a:off x="472901" y="628204"/>
            <a:ext cx="4915719" cy="369466"/>
          </a:xfrm>
          <a:prstGeom prst="rect">
            <a:avLst/>
          </a:prstGeom>
          <a:noFill/>
          <a:ln/>
        </p:spPr>
        <p:txBody>
          <a:bodyPr wrap="none" lIns="0" tIns="0" rIns="0" bIns="0" rtlCol="0" anchor="t"/>
          <a:lstStyle/>
          <a:p>
            <a:pPr marL="0" indent="0" algn="l">
              <a:lnSpc>
                <a:spcPct val="104000"/>
              </a:lnSpc>
              <a:buNone/>
            </a:pPr>
            <a:r>
              <a:rPr lang="en-US" sz="2300" dirty="0">
                <a:solidFill>
                  <a:srgbClr val="231971"/>
                </a:solidFill>
                <a:latin typeface="Outfit ExtraBold" pitchFamily="34" charset="0"/>
                <a:ea typeface="Outfit ExtraBold" pitchFamily="34" charset="-122"/>
                <a:cs typeface="Outfit ExtraBold" pitchFamily="34" charset="-120"/>
              </a:rPr>
              <a:t>Testing Strategy &amp; Early Insights</a:t>
            </a:r>
            <a:endParaRPr lang="en-US" sz="2300" dirty="0"/>
          </a:p>
        </p:txBody>
      </p:sp>
      <p:sp>
        <p:nvSpPr>
          <p:cNvPr id="6" name="Text 3"/>
          <p:cNvSpPr/>
          <p:nvPr/>
        </p:nvSpPr>
        <p:spPr>
          <a:xfrm>
            <a:off x="472901" y="1166664"/>
            <a:ext cx="8198197" cy="369391"/>
          </a:xfrm>
          <a:prstGeom prst="rect">
            <a:avLst/>
          </a:prstGeom>
          <a:noFill/>
          <a:ln/>
        </p:spPr>
        <p:txBody>
          <a:bodyPr wrap="square" lIns="0" tIns="0" rIns="0" bIns="0" rtlCol="0" anchor="t">
            <a:normAutofit/>
          </a:bodyPr>
          <a:lstStyle/>
          <a:p>
            <a:pPr marL="0" indent="0" algn="l">
              <a:lnSpc>
                <a:spcPct val="130000"/>
              </a:lnSpc>
              <a:buNone/>
            </a:pPr>
            <a:r>
              <a:rPr lang="en-US" sz="900" dirty="0">
                <a:solidFill>
                  <a:srgbClr val="2A2742"/>
                </a:solidFill>
                <a:latin typeface="Arimo" pitchFamily="34" charset="0"/>
                <a:ea typeface="Arimo" pitchFamily="34" charset="-122"/>
                <a:cs typeface="Arimo" pitchFamily="34" charset="-120"/>
              </a:rPr>
              <a:t>Our team is applying a structured testing approach to validate usability, learning effectiveness, and player engagement before final submission.</a:t>
            </a:r>
            <a:endParaRPr lang="en-US" sz="900" dirty="0"/>
          </a:p>
        </p:txBody>
      </p:sp>
      <p:sp>
        <p:nvSpPr>
          <p:cNvPr id="7" name="Shape 4"/>
          <p:cNvSpPr/>
          <p:nvPr/>
        </p:nvSpPr>
        <p:spPr>
          <a:xfrm>
            <a:off x="387772" y="1662782"/>
            <a:ext cx="4125144" cy="3116089"/>
          </a:xfrm>
          <a:prstGeom prst="roundRect">
            <a:avLst>
              <a:gd name="adj" fmla="val 2732"/>
            </a:avLst>
          </a:prstGeom>
          <a:solidFill>
            <a:srgbClr val="5E4CE6">
              <a:alpha val="95000"/>
            </a:srgbClr>
          </a:solidFill>
          <a:ln/>
        </p:spPr>
        <p:txBody>
          <a:bodyPr/>
          <a:lstStyle/>
          <a:p>
            <a:endParaRPr lang="en-GB"/>
          </a:p>
        </p:txBody>
      </p:sp>
      <p:sp>
        <p:nvSpPr>
          <p:cNvPr id="8" name="Text 5"/>
          <p:cNvSpPr/>
          <p:nvPr/>
        </p:nvSpPr>
        <p:spPr>
          <a:xfrm>
            <a:off x="505941" y="1775445"/>
            <a:ext cx="2181597" cy="184696"/>
          </a:xfrm>
          <a:prstGeom prst="rect">
            <a:avLst/>
          </a:prstGeom>
          <a:noFill/>
          <a:ln/>
        </p:spPr>
        <p:txBody>
          <a:bodyPr wrap="none" lIns="0" tIns="0" rIns="0" bIns="0" rtlCol="0" anchor="t"/>
          <a:lstStyle/>
          <a:p>
            <a:pPr marL="0" indent="0" algn="l">
              <a:lnSpc>
                <a:spcPct val="104000"/>
              </a:lnSpc>
              <a:buNone/>
            </a:pPr>
            <a:r>
              <a:rPr lang="en-US" sz="1150" dirty="0">
                <a:solidFill>
                  <a:srgbClr val="FFFFFF"/>
                </a:solidFill>
                <a:latin typeface="Outfit ExtraBold" pitchFamily="34" charset="0"/>
                <a:ea typeface="Outfit ExtraBold" pitchFamily="34" charset="-122"/>
                <a:cs typeface="Outfit ExtraBold" pitchFamily="34" charset="-120"/>
              </a:rPr>
              <a:t>Planned Testing Methods</a:t>
            </a:r>
            <a:endParaRPr lang="en-US" sz="1150" dirty="0"/>
          </a:p>
        </p:txBody>
      </p:sp>
      <p:sp>
        <p:nvSpPr>
          <p:cNvPr id="9" name="Text 6"/>
          <p:cNvSpPr/>
          <p:nvPr/>
        </p:nvSpPr>
        <p:spPr>
          <a:xfrm>
            <a:off x="505941" y="2072804"/>
            <a:ext cx="3888804" cy="1595884"/>
          </a:xfrm>
          <a:prstGeom prst="rect">
            <a:avLst/>
          </a:prstGeom>
          <a:noFill/>
          <a:ln/>
        </p:spPr>
        <p:txBody>
          <a:bodyPr wrap="square" lIns="0" tIns="0" rIns="0" bIns="0" rtlCol="0" anchor="t">
            <a:normAutofit/>
          </a:bodyPr>
          <a:lstStyle/>
          <a:p>
            <a:pPr marL="342900" indent="-342900" algn="l">
              <a:lnSpc>
                <a:spcPct val="130000"/>
              </a:lnSpc>
              <a:buSzPct val="100000"/>
              <a:buChar char="•"/>
            </a:pPr>
            <a:r>
              <a:rPr lang="en-US" sz="900" b="1" dirty="0">
                <a:solidFill>
                  <a:srgbClr val="FFFFFF"/>
                </a:solidFill>
                <a:latin typeface="Arimo" pitchFamily="34" charset="0"/>
                <a:ea typeface="Arimo" pitchFamily="34" charset="-122"/>
                <a:cs typeface="Arimo" pitchFamily="34" charset="-120"/>
              </a:rPr>
              <a:t>Peer testing</a:t>
            </a:r>
            <a:r>
              <a:rPr lang="en-US" sz="900" dirty="0">
                <a:solidFill>
                  <a:srgbClr val="FFFFFF"/>
                </a:solidFill>
                <a:latin typeface="Arimo" pitchFamily="34" charset="0"/>
                <a:ea typeface="Arimo" pitchFamily="34" charset="-122"/>
                <a:cs typeface="Arimo" pitchFamily="34" charset="-120"/>
              </a:rPr>
              <a:t> within the student team — checking for bugs clarity, functionality and </a:t>
            </a:r>
            <a:r>
              <a:rPr lang="en-GB" sz="900" dirty="0">
                <a:solidFill>
                  <a:srgbClr val="FFFFFF"/>
                </a:solidFill>
                <a:latin typeface="Arimo" pitchFamily="34" charset="0"/>
                <a:ea typeface="Arimo" pitchFamily="34" charset="-122"/>
                <a:cs typeface="Arimo" pitchFamily="34" charset="-120"/>
              </a:rPr>
              <a:t>availability.</a:t>
            </a:r>
            <a:endParaRPr lang="en-US" sz="900" dirty="0"/>
          </a:p>
          <a:p>
            <a:pPr marL="342900" indent="-342900" algn="l">
              <a:lnSpc>
                <a:spcPct val="130000"/>
              </a:lnSpc>
              <a:buSzPct val="100000"/>
              <a:buChar char="•"/>
            </a:pPr>
            <a:r>
              <a:rPr lang="en-US" sz="900" b="1" dirty="0">
                <a:solidFill>
                  <a:srgbClr val="FFFFFF"/>
                </a:solidFill>
                <a:latin typeface="Arimo" pitchFamily="34" charset="0"/>
                <a:ea typeface="Arimo" pitchFamily="34" charset="-122"/>
                <a:cs typeface="Arimo" pitchFamily="34" charset="-120"/>
              </a:rPr>
              <a:t>Classmate playtesting</a:t>
            </a:r>
            <a:r>
              <a:rPr lang="en-US" sz="900" dirty="0">
                <a:solidFill>
                  <a:srgbClr val="FFFFFF"/>
                </a:solidFill>
                <a:latin typeface="Arimo" pitchFamily="34" charset="0"/>
                <a:ea typeface="Arimo" pitchFamily="34" charset="-122"/>
                <a:cs typeface="Arimo" pitchFamily="34" charset="-120"/>
              </a:rPr>
              <a:t> — gathering qualitative feedback from target-age users</a:t>
            </a:r>
            <a:endParaRPr lang="en-US" sz="900" dirty="0"/>
          </a:p>
          <a:p>
            <a:pPr marL="342900" indent="-342900" algn="l">
              <a:lnSpc>
                <a:spcPct val="130000"/>
              </a:lnSpc>
              <a:buSzPct val="100000"/>
              <a:buChar char="•"/>
            </a:pPr>
            <a:r>
              <a:rPr lang="en-US" sz="900" b="1" dirty="0">
                <a:solidFill>
                  <a:srgbClr val="FFFFFF"/>
                </a:solidFill>
                <a:latin typeface="Arimo" pitchFamily="34" charset="0"/>
                <a:ea typeface="Arimo" pitchFamily="34" charset="-122"/>
                <a:cs typeface="Arimo" pitchFamily="34" charset="-120"/>
              </a:rPr>
              <a:t>Think-aloud protocol</a:t>
            </a:r>
            <a:r>
              <a:rPr lang="en-US" sz="900" dirty="0">
                <a:solidFill>
                  <a:srgbClr val="FFFFFF"/>
                </a:solidFill>
                <a:latin typeface="Arimo" pitchFamily="34" charset="0"/>
                <a:ea typeface="Arimo" pitchFamily="34" charset="-122"/>
                <a:cs typeface="Arimo" pitchFamily="34" charset="-120"/>
              </a:rPr>
              <a:t> — observing how users reason through phishing scenarios</a:t>
            </a:r>
            <a:endParaRPr lang="en-US" sz="900" dirty="0"/>
          </a:p>
          <a:p>
            <a:pPr marL="342900" indent="-342900" algn="l">
              <a:lnSpc>
                <a:spcPct val="130000"/>
              </a:lnSpc>
              <a:buSzPct val="100000"/>
              <a:buChar char="•"/>
            </a:pPr>
            <a:r>
              <a:rPr lang="en-US" sz="900" b="1" dirty="0">
                <a:solidFill>
                  <a:srgbClr val="FFFFFF"/>
                </a:solidFill>
                <a:latin typeface="Arimo" pitchFamily="34" charset="0"/>
                <a:ea typeface="Arimo" pitchFamily="34" charset="-122"/>
                <a:cs typeface="Arimo" pitchFamily="34" charset="-120"/>
              </a:rPr>
              <a:t>Score analysis</a:t>
            </a:r>
            <a:r>
              <a:rPr lang="en-US" sz="900" dirty="0">
                <a:solidFill>
                  <a:srgbClr val="FFFFFF"/>
                </a:solidFill>
                <a:latin typeface="Arimo" pitchFamily="34" charset="0"/>
                <a:ea typeface="Arimo" pitchFamily="34" charset="-122"/>
                <a:cs typeface="Arimo" pitchFamily="34" charset="-120"/>
              </a:rPr>
              <a:t> — reviewing whether point deductions align with intended difficulty</a:t>
            </a:r>
            <a:endParaRPr lang="en-US" sz="900" dirty="0"/>
          </a:p>
        </p:txBody>
      </p:sp>
      <p:sp>
        <p:nvSpPr>
          <p:cNvPr id="10" name="Text 7"/>
          <p:cNvSpPr/>
          <p:nvPr/>
        </p:nvSpPr>
        <p:spPr>
          <a:xfrm>
            <a:off x="4720977" y="1775445"/>
            <a:ext cx="2937346" cy="184696"/>
          </a:xfrm>
          <a:prstGeom prst="rect">
            <a:avLst/>
          </a:prstGeom>
          <a:noFill/>
          <a:ln/>
        </p:spPr>
        <p:txBody>
          <a:bodyPr wrap="none" lIns="0" tIns="0" rIns="0" bIns="0" rtlCol="0" anchor="t"/>
          <a:lstStyle/>
          <a:p>
            <a:pPr marL="0" indent="0" algn="l">
              <a:lnSpc>
                <a:spcPct val="104000"/>
              </a:lnSpc>
              <a:buNone/>
            </a:pPr>
            <a:r>
              <a:rPr lang="en-US" sz="1150" dirty="0">
                <a:solidFill>
                  <a:srgbClr val="231971"/>
                </a:solidFill>
                <a:latin typeface="Outfit ExtraBold" pitchFamily="34" charset="0"/>
                <a:ea typeface="Outfit ExtraBold" pitchFamily="34" charset="-122"/>
                <a:cs typeface="Outfit ExtraBold" pitchFamily="34" charset="-120"/>
              </a:rPr>
              <a:t>Early Observations &amp; Improvements</a:t>
            </a:r>
            <a:endParaRPr lang="en-US" sz="1150" dirty="0"/>
          </a:p>
        </p:txBody>
      </p:sp>
      <p:sp>
        <p:nvSpPr>
          <p:cNvPr id="11" name="Text 8"/>
          <p:cNvSpPr/>
          <p:nvPr/>
        </p:nvSpPr>
        <p:spPr>
          <a:xfrm>
            <a:off x="4720977" y="2072804"/>
            <a:ext cx="3954884" cy="1595884"/>
          </a:xfrm>
          <a:prstGeom prst="rect">
            <a:avLst/>
          </a:prstGeom>
          <a:noFill/>
          <a:ln/>
        </p:spPr>
        <p:txBody>
          <a:bodyPr wrap="square" lIns="0" tIns="0" rIns="0" bIns="0" rtlCol="0" anchor="t">
            <a:normAutofit/>
          </a:bodyPr>
          <a:lstStyle/>
          <a:p>
            <a:pPr marL="342900" indent="-342900" algn="l">
              <a:lnSpc>
                <a:spcPct val="130000"/>
              </a:lnSpc>
              <a:buSzPct val="100000"/>
              <a:buChar char="•"/>
            </a:pPr>
            <a:r>
              <a:rPr lang="en-US" sz="900" dirty="0">
                <a:solidFill>
                  <a:srgbClr val="2A2742"/>
                </a:solidFill>
                <a:latin typeface="Arimo" pitchFamily="34" charset="0"/>
                <a:ea typeface="Arimo" pitchFamily="34" charset="-122"/>
                <a:cs typeface="Arimo" pitchFamily="34" charset="-120"/>
              </a:rPr>
              <a:t>Storyboard review identified the need for </a:t>
            </a:r>
            <a:r>
              <a:rPr lang="en-US" sz="900" b="1" dirty="0">
                <a:solidFill>
                  <a:srgbClr val="2A2742"/>
                </a:solidFill>
                <a:latin typeface="Arimo" pitchFamily="34" charset="0"/>
                <a:ea typeface="Arimo" pitchFamily="34" charset="-122"/>
                <a:cs typeface="Arimo" pitchFamily="34" charset="-120"/>
              </a:rPr>
              <a:t>clearer urgency cues</a:t>
            </a:r>
            <a:r>
              <a:rPr lang="en-US" sz="900" dirty="0">
                <a:solidFill>
                  <a:srgbClr val="2A2742"/>
                </a:solidFill>
                <a:latin typeface="Arimo" pitchFamily="34" charset="0"/>
                <a:ea typeface="Arimo" pitchFamily="34" charset="-122"/>
                <a:cs typeface="Arimo" pitchFamily="34" charset="-120"/>
              </a:rPr>
              <a:t> in phishing scenarios</a:t>
            </a:r>
            <a:endParaRPr lang="en-US" sz="900" dirty="0"/>
          </a:p>
          <a:p>
            <a:pPr marL="342900" indent="-342900" algn="l">
              <a:lnSpc>
                <a:spcPct val="130000"/>
              </a:lnSpc>
              <a:buSzPct val="100000"/>
              <a:buChar char="•"/>
            </a:pPr>
            <a:r>
              <a:rPr lang="en-US" sz="900" dirty="0">
                <a:solidFill>
                  <a:srgbClr val="2A2742"/>
                </a:solidFill>
                <a:latin typeface="Arimo" pitchFamily="34" charset="0"/>
                <a:ea typeface="Arimo" pitchFamily="34" charset="-122"/>
                <a:cs typeface="Arimo" pitchFamily="34" charset="-120"/>
              </a:rPr>
              <a:t>UX research informed a </a:t>
            </a:r>
            <a:r>
              <a:rPr lang="en-US" sz="900" b="1" dirty="0">
                <a:solidFill>
                  <a:srgbClr val="2A2742"/>
                </a:solidFill>
                <a:latin typeface="Arimo" pitchFamily="34" charset="0"/>
                <a:ea typeface="Arimo" pitchFamily="34" charset="-122"/>
                <a:cs typeface="Arimo" pitchFamily="34" charset="-120"/>
              </a:rPr>
              <a:t>simplified navigation flow</a:t>
            </a:r>
            <a:r>
              <a:rPr lang="en-US" sz="900" dirty="0">
                <a:solidFill>
                  <a:srgbClr val="2A2742"/>
                </a:solidFill>
                <a:latin typeface="Arimo" pitchFamily="34" charset="0"/>
                <a:ea typeface="Arimo" pitchFamily="34" charset="-122"/>
                <a:cs typeface="Arimo" pitchFamily="34" charset="-120"/>
              </a:rPr>
              <a:t> — fewer clicks to reach gameplay</a:t>
            </a:r>
            <a:endParaRPr lang="en-US" sz="900" dirty="0"/>
          </a:p>
          <a:p>
            <a:pPr marL="342900" indent="-342900" algn="l">
              <a:lnSpc>
                <a:spcPct val="130000"/>
              </a:lnSpc>
              <a:buSzPct val="100000"/>
              <a:buChar char="•"/>
            </a:pPr>
            <a:r>
              <a:rPr lang="en-US" sz="900" dirty="0">
                <a:solidFill>
                  <a:srgbClr val="2A2742"/>
                </a:solidFill>
                <a:latin typeface="Arimo" pitchFamily="34" charset="0"/>
                <a:ea typeface="Arimo" pitchFamily="34" charset="-122"/>
                <a:cs typeface="Arimo" pitchFamily="34" charset="-120"/>
              </a:rPr>
              <a:t>Team review of game visuals prompted </a:t>
            </a:r>
            <a:r>
              <a:rPr lang="en-US" sz="900" b="1" dirty="0">
                <a:solidFill>
                  <a:srgbClr val="2A2742"/>
                </a:solidFill>
                <a:latin typeface="Arimo" pitchFamily="34" charset="0"/>
                <a:ea typeface="Arimo" pitchFamily="34" charset="-122"/>
                <a:cs typeface="Arimo" pitchFamily="34" charset="-120"/>
              </a:rPr>
              <a:t>refinements to icon clarity</a:t>
            </a:r>
            <a:r>
              <a:rPr lang="en-US" sz="900" dirty="0">
                <a:solidFill>
                  <a:srgbClr val="2A2742"/>
                </a:solidFill>
                <a:latin typeface="Arimo" pitchFamily="34" charset="0"/>
                <a:ea typeface="Arimo" pitchFamily="34" charset="-122"/>
                <a:cs typeface="Arimo" pitchFamily="34" charset="-120"/>
              </a:rPr>
              <a:t> and button sizing</a:t>
            </a:r>
            <a:endParaRPr lang="en-US" sz="900" dirty="0"/>
          </a:p>
          <a:p>
            <a:pPr marL="342900" indent="-342900" algn="l">
              <a:lnSpc>
                <a:spcPct val="130000"/>
              </a:lnSpc>
              <a:buSzPct val="100000"/>
              <a:buChar char="•"/>
            </a:pPr>
            <a:r>
              <a:rPr lang="en-US" sz="900" dirty="0">
                <a:solidFill>
                  <a:srgbClr val="2A2742"/>
                </a:solidFill>
                <a:latin typeface="Arimo" pitchFamily="34" charset="0"/>
                <a:ea typeface="Arimo" pitchFamily="34" charset="-122"/>
                <a:cs typeface="Arimo" pitchFamily="34" charset="-120"/>
              </a:rPr>
              <a:t>README and GitHub review helped ensure </a:t>
            </a:r>
            <a:r>
              <a:rPr lang="en-US" sz="900" b="1" dirty="0">
                <a:solidFill>
                  <a:srgbClr val="2A2742"/>
                </a:solidFill>
                <a:latin typeface="Arimo" pitchFamily="34" charset="0"/>
                <a:ea typeface="Arimo" pitchFamily="34" charset="-122"/>
                <a:cs typeface="Arimo" pitchFamily="34" charset="-120"/>
              </a:rPr>
              <a:t>version consistency</a:t>
            </a:r>
            <a:r>
              <a:rPr lang="en-US" sz="900" dirty="0">
                <a:solidFill>
                  <a:srgbClr val="2A2742"/>
                </a:solidFill>
                <a:latin typeface="Arimo" pitchFamily="34" charset="0"/>
                <a:ea typeface="Arimo" pitchFamily="34" charset="-122"/>
                <a:cs typeface="Arimo" pitchFamily="34" charset="-120"/>
              </a:rPr>
              <a:t> across all builds</a:t>
            </a:r>
            <a:endParaRPr lang="en-US" sz="900" dirty="0"/>
          </a:p>
        </p:txBody>
      </p:sp>
      <p:sp>
        <p:nvSpPr>
          <p:cNvPr id="12" name="Shape 9"/>
          <p:cNvSpPr/>
          <p:nvPr/>
        </p:nvSpPr>
        <p:spPr>
          <a:xfrm>
            <a:off x="4720977" y="3795415"/>
            <a:ext cx="3954884" cy="856729"/>
          </a:xfrm>
          <a:prstGeom prst="roundRect">
            <a:avLst>
              <a:gd name="adj" fmla="val 5796"/>
            </a:avLst>
          </a:prstGeom>
          <a:solidFill>
            <a:srgbClr val="B6FCB8"/>
          </a:solidFill>
          <a:ln/>
        </p:spPr>
        <p:txBody>
          <a:bodyPr/>
          <a:lstStyle/>
          <a:p>
            <a:endParaRPr lang="en-GB"/>
          </a:p>
        </p:txBody>
      </p:sp>
      <p:pic>
        <p:nvPicPr>
          <p:cNvPr id="13" name="Image 1" descr="preencoded.png"/>
          <p:cNvPicPr>
            <a:picLocks noChangeAspect="1"/>
          </p:cNvPicPr>
          <p:nvPr/>
        </p:nvPicPr>
        <p:blipFill>
          <a:blip r:embed="rId4"/>
          <a:stretch>
            <a:fillRect/>
          </a:stretch>
        </p:blipFill>
        <p:spPr>
          <a:xfrm>
            <a:off x="4839146" y="3968279"/>
            <a:ext cx="147786" cy="118170"/>
          </a:xfrm>
          <a:prstGeom prst="rect">
            <a:avLst/>
          </a:prstGeom>
        </p:spPr>
      </p:pic>
      <p:sp>
        <p:nvSpPr>
          <p:cNvPr id="14" name="Text 10"/>
          <p:cNvSpPr/>
          <p:nvPr/>
        </p:nvSpPr>
        <p:spPr>
          <a:xfrm>
            <a:off x="5105102" y="3937620"/>
            <a:ext cx="3452589" cy="554087"/>
          </a:xfrm>
          <a:prstGeom prst="rect">
            <a:avLst/>
          </a:prstGeom>
          <a:noFill/>
          <a:ln/>
        </p:spPr>
        <p:txBody>
          <a:bodyPr wrap="square" lIns="0" tIns="0" rIns="0" bIns="0" rtlCol="0" anchor="t">
            <a:normAutofit/>
          </a:bodyPr>
          <a:lstStyle/>
          <a:p>
            <a:pPr marL="0" indent="0" algn="l">
              <a:lnSpc>
                <a:spcPct val="130000"/>
              </a:lnSpc>
              <a:buNone/>
            </a:pPr>
            <a:r>
              <a:rPr lang="en-US" sz="900" dirty="0">
                <a:solidFill>
                  <a:srgbClr val="000000"/>
                </a:solidFill>
                <a:latin typeface="Arimo" pitchFamily="34" charset="0"/>
                <a:ea typeface="Arimo" pitchFamily="34" charset="-122"/>
                <a:cs typeface="Arimo" pitchFamily="34" charset="-120"/>
              </a:rPr>
              <a:t>Key insight: Players engage more when phishing scenarios feel personally relevant — visa threats and grade deadlines resonate strongly with our target audience.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457349" y="329282"/>
            <a:ext cx="1323752" cy="209178"/>
          </a:xfrm>
          <a:prstGeom prst="roundRect">
            <a:avLst>
              <a:gd name="adj" fmla="val 18369"/>
            </a:avLst>
          </a:prstGeom>
          <a:solidFill>
            <a:srgbClr val="D7D2F9"/>
          </a:solidFill>
          <a:ln/>
        </p:spPr>
        <p:txBody>
          <a:bodyPr/>
          <a:lstStyle/>
          <a:p>
            <a:endParaRPr lang="en-GB"/>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5959" y="388144"/>
            <a:ext cx="91455" cy="91455"/>
          </a:xfrm>
          <a:prstGeom prst="rect">
            <a:avLst/>
          </a:prstGeom>
        </p:spPr>
      </p:pic>
      <p:sp>
        <p:nvSpPr>
          <p:cNvPr id="4" name="Text 1"/>
          <p:cNvSpPr/>
          <p:nvPr/>
        </p:nvSpPr>
        <p:spPr>
          <a:xfrm>
            <a:off x="663104" y="363587"/>
            <a:ext cx="1506587" cy="140568"/>
          </a:xfrm>
          <a:prstGeom prst="rect">
            <a:avLst/>
          </a:prstGeom>
          <a:noFill/>
          <a:ln/>
        </p:spPr>
        <p:txBody>
          <a:bodyPr wrap="none" lIns="0" tIns="0" rIns="0" bIns="0" rtlCol="0" anchor="t"/>
          <a:lstStyle/>
          <a:p>
            <a:pPr marL="0" indent="0" algn="l">
              <a:lnSpc>
                <a:spcPct val="128000"/>
              </a:lnSpc>
              <a:buNone/>
            </a:pPr>
            <a:r>
              <a:rPr lang="en-US" sz="700" dirty="0">
                <a:solidFill>
                  <a:srgbClr val="2A2742"/>
                </a:solidFill>
                <a:latin typeface="Arimo" pitchFamily="34" charset="0"/>
                <a:ea typeface="Arimo" pitchFamily="34" charset="-122"/>
                <a:cs typeface="Arimo" pitchFamily="34" charset="-120"/>
              </a:rPr>
              <a:t>TEAM COLLABORATION</a:t>
            </a:r>
            <a:endParaRPr lang="en-US" sz="700" dirty="0"/>
          </a:p>
        </p:txBody>
      </p:sp>
      <p:sp>
        <p:nvSpPr>
          <p:cNvPr id="5" name="Text 2"/>
          <p:cNvSpPr/>
          <p:nvPr/>
        </p:nvSpPr>
        <p:spPr>
          <a:xfrm>
            <a:off x="457349" y="580579"/>
            <a:ext cx="3585046" cy="357336"/>
          </a:xfrm>
          <a:prstGeom prst="rect">
            <a:avLst/>
          </a:prstGeom>
          <a:noFill/>
          <a:ln/>
        </p:spPr>
        <p:txBody>
          <a:bodyPr wrap="none" lIns="0" tIns="0" rIns="0" bIns="0" rtlCol="0" anchor="t"/>
          <a:lstStyle/>
          <a:p>
            <a:pPr marL="0" indent="0" algn="l">
              <a:lnSpc>
                <a:spcPct val="104000"/>
              </a:lnSpc>
              <a:buNone/>
            </a:pPr>
            <a:r>
              <a:rPr lang="en-US" sz="2250" dirty="0">
                <a:solidFill>
                  <a:srgbClr val="231971"/>
                </a:solidFill>
                <a:latin typeface="Outfit ExtraBold" pitchFamily="34" charset="0"/>
                <a:ea typeface="Outfit ExtraBold" pitchFamily="34" charset="-122"/>
                <a:cs typeface="Outfit ExtraBold" pitchFamily="34" charset="-120"/>
              </a:rPr>
              <a:t>How We Work Together</a:t>
            </a:r>
            <a:endParaRPr lang="en-US" sz="2250" dirty="0"/>
          </a:p>
        </p:txBody>
      </p:sp>
      <p:sp>
        <p:nvSpPr>
          <p:cNvPr id="6" name="Text 3"/>
          <p:cNvSpPr/>
          <p:nvPr/>
        </p:nvSpPr>
        <p:spPr>
          <a:xfrm>
            <a:off x="457349" y="1096045"/>
            <a:ext cx="8229302" cy="351681"/>
          </a:xfrm>
          <a:prstGeom prst="rect">
            <a:avLst/>
          </a:prstGeom>
          <a:noFill/>
          <a:ln/>
        </p:spPr>
        <p:txBody>
          <a:bodyPr wrap="square" lIns="0" tIns="0" rIns="0" bIns="0" rtlCol="0" anchor="t">
            <a:normAutofit/>
          </a:bodyPr>
          <a:lstStyle/>
          <a:p>
            <a:pPr marL="0" indent="0" algn="l">
              <a:lnSpc>
                <a:spcPct val="128000"/>
              </a:lnSpc>
              <a:buNone/>
            </a:pPr>
            <a:r>
              <a:rPr lang="en-US" sz="900" dirty="0">
                <a:solidFill>
                  <a:srgbClr val="2A2742"/>
                </a:solidFill>
                <a:latin typeface="Arimo" pitchFamily="34" charset="0"/>
                <a:ea typeface="Arimo" pitchFamily="34" charset="-122"/>
                <a:cs typeface="Arimo" pitchFamily="34" charset="-120"/>
              </a:rPr>
              <a:t>Our team operates with clearly defined roles, regular structured meetings, and a shared GitHub repository that keeps all development transparent and version-controlled. Every member contributes both technically and creatively.</a:t>
            </a:r>
            <a:endParaRPr lang="en-US" sz="900" dirty="0"/>
          </a:p>
        </p:txBody>
      </p:sp>
      <p:sp>
        <p:nvSpPr>
          <p:cNvPr id="7" name="Shape 4"/>
          <p:cNvSpPr/>
          <p:nvPr/>
        </p:nvSpPr>
        <p:spPr>
          <a:xfrm>
            <a:off x="457349" y="2617217"/>
            <a:ext cx="8229302" cy="14288"/>
          </a:xfrm>
          <a:prstGeom prst="roundRect">
            <a:avLst>
              <a:gd name="adj" fmla="val 336151"/>
            </a:avLst>
          </a:prstGeom>
          <a:solidFill>
            <a:srgbClr val="BDB8DF"/>
          </a:solidFill>
          <a:ln/>
        </p:spPr>
        <p:txBody>
          <a:bodyPr/>
          <a:lstStyle/>
          <a:p>
            <a:endParaRPr lang="en-GB"/>
          </a:p>
        </p:txBody>
      </p:sp>
      <p:sp>
        <p:nvSpPr>
          <p:cNvPr id="8" name="Shape 5"/>
          <p:cNvSpPr/>
          <p:nvPr/>
        </p:nvSpPr>
        <p:spPr>
          <a:xfrm>
            <a:off x="2056433" y="2274205"/>
            <a:ext cx="14288" cy="343049"/>
          </a:xfrm>
          <a:prstGeom prst="roundRect">
            <a:avLst>
              <a:gd name="adj" fmla="val 336151"/>
            </a:avLst>
          </a:prstGeom>
          <a:solidFill>
            <a:srgbClr val="BDB8DF"/>
          </a:solidFill>
          <a:ln/>
        </p:spPr>
        <p:txBody>
          <a:bodyPr/>
          <a:lstStyle/>
          <a:p>
            <a:endParaRPr lang="en-GB"/>
          </a:p>
        </p:txBody>
      </p:sp>
      <p:sp>
        <p:nvSpPr>
          <p:cNvPr id="9" name="Shape 6"/>
          <p:cNvSpPr/>
          <p:nvPr/>
        </p:nvSpPr>
        <p:spPr>
          <a:xfrm>
            <a:off x="1934989" y="2488592"/>
            <a:ext cx="257249" cy="257249"/>
          </a:xfrm>
          <a:prstGeom prst="roundRect">
            <a:avLst>
              <a:gd name="adj" fmla="val 18670"/>
            </a:avLst>
          </a:prstGeom>
          <a:solidFill>
            <a:srgbClr val="E9E6FA"/>
          </a:solidFill>
          <a:ln w="4763">
            <a:solidFill>
              <a:srgbClr val="BDB8DF"/>
            </a:solidFill>
            <a:prstDash val="solid"/>
          </a:ln>
        </p:spPr>
        <p:txBody>
          <a:bodyPr/>
          <a:lstStyle/>
          <a:p>
            <a:endParaRPr lang="en-GB"/>
          </a:p>
        </p:txBody>
      </p:sp>
      <p:sp>
        <p:nvSpPr>
          <p:cNvPr id="10" name="Text 7"/>
          <p:cNvSpPr/>
          <p:nvPr/>
        </p:nvSpPr>
        <p:spPr>
          <a:xfrm>
            <a:off x="1977814" y="2509986"/>
            <a:ext cx="171524" cy="214387"/>
          </a:xfrm>
          <a:prstGeom prst="rect">
            <a:avLst/>
          </a:prstGeom>
          <a:noFill/>
          <a:ln/>
        </p:spPr>
        <p:txBody>
          <a:bodyPr wrap="none" lIns="0" tIns="0" rIns="0" bIns="0" rtlCol="0" anchor="ctr"/>
          <a:lstStyle/>
          <a:p>
            <a:pPr marL="0" indent="0" algn="ctr">
              <a:lnSpc>
                <a:spcPct val="100000"/>
              </a:lnSpc>
              <a:buNone/>
            </a:pPr>
            <a:r>
              <a:rPr lang="en-US" sz="1350" dirty="0">
                <a:solidFill>
                  <a:srgbClr val="2A2742"/>
                </a:solidFill>
                <a:latin typeface="Outfit ExtraBold" pitchFamily="34" charset="0"/>
                <a:ea typeface="Outfit ExtraBold" pitchFamily="34" charset="-122"/>
                <a:cs typeface="Outfit ExtraBold" pitchFamily="34" charset="-120"/>
              </a:rPr>
              <a:t>1</a:t>
            </a:r>
            <a:endParaRPr lang="en-US" sz="1350" dirty="0"/>
          </a:p>
        </p:txBody>
      </p:sp>
      <p:sp>
        <p:nvSpPr>
          <p:cNvPr id="11" name="Text 8"/>
          <p:cNvSpPr/>
          <p:nvPr/>
        </p:nvSpPr>
        <p:spPr>
          <a:xfrm>
            <a:off x="1348978" y="1566267"/>
            <a:ext cx="1429420" cy="178668"/>
          </a:xfrm>
          <a:prstGeom prst="rect">
            <a:avLst/>
          </a:prstGeom>
          <a:noFill/>
          <a:ln/>
        </p:spPr>
        <p:txBody>
          <a:bodyPr wrap="none" lIns="0" tIns="0" rIns="0" bIns="0" rtlCol="0" anchor="t"/>
          <a:lstStyle/>
          <a:p>
            <a:pPr marL="0" indent="0" algn="ctr">
              <a:lnSpc>
                <a:spcPct val="104000"/>
              </a:lnSpc>
              <a:buNone/>
            </a:pPr>
            <a:r>
              <a:rPr lang="en-US" sz="1100" dirty="0">
                <a:solidFill>
                  <a:srgbClr val="2A2742"/>
                </a:solidFill>
                <a:latin typeface="Outfit ExtraBold" pitchFamily="34" charset="0"/>
                <a:ea typeface="Outfit ExtraBold" pitchFamily="34" charset="-122"/>
                <a:cs typeface="Outfit ExtraBold" pitchFamily="34" charset="-120"/>
              </a:rPr>
              <a:t>Day 1</a:t>
            </a:r>
            <a:endParaRPr lang="en-US" sz="1100" dirty="0"/>
          </a:p>
        </p:txBody>
      </p:sp>
      <p:sp>
        <p:nvSpPr>
          <p:cNvPr id="12" name="Text 9"/>
          <p:cNvSpPr/>
          <p:nvPr/>
        </p:nvSpPr>
        <p:spPr>
          <a:xfrm>
            <a:off x="571649" y="1808187"/>
            <a:ext cx="2984078" cy="351681"/>
          </a:xfrm>
          <a:prstGeom prst="rect">
            <a:avLst/>
          </a:prstGeom>
          <a:noFill/>
          <a:ln/>
        </p:spPr>
        <p:txBody>
          <a:bodyPr wrap="square" lIns="0" tIns="0" rIns="0" bIns="0" rtlCol="0" anchor="t">
            <a:normAutofit/>
          </a:bodyPr>
          <a:lstStyle/>
          <a:p>
            <a:pPr marL="0" indent="0" algn="ctr">
              <a:lnSpc>
                <a:spcPct val="128000"/>
              </a:lnSpc>
              <a:buNone/>
            </a:pPr>
            <a:r>
              <a:rPr lang="en-US" sz="900" dirty="0">
                <a:solidFill>
                  <a:srgbClr val="2A2742"/>
                </a:solidFill>
                <a:latin typeface="Arimo" pitchFamily="34" charset="0"/>
                <a:ea typeface="Arimo" pitchFamily="34" charset="-122"/>
                <a:cs typeface="Arimo" pitchFamily="34" charset="-120"/>
              </a:rPr>
              <a:t>Finalised title, topic, scenarios, storyboard, and learning objectives as a full team.</a:t>
            </a:r>
            <a:endParaRPr lang="en-US" sz="900" dirty="0"/>
          </a:p>
        </p:txBody>
      </p:sp>
      <p:sp>
        <p:nvSpPr>
          <p:cNvPr id="13" name="Shape 10"/>
          <p:cNvSpPr/>
          <p:nvPr/>
        </p:nvSpPr>
        <p:spPr>
          <a:xfrm>
            <a:off x="3728591" y="2617180"/>
            <a:ext cx="14288" cy="343049"/>
          </a:xfrm>
          <a:prstGeom prst="roundRect">
            <a:avLst>
              <a:gd name="adj" fmla="val 336151"/>
            </a:avLst>
          </a:prstGeom>
          <a:solidFill>
            <a:srgbClr val="BDB8DF"/>
          </a:solidFill>
          <a:ln/>
        </p:spPr>
        <p:txBody>
          <a:bodyPr/>
          <a:lstStyle/>
          <a:p>
            <a:endParaRPr lang="en-GB"/>
          </a:p>
        </p:txBody>
      </p:sp>
      <p:sp>
        <p:nvSpPr>
          <p:cNvPr id="14" name="Shape 11"/>
          <p:cNvSpPr/>
          <p:nvPr/>
        </p:nvSpPr>
        <p:spPr>
          <a:xfrm>
            <a:off x="3607147" y="2488592"/>
            <a:ext cx="257249" cy="257249"/>
          </a:xfrm>
          <a:prstGeom prst="roundRect">
            <a:avLst>
              <a:gd name="adj" fmla="val 18670"/>
            </a:avLst>
          </a:prstGeom>
          <a:solidFill>
            <a:srgbClr val="E9E6FA"/>
          </a:solidFill>
          <a:ln w="4763">
            <a:solidFill>
              <a:srgbClr val="BDB8DF"/>
            </a:solidFill>
            <a:prstDash val="solid"/>
          </a:ln>
        </p:spPr>
        <p:txBody>
          <a:bodyPr/>
          <a:lstStyle/>
          <a:p>
            <a:endParaRPr lang="en-GB"/>
          </a:p>
        </p:txBody>
      </p:sp>
      <p:sp>
        <p:nvSpPr>
          <p:cNvPr id="15" name="Text 12"/>
          <p:cNvSpPr/>
          <p:nvPr/>
        </p:nvSpPr>
        <p:spPr>
          <a:xfrm>
            <a:off x="3649973" y="2509986"/>
            <a:ext cx="171524" cy="214387"/>
          </a:xfrm>
          <a:prstGeom prst="rect">
            <a:avLst/>
          </a:prstGeom>
          <a:noFill/>
          <a:ln/>
        </p:spPr>
        <p:txBody>
          <a:bodyPr wrap="none" lIns="0" tIns="0" rIns="0" bIns="0" rtlCol="0" anchor="ctr"/>
          <a:lstStyle/>
          <a:p>
            <a:pPr marL="0" indent="0" algn="ctr">
              <a:lnSpc>
                <a:spcPct val="100000"/>
              </a:lnSpc>
              <a:buNone/>
            </a:pPr>
            <a:r>
              <a:rPr lang="en-US" sz="1350" dirty="0">
                <a:solidFill>
                  <a:srgbClr val="2A2742"/>
                </a:solidFill>
                <a:latin typeface="Outfit ExtraBold" pitchFamily="34" charset="0"/>
                <a:ea typeface="Outfit ExtraBold" pitchFamily="34" charset="-122"/>
                <a:cs typeface="Outfit ExtraBold" pitchFamily="34" charset="-120"/>
              </a:rPr>
              <a:t>2</a:t>
            </a:r>
            <a:endParaRPr lang="en-US" sz="1350" dirty="0"/>
          </a:p>
        </p:txBody>
      </p:sp>
      <p:sp>
        <p:nvSpPr>
          <p:cNvPr id="16" name="Text 13"/>
          <p:cNvSpPr/>
          <p:nvPr/>
        </p:nvSpPr>
        <p:spPr>
          <a:xfrm>
            <a:off x="3021137" y="3074566"/>
            <a:ext cx="1429420" cy="178668"/>
          </a:xfrm>
          <a:prstGeom prst="rect">
            <a:avLst/>
          </a:prstGeom>
          <a:noFill/>
          <a:ln/>
        </p:spPr>
        <p:txBody>
          <a:bodyPr wrap="none" lIns="0" tIns="0" rIns="0" bIns="0" rtlCol="0" anchor="t"/>
          <a:lstStyle/>
          <a:p>
            <a:pPr marL="0" indent="0" algn="ctr">
              <a:lnSpc>
                <a:spcPct val="104000"/>
              </a:lnSpc>
              <a:buNone/>
            </a:pPr>
            <a:r>
              <a:rPr lang="en-US" sz="1100" dirty="0">
                <a:solidFill>
                  <a:srgbClr val="2A2742"/>
                </a:solidFill>
                <a:latin typeface="Outfit ExtraBold" pitchFamily="34" charset="0"/>
                <a:ea typeface="Outfit ExtraBold" pitchFamily="34" charset="-122"/>
                <a:cs typeface="Outfit ExtraBold" pitchFamily="34" charset="-120"/>
              </a:rPr>
              <a:t>Session 2</a:t>
            </a:r>
            <a:endParaRPr lang="en-US" sz="1100" dirty="0"/>
          </a:p>
        </p:txBody>
      </p:sp>
      <p:sp>
        <p:nvSpPr>
          <p:cNvPr id="17" name="Text 14"/>
          <p:cNvSpPr/>
          <p:nvPr/>
        </p:nvSpPr>
        <p:spPr>
          <a:xfrm>
            <a:off x="2243807" y="3316486"/>
            <a:ext cx="2984078" cy="351681"/>
          </a:xfrm>
          <a:prstGeom prst="rect">
            <a:avLst/>
          </a:prstGeom>
          <a:noFill/>
          <a:ln/>
        </p:spPr>
        <p:txBody>
          <a:bodyPr wrap="square" lIns="0" tIns="0" rIns="0" bIns="0" rtlCol="0" anchor="t">
            <a:normAutofit/>
          </a:bodyPr>
          <a:lstStyle/>
          <a:p>
            <a:pPr marL="0" indent="0" algn="ctr">
              <a:lnSpc>
                <a:spcPct val="128000"/>
              </a:lnSpc>
              <a:buNone/>
            </a:pPr>
            <a:r>
              <a:rPr lang="en-US" sz="900" dirty="0">
                <a:solidFill>
                  <a:srgbClr val="2A2742"/>
                </a:solidFill>
                <a:latin typeface="Arimo" pitchFamily="34" charset="0"/>
                <a:ea typeface="Arimo" pitchFamily="34" charset="-122"/>
                <a:cs typeface="Arimo" pitchFamily="34" charset="-120"/>
              </a:rPr>
              <a:t>UX research on existing games. Updated project canvas and storyboard based on findings.</a:t>
            </a:r>
            <a:endParaRPr lang="en-US" sz="900" dirty="0"/>
          </a:p>
        </p:txBody>
      </p:sp>
      <p:sp>
        <p:nvSpPr>
          <p:cNvPr id="18" name="Shape 15"/>
          <p:cNvSpPr/>
          <p:nvPr/>
        </p:nvSpPr>
        <p:spPr>
          <a:xfrm>
            <a:off x="5400824" y="2274205"/>
            <a:ext cx="14288" cy="343049"/>
          </a:xfrm>
          <a:prstGeom prst="roundRect">
            <a:avLst>
              <a:gd name="adj" fmla="val 336151"/>
            </a:avLst>
          </a:prstGeom>
          <a:solidFill>
            <a:srgbClr val="BDB8DF"/>
          </a:solidFill>
          <a:ln/>
        </p:spPr>
        <p:txBody>
          <a:bodyPr/>
          <a:lstStyle/>
          <a:p>
            <a:endParaRPr lang="en-GB"/>
          </a:p>
        </p:txBody>
      </p:sp>
      <p:sp>
        <p:nvSpPr>
          <p:cNvPr id="19" name="Shape 16"/>
          <p:cNvSpPr/>
          <p:nvPr/>
        </p:nvSpPr>
        <p:spPr>
          <a:xfrm>
            <a:off x="5279380" y="2488592"/>
            <a:ext cx="257249" cy="257249"/>
          </a:xfrm>
          <a:prstGeom prst="roundRect">
            <a:avLst>
              <a:gd name="adj" fmla="val 18670"/>
            </a:avLst>
          </a:prstGeom>
          <a:solidFill>
            <a:srgbClr val="E9E6FA"/>
          </a:solidFill>
          <a:ln w="4763">
            <a:solidFill>
              <a:srgbClr val="BDB8DF"/>
            </a:solidFill>
            <a:prstDash val="solid"/>
          </a:ln>
        </p:spPr>
        <p:txBody>
          <a:bodyPr/>
          <a:lstStyle/>
          <a:p>
            <a:endParaRPr lang="en-GB"/>
          </a:p>
        </p:txBody>
      </p:sp>
      <p:sp>
        <p:nvSpPr>
          <p:cNvPr id="20" name="Text 17"/>
          <p:cNvSpPr/>
          <p:nvPr/>
        </p:nvSpPr>
        <p:spPr>
          <a:xfrm>
            <a:off x="5322205" y="2509986"/>
            <a:ext cx="171524" cy="214387"/>
          </a:xfrm>
          <a:prstGeom prst="rect">
            <a:avLst/>
          </a:prstGeom>
          <a:noFill/>
          <a:ln/>
        </p:spPr>
        <p:txBody>
          <a:bodyPr wrap="none" lIns="0" tIns="0" rIns="0" bIns="0" rtlCol="0" anchor="ctr"/>
          <a:lstStyle/>
          <a:p>
            <a:pPr marL="0" indent="0" algn="ctr">
              <a:lnSpc>
                <a:spcPct val="100000"/>
              </a:lnSpc>
              <a:buNone/>
            </a:pPr>
            <a:r>
              <a:rPr lang="en-US" sz="1350" dirty="0">
                <a:solidFill>
                  <a:srgbClr val="2A2742"/>
                </a:solidFill>
                <a:latin typeface="Outfit ExtraBold" pitchFamily="34" charset="0"/>
                <a:ea typeface="Outfit ExtraBold" pitchFamily="34" charset="-122"/>
                <a:cs typeface="Outfit ExtraBold" pitchFamily="34" charset="-120"/>
              </a:rPr>
              <a:t>3</a:t>
            </a:r>
            <a:endParaRPr lang="en-US" sz="1350" dirty="0"/>
          </a:p>
        </p:txBody>
      </p:sp>
      <p:sp>
        <p:nvSpPr>
          <p:cNvPr id="21" name="Text 18"/>
          <p:cNvSpPr/>
          <p:nvPr/>
        </p:nvSpPr>
        <p:spPr>
          <a:xfrm>
            <a:off x="4693369" y="1566267"/>
            <a:ext cx="1429420" cy="178668"/>
          </a:xfrm>
          <a:prstGeom prst="rect">
            <a:avLst/>
          </a:prstGeom>
          <a:noFill/>
          <a:ln/>
        </p:spPr>
        <p:txBody>
          <a:bodyPr wrap="none" lIns="0" tIns="0" rIns="0" bIns="0" rtlCol="0" anchor="t"/>
          <a:lstStyle/>
          <a:p>
            <a:pPr marL="0" indent="0" algn="ctr">
              <a:lnSpc>
                <a:spcPct val="104000"/>
              </a:lnSpc>
              <a:buNone/>
            </a:pPr>
            <a:r>
              <a:rPr lang="en-US" sz="1100" dirty="0">
                <a:solidFill>
                  <a:srgbClr val="2A2742"/>
                </a:solidFill>
                <a:latin typeface="Outfit ExtraBold" pitchFamily="34" charset="0"/>
                <a:ea typeface="Outfit ExtraBold" pitchFamily="34" charset="-122"/>
                <a:cs typeface="Outfit ExtraBold" pitchFamily="34" charset="-120"/>
              </a:rPr>
              <a:t>Week 2</a:t>
            </a:r>
            <a:endParaRPr lang="en-US" sz="1100" dirty="0"/>
          </a:p>
        </p:txBody>
      </p:sp>
      <p:sp>
        <p:nvSpPr>
          <p:cNvPr id="22" name="Text 19"/>
          <p:cNvSpPr/>
          <p:nvPr/>
        </p:nvSpPr>
        <p:spPr>
          <a:xfrm>
            <a:off x="3916040" y="1808187"/>
            <a:ext cx="2984078" cy="351681"/>
          </a:xfrm>
          <a:prstGeom prst="rect">
            <a:avLst/>
          </a:prstGeom>
          <a:noFill/>
          <a:ln/>
        </p:spPr>
        <p:txBody>
          <a:bodyPr wrap="square" lIns="0" tIns="0" rIns="0" bIns="0" rtlCol="0" anchor="t">
            <a:normAutofit/>
          </a:bodyPr>
          <a:lstStyle/>
          <a:p>
            <a:pPr marL="0" indent="0" algn="ctr">
              <a:lnSpc>
                <a:spcPct val="128000"/>
              </a:lnSpc>
              <a:buNone/>
            </a:pPr>
            <a:r>
              <a:rPr lang="en-US" sz="900" dirty="0">
                <a:solidFill>
                  <a:srgbClr val="2A2742"/>
                </a:solidFill>
                <a:latin typeface="Arimo" pitchFamily="34" charset="0"/>
                <a:ea typeface="Arimo" pitchFamily="34" charset="-122"/>
                <a:cs typeface="Arimo" pitchFamily="34" charset="-120"/>
              </a:rPr>
              <a:t>Built welcome screen, animated instructions section, and core game buttons.</a:t>
            </a:r>
            <a:endParaRPr lang="en-US" sz="900" dirty="0"/>
          </a:p>
        </p:txBody>
      </p:sp>
      <p:sp>
        <p:nvSpPr>
          <p:cNvPr id="23" name="Shape 20"/>
          <p:cNvSpPr/>
          <p:nvPr/>
        </p:nvSpPr>
        <p:spPr>
          <a:xfrm>
            <a:off x="7072982" y="2617180"/>
            <a:ext cx="14288" cy="343049"/>
          </a:xfrm>
          <a:prstGeom prst="roundRect">
            <a:avLst>
              <a:gd name="adj" fmla="val 336151"/>
            </a:avLst>
          </a:prstGeom>
          <a:solidFill>
            <a:srgbClr val="BDB8DF"/>
          </a:solidFill>
          <a:ln/>
        </p:spPr>
        <p:txBody>
          <a:bodyPr/>
          <a:lstStyle/>
          <a:p>
            <a:endParaRPr lang="en-GB"/>
          </a:p>
        </p:txBody>
      </p:sp>
      <p:sp>
        <p:nvSpPr>
          <p:cNvPr id="24" name="Shape 21"/>
          <p:cNvSpPr/>
          <p:nvPr/>
        </p:nvSpPr>
        <p:spPr>
          <a:xfrm>
            <a:off x="6951538" y="2488592"/>
            <a:ext cx="257249" cy="257249"/>
          </a:xfrm>
          <a:prstGeom prst="roundRect">
            <a:avLst>
              <a:gd name="adj" fmla="val 18670"/>
            </a:avLst>
          </a:prstGeom>
          <a:solidFill>
            <a:srgbClr val="E9E6FA"/>
          </a:solidFill>
          <a:ln w="4763">
            <a:solidFill>
              <a:srgbClr val="BDB8DF"/>
            </a:solidFill>
            <a:prstDash val="solid"/>
          </a:ln>
        </p:spPr>
        <p:txBody>
          <a:bodyPr/>
          <a:lstStyle/>
          <a:p>
            <a:endParaRPr lang="en-GB"/>
          </a:p>
        </p:txBody>
      </p:sp>
      <p:sp>
        <p:nvSpPr>
          <p:cNvPr id="25" name="Text 22"/>
          <p:cNvSpPr/>
          <p:nvPr/>
        </p:nvSpPr>
        <p:spPr>
          <a:xfrm>
            <a:off x="6994364" y="2509986"/>
            <a:ext cx="171524" cy="214387"/>
          </a:xfrm>
          <a:prstGeom prst="rect">
            <a:avLst/>
          </a:prstGeom>
          <a:noFill/>
          <a:ln/>
        </p:spPr>
        <p:txBody>
          <a:bodyPr wrap="none" lIns="0" tIns="0" rIns="0" bIns="0" rtlCol="0" anchor="ctr"/>
          <a:lstStyle/>
          <a:p>
            <a:pPr marL="0" indent="0" algn="ctr">
              <a:lnSpc>
                <a:spcPct val="100000"/>
              </a:lnSpc>
              <a:buNone/>
            </a:pPr>
            <a:r>
              <a:rPr lang="en-US" sz="1350" dirty="0">
                <a:solidFill>
                  <a:srgbClr val="2A2742"/>
                </a:solidFill>
                <a:latin typeface="Outfit ExtraBold" pitchFamily="34" charset="0"/>
                <a:ea typeface="Outfit ExtraBold" pitchFamily="34" charset="-122"/>
                <a:cs typeface="Outfit ExtraBold" pitchFamily="34" charset="-120"/>
              </a:rPr>
              <a:t>4</a:t>
            </a:r>
            <a:endParaRPr lang="en-US" sz="1350" dirty="0"/>
          </a:p>
        </p:txBody>
      </p:sp>
      <p:sp>
        <p:nvSpPr>
          <p:cNvPr id="26" name="Text 23"/>
          <p:cNvSpPr/>
          <p:nvPr/>
        </p:nvSpPr>
        <p:spPr>
          <a:xfrm>
            <a:off x="6365528" y="3074566"/>
            <a:ext cx="1429420" cy="178668"/>
          </a:xfrm>
          <a:prstGeom prst="rect">
            <a:avLst/>
          </a:prstGeom>
          <a:noFill/>
          <a:ln/>
        </p:spPr>
        <p:txBody>
          <a:bodyPr wrap="none" lIns="0" tIns="0" rIns="0" bIns="0" rtlCol="0" anchor="t"/>
          <a:lstStyle/>
          <a:p>
            <a:pPr marL="0" indent="0" algn="ctr">
              <a:lnSpc>
                <a:spcPct val="104000"/>
              </a:lnSpc>
              <a:buNone/>
            </a:pPr>
            <a:r>
              <a:rPr lang="en-US" sz="1100" dirty="0">
                <a:solidFill>
                  <a:srgbClr val="2A2742"/>
                </a:solidFill>
                <a:latin typeface="Outfit ExtraBold" pitchFamily="34" charset="0"/>
                <a:ea typeface="Outfit ExtraBold" pitchFamily="34" charset="-122"/>
                <a:cs typeface="Outfit ExtraBold" pitchFamily="34" charset="-120"/>
              </a:rPr>
              <a:t>Ongoing</a:t>
            </a:r>
            <a:endParaRPr lang="en-US" sz="1100" dirty="0"/>
          </a:p>
        </p:txBody>
      </p:sp>
      <p:sp>
        <p:nvSpPr>
          <p:cNvPr id="27" name="Text 24"/>
          <p:cNvSpPr/>
          <p:nvPr/>
        </p:nvSpPr>
        <p:spPr>
          <a:xfrm>
            <a:off x="5588198" y="3316486"/>
            <a:ext cx="2984078" cy="351681"/>
          </a:xfrm>
          <a:prstGeom prst="rect">
            <a:avLst/>
          </a:prstGeom>
          <a:noFill/>
          <a:ln/>
        </p:spPr>
        <p:txBody>
          <a:bodyPr wrap="square" lIns="0" tIns="0" rIns="0" bIns="0" rtlCol="0" anchor="t">
            <a:normAutofit/>
          </a:bodyPr>
          <a:lstStyle/>
          <a:p>
            <a:pPr marL="0" indent="0" algn="ctr">
              <a:lnSpc>
                <a:spcPct val="128000"/>
              </a:lnSpc>
              <a:buNone/>
            </a:pPr>
            <a:r>
              <a:rPr lang="en-US" sz="900" dirty="0">
                <a:solidFill>
                  <a:srgbClr val="2A2742"/>
                </a:solidFill>
                <a:latin typeface="Arimo" pitchFamily="34" charset="0"/>
                <a:ea typeface="Arimo" pitchFamily="34" charset="-122"/>
                <a:cs typeface="Arimo" pitchFamily="34" charset="-120"/>
              </a:rPr>
              <a:t>GitHub updates, README maintenance, weekly role check-ins, and iterative design reviews.</a:t>
            </a:r>
            <a:endParaRPr lang="en-US" sz="900" dirty="0"/>
          </a:p>
        </p:txBody>
      </p:sp>
      <p:sp>
        <p:nvSpPr>
          <p:cNvPr id="28" name="Text 25"/>
          <p:cNvSpPr/>
          <p:nvPr/>
        </p:nvSpPr>
        <p:spPr>
          <a:xfrm>
            <a:off x="457349" y="3892079"/>
            <a:ext cx="1886620" cy="178668"/>
          </a:xfrm>
          <a:prstGeom prst="rect">
            <a:avLst/>
          </a:prstGeom>
          <a:noFill/>
          <a:ln/>
        </p:spPr>
        <p:txBody>
          <a:bodyPr wrap="none" lIns="0" tIns="0" rIns="0" bIns="0" rtlCol="0" anchor="t"/>
          <a:lstStyle/>
          <a:p>
            <a:pPr marL="0" indent="0" algn="l">
              <a:lnSpc>
                <a:spcPct val="104000"/>
              </a:lnSpc>
              <a:buNone/>
            </a:pPr>
            <a:r>
              <a:rPr lang="en-US" sz="1100" dirty="0">
                <a:solidFill>
                  <a:srgbClr val="000000"/>
                </a:solidFill>
                <a:latin typeface="Outfit ExtraBold" pitchFamily="34" charset="0"/>
                <a:ea typeface="Outfit ExtraBold" pitchFamily="34" charset="-122"/>
                <a:cs typeface="Outfit ExtraBold" pitchFamily="34" charset="-120"/>
              </a:rPr>
              <a:t>🗂️</a:t>
            </a:r>
            <a:r>
              <a:rPr lang="en-US" sz="1100" dirty="0">
                <a:solidFill>
                  <a:srgbClr val="231971"/>
                </a:solidFill>
                <a:latin typeface="Outfit ExtraBold" pitchFamily="34" charset="0"/>
                <a:ea typeface="Outfit ExtraBold" pitchFamily="34" charset="-122"/>
                <a:cs typeface="Outfit ExtraBold" pitchFamily="34" charset="-120"/>
              </a:rPr>
              <a:t> Task Management</a:t>
            </a:r>
            <a:endParaRPr lang="en-US" sz="1100" dirty="0"/>
          </a:p>
        </p:txBody>
      </p:sp>
      <p:sp>
        <p:nvSpPr>
          <p:cNvPr id="29" name="Text 26"/>
          <p:cNvSpPr/>
          <p:nvPr/>
        </p:nvSpPr>
        <p:spPr>
          <a:xfrm>
            <a:off x="457349" y="4176117"/>
            <a:ext cx="3975199" cy="601191"/>
          </a:xfrm>
          <a:prstGeom prst="rect">
            <a:avLst/>
          </a:prstGeom>
          <a:noFill/>
          <a:ln/>
        </p:spPr>
        <p:txBody>
          <a:bodyPr wrap="square" lIns="0" tIns="0" rIns="0" bIns="0" rtlCol="0" anchor="t">
            <a:normAutofit/>
          </a:bodyPr>
          <a:lstStyle/>
          <a:p>
            <a:pPr marL="342900" indent="-342900" algn="l">
              <a:lnSpc>
                <a:spcPct val="128000"/>
              </a:lnSpc>
              <a:buSzPct val="100000"/>
              <a:buChar char="•"/>
            </a:pPr>
            <a:r>
              <a:rPr lang="en-US" sz="900" dirty="0">
                <a:solidFill>
                  <a:srgbClr val="2A2742"/>
                </a:solidFill>
                <a:latin typeface="Arimo" pitchFamily="34" charset="0"/>
                <a:ea typeface="Arimo" pitchFamily="34" charset="-122"/>
                <a:cs typeface="Arimo" pitchFamily="34" charset="-120"/>
              </a:rPr>
              <a:t>Roles assigned from day one to avoid overlap and ensure accountability</a:t>
            </a:r>
            <a:endParaRPr lang="en-US" sz="900" dirty="0"/>
          </a:p>
          <a:p>
            <a:pPr marL="342900" indent="-342900" algn="l">
              <a:lnSpc>
                <a:spcPct val="128000"/>
              </a:lnSpc>
              <a:buSzPct val="100000"/>
              <a:buChar char="•"/>
            </a:pPr>
            <a:r>
              <a:rPr lang="en-US" sz="900" dirty="0">
                <a:solidFill>
                  <a:srgbClr val="2A2742"/>
                </a:solidFill>
                <a:latin typeface="Arimo" pitchFamily="34" charset="0"/>
                <a:ea typeface="Arimo" pitchFamily="34" charset="-122"/>
                <a:cs typeface="Arimo" pitchFamily="34" charset="-120"/>
              </a:rPr>
              <a:t>Meeting agendas prepared in advance by the Group Leader</a:t>
            </a:r>
            <a:endParaRPr lang="en-US" sz="900" dirty="0"/>
          </a:p>
        </p:txBody>
      </p:sp>
      <p:sp>
        <p:nvSpPr>
          <p:cNvPr id="30" name="Text 27"/>
          <p:cNvSpPr/>
          <p:nvPr/>
        </p:nvSpPr>
        <p:spPr>
          <a:xfrm>
            <a:off x="4716214" y="3892079"/>
            <a:ext cx="1886620" cy="178668"/>
          </a:xfrm>
          <a:prstGeom prst="rect">
            <a:avLst/>
          </a:prstGeom>
          <a:noFill/>
          <a:ln/>
        </p:spPr>
        <p:txBody>
          <a:bodyPr wrap="none" lIns="0" tIns="0" rIns="0" bIns="0" rtlCol="0" anchor="t"/>
          <a:lstStyle/>
          <a:p>
            <a:pPr marL="0" indent="0" algn="l">
              <a:lnSpc>
                <a:spcPct val="104000"/>
              </a:lnSpc>
              <a:buNone/>
            </a:pPr>
            <a:r>
              <a:rPr lang="en-US" sz="1100" dirty="0">
                <a:solidFill>
                  <a:srgbClr val="000000"/>
                </a:solidFill>
                <a:latin typeface="Outfit ExtraBold" pitchFamily="34" charset="0"/>
                <a:ea typeface="Outfit ExtraBold" pitchFamily="34" charset="-122"/>
                <a:cs typeface="Outfit ExtraBold" pitchFamily="34" charset="-120"/>
              </a:rPr>
              <a:t>💻</a:t>
            </a:r>
            <a:r>
              <a:rPr lang="en-US" sz="1100" dirty="0">
                <a:solidFill>
                  <a:srgbClr val="231971"/>
                </a:solidFill>
                <a:latin typeface="Outfit ExtraBold" pitchFamily="34" charset="0"/>
                <a:ea typeface="Outfit ExtraBold" pitchFamily="34" charset="-122"/>
                <a:cs typeface="Outfit ExtraBold" pitchFamily="34" charset="-120"/>
              </a:rPr>
              <a:t> GitHub Workflow</a:t>
            </a:r>
            <a:endParaRPr lang="en-US" sz="1100" dirty="0"/>
          </a:p>
        </p:txBody>
      </p:sp>
      <p:sp>
        <p:nvSpPr>
          <p:cNvPr id="31" name="Text 28"/>
          <p:cNvSpPr/>
          <p:nvPr/>
        </p:nvSpPr>
        <p:spPr>
          <a:xfrm>
            <a:off x="4716214" y="4176117"/>
            <a:ext cx="3975199" cy="601191"/>
          </a:xfrm>
          <a:prstGeom prst="rect">
            <a:avLst/>
          </a:prstGeom>
          <a:noFill/>
          <a:ln/>
        </p:spPr>
        <p:txBody>
          <a:bodyPr wrap="square" lIns="0" tIns="0" rIns="0" bIns="0" rtlCol="0" anchor="t">
            <a:normAutofit fontScale="92500"/>
          </a:bodyPr>
          <a:lstStyle/>
          <a:p>
            <a:pPr marL="342900" indent="-342900" algn="l">
              <a:lnSpc>
                <a:spcPct val="128000"/>
              </a:lnSpc>
              <a:buSzPct val="100000"/>
              <a:buChar char="•"/>
            </a:pPr>
            <a:r>
              <a:rPr lang="en-US" sz="900" dirty="0">
                <a:solidFill>
                  <a:srgbClr val="2A2742"/>
                </a:solidFill>
                <a:latin typeface="Arimo" pitchFamily="34" charset="0"/>
                <a:ea typeface="Arimo" pitchFamily="34" charset="-122"/>
                <a:cs typeface="Arimo" pitchFamily="34" charset="-120"/>
              </a:rPr>
              <a:t>All the GitHub repository  are managed and pull request reviews</a:t>
            </a:r>
            <a:endParaRPr lang="en-US" sz="900" dirty="0"/>
          </a:p>
          <a:p>
            <a:pPr marL="342900" indent="-342900" algn="l">
              <a:lnSpc>
                <a:spcPct val="128000"/>
              </a:lnSpc>
              <a:buSzPct val="100000"/>
              <a:buChar char="•"/>
            </a:pPr>
            <a:r>
              <a:rPr lang="en-US" sz="900" dirty="0">
                <a:solidFill>
                  <a:srgbClr val="2A2742"/>
                </a:solidFill>
                <a:latin typeface="Arimo" pitchFamily="34" charset="0"/>
                <a:ea typeface="Arimo" pitchFamily="34" charset="-122"/>
                <a:cs typeface="Arimo" pitchFamily="34" charset="-120"/>
              </a:rPr>
              <a:t>README kept up to date with progress, instructions, and contributor notes</a:t>
            </a:r>
            <a:endParaRPr lang="en-US" sz="900" dirty="0"/>
          </a:p>
          <a:p>
            <a:pPr marL="342900" indent="-342900" algn="l">
              <a:lnSpc>
                <a:spcPct val="128000"/>
              </a:lnSpc>
              <a:buSzPct val="100000"/>
              <a:buChar char="•"/>
            </a:pPr>
            <a:r>
              <a:rPr lang="en-US" sz="900" dirty="0">
                <a:solidFill>
                  <a:srgbClr val="2A2742"/>
                </a:solidFill>
                <a:latin typeface="Arimo" pitchFamily="34" charset="0"/>
                <a:ea typeface="Arimo" pitchFamily="34" charset="-122"/>
                <a:cs typeface="Arimo" pitchFamily="34" charset="-120"/>
              </a:rPr>
              <a:t>Version control ensures no work is lost and all changes are traceable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26393" y="293117"/>
            <a:ext cx="1459781" cy="190649"/>
          </a:xfrm>
          <a:prstGeom prst="roundRect">
            <a:avLst>
              <a:gd name="adj" fmla="val 18788"/>
            </a:avLst>
          </a:prstGeom>
          <a:solidFill>
            <a:srgbClr val="D7D2F9"/>
          </a:solidFill>
          <a:ln/>
        </p:spPr>
        <p:txBody>
          <a:bodyPr/>
          <a:lstStyle/>
          <a:p>
            <a:endParaRPr lang="en-GB"/>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0314" y="345802"/>
            <a:ext cx="85279" cy="85279"/>
          </a:xfrm>
          <a:prstGeom prst="rect">
            <a:avLst/>
          </a:prstGeom>
        </p:spPr>
      </p:pic>
      <p:sp>
        <p:nvSpPr>
          <p:cNvPr id="4" name="Text 1"/>
          <p:cNvSpPr/>
          <p:nvPr/>
        </p:nvSpPr>
        <p:spPr>
          <a:xfrm>
            <a:off x="618232" y="325041"/>
            <a:ext cx="1661220" cy="126802"/>
          </a:xfrm>
          <a:prstGeom prst="rect">
            <a:avLst/>
          </a:prstGeom>
          <a:noFill/>
          <a:ln/>
        </p:spPr>
        <p:txBody>
          <a:bodyPr wrap="none" lIns="0" tIns="0" rIns="0" bIns="0" rtlCol="0" anchor="t"/>
          <a:lstStyle/>
          <a:p>
            <a:pPr marL="0" indent="0" algn="l">
              <a:lnSpc>
                <a:spcPct val="124000"/>
              </a:lnSpc>
              <a:buNone/>
            </a:pPr>
            <a:r>
              <a:rPr lang="en-US" sz="650" dirty="0">
                <a:solidFill>
                  <a:srgbClr val="2A2742"/>
                </a:solidFill>
                <a:latin typeface="Arimo" pitchFamily="34" charset="0"/>
                <a:ea typeface="Arimo" pitchFamily="34" charset="-122"/>
                <a:cs typeface="Arimo" pitchFamily="34" charset="-120"/>
              </a:rPr>
              <a:t>INDIVIDUAL CONTRIBUTIONS</a:t>
            </a:r>
            <a:endParaRPr lang="en-US" sz="650" dirty="0"/>
          </a:p>
        </p:txBody>
      </p:sp>
      <p:sp>
        <p:nvSpPr>
          <p:cNvPr id="5" name="Text 2"/>
          <p:cNvSpPr/>
          <p:nvPr/>
        </p:nvSpPr>
        <p:spPr>
          <a:xfrm>
            <a:off x="426393" y="520378"/>
            <a:ext cx="5503143" cy="333077"/>
          </a:xfrm>
          <a:prstGeom prst="rect">
            <a:avLst/>
          </a:prstGeom>
          <a:noFill/>
          <a:ln/>
        </p:spPr>
        <p:txBody>
          <a:bodyPr wrap="none" lIns="0" tIns="0" rIns="0" bIns="0" rtlCol="0" anchor="t"/>
          <a:lstStyle/>
          <a:p>
            <a:pPr marL="0" indent="0" algn="l">
              <a:lnSpc>
                <a:spcPct val="104000"/>
              </a:lnSpc>
              <a:buNone/>
            </a:pPr>
            <a:r>
              <a:rPr lang="en-US" sz="2050" dirty="0">
                <a:solidFill>
                  <a:srgbClr val="231971"/>
                </a:solidFill>
                <a:latin typeface="Outfit ExtraBold" pitchFamily="34" charset="0"/>
                <a:ea typeface="Outfit ExtraBold" pitchFamily="34" charset="-122"/>
                <a:cs typeface="Outfit ExtraBold" pitchFamily="34" charset="-120"/>
              </a:rPr>
              <a:t>What Each Team Member Brought Today</a:t>
            </a:r>
            <a:endParaRPr lang="en-US" sz="2050" dirty="0"/>
          </a:p>
        </p:txBody>
      </p:sp>
      <p:sp>
        <p:nvSpPr>
          <p:cNvPr id="6" name="Text 3"/>
          <p:cNvSpPr/>
          <p:nvPr/>
        </p:nvSpPr>
        <p:spPr>
          <a:xfrm>
            <a:off x="426393" y="990823"/>
            <a:ext cx="8291215" cy="317153"/>
          </a:xfrm>
          <a:prstGeom prst="rect">
            <a:avLst/>
          </a:prstGeom>
          <a:noFill/>
          <a:ln/>
        </p:spPr>
        <p:txBody>
          <a:bodyPr wrap="square" lIns="0" tIns="0" rIns="0" bIns="0" rtlCol="0" anchor="t">
            <a:normAutofit/>
          </a:bodyPr>
          <a:lstStyle/>
          <a:p>
            <a:pPr marL="0" indent="0" algn="l">
              <a:lnSpc>
                <a:spcPct val="124000"/>
              </a:lnSpc>
              <a:buNone/>
            </a:pPr>
            <a:r>
              <a:rPr lang="en-US" sz="800" dirty="0">
                <a:solidFill>
                  <a:srgbClr val="2A2742"/>
                </a:solidFill>
                <a:latin typeface="Arimo" pitchFamily="34" charset="0"/>
                <a:ea typeface="Arimo" pitchFamily="34" charset="-122"/>
                <a:cs typeface="Arimo" pitchFamily="34" charset="-120"/>
              </a:rPr>
              <a:t>Beyond defined roles, today's session saw every team member make a focused, tangible contribution that moved the project forward — from design and code to coordination and communication.</a:t>
            </a:r>
            <a:endParaRPr lang="en-US" sz="800" dirty="0"/>
          </a:p>
        </p:txBody>
      </p:sp>
      <p:sp>
        <p:nvSpPr>
          <p:cNvPr id="7" name="Shape 4"/>
          <p:cNvSpPr/>
          <p:nvPr/>
        </p:nvSpPr>
        <p:spPr>
          <a:xfrm>
            <a:off x="426393" y="1570806"/>
            <a:ext cx="4099768" cy="925934"/>
          </a:xfrm>
          <a:prstGeom prst="roundRect">
            <a:avLst>
              <a:gd name="adj" fmla="val 7407"/>
            </a:avLst>
          </a:prstGeom>
          <a:solidFill>
            <a:srgbClr val="FAFAFA">
              <a:alpha val="95000"/>
            </a:srgbClr>
          </a:solidFill>
          <a:ln w="14288">
            <a:solidFill>
              <a:srgbClr val="BDB8DF"/>
            </a:solidFill>
            <a:prstDash val="solid"/>
          </a:ln>
        </p:spPr>
        <p:txBody>
          <a:bodyPr/>
          <a:lstStyle/>
          <a:p>
            <a:endParaRPr lang="en-GB"/>
          </a:p>
        </p:txBody>
      </p:sp>
      <p:sp>
        <p:nvSpPr>
          <p:cNvPr id="8" name="Shape 5"/>
          <p:cNvSpPr/>
          <p:nvPr/>
        </p:nvSpPr>
        <p:spPr>
          <a:xfrm>
            <a:off x="426393" y="1556519"/>
            <a:ext cx="4099768" cy="57150"/>
          </a:xfrm>
          <a:prstGeom prst="roundRect">
            <a:avLst>
              <a:gd name="adj" fmla="val 78343"/>
            </a:avLst>
          </a:prstGeom>
          <a:solidFill>
            <a:srgbClr val="5E4CE6"/>
          </a:solidFill>
          <a:ln/>
        </p:spPr>
        <p:txBody>
          <a:bodyPr/>
          <a:lstStyle/>
          <a:p>
            <a:endParaRPr lang="en-GB"/>
          </a:p>
        </p:txBody>
      </p:sp>
      <p:sp>
        <p:nvSpPr>
          <p:cNvPr id="9" name="Shape 6"/>
          <p:cNvSpPr/>
          <p:nvPr/>
        </p:nvSpPr>
        <p:spPr>
          <a:xfrm>
            <a:off x="2316398" y="1410965"/>
            <a:ext cx="319757" cy="319757"/>
          </a:xfrm>
          <a:prstGeom prst="roundRect">
            <a:avLst>
              <a:gd name="adj" fmla="val 178729"/>
            </a:avLst>
          </a:prstGeom>
          <a:solidFill>
            <a:srgbClr val="5E4CE6"/>
          </a:solidFill>
          <a:ln/>
        </p:spPr>
        <p:txBody>
          <a:bodyPr/>
          <a:lstStyle/>
          <a:p>
            <a:endParaRPr lang="en-GB"/>
          </a:p>
        </p:txBody>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12318" y="1506810"/>
            <a:ext cx="127918" cy="127918"/>
          </a:xfrm>
          <a:prstGeom prst="rect">
            <a:avLst/>
          </a:prstGeom>
        </p:spPr>
      </p:pic>
      <p:sp>
        <p:nvSpPr>
          <p:cNvPr id="11" name="Text 7"/>
          <p:cNvSpPr/>
          <p:nvPr/>
        </p:nvSpPr>
        <p:spPr>
          <a:xfrm>
            <a:off x="547241" y="1837283"/>
            <a:ext cx="1332458" cy="166539"/>
          </a:xfrm>
          <a:prstGeom prst="rect">
            <a:avLst/>
          </a:prstGeom>
          <a:noFill/>
          <a:ln/>
        </p:spPr>
        <p:txBody>
          <a:bodyPr wrap="none" lIns="0" tIns="0" rIns="0" bIns="0" rtlCol="0" anchor="t"/>
          <a:lstStyle/>
          <a:p>
            <a:pPr marL="0" indent="0" algn="l">
              <a:lnSpc>
                <a:spcPct val="104000"/>
              </a:lnSpc>
              <a:buNone/>
            </a:pPr>
            <a:r>
              <a:rPr lang="en-US" sz="1000" dirty="0">
                <a:solidFill>
                  <a:srgbClr val="2A2742"/>
                </a:solidFill>
                <a:latin typeface="Outfit ExtraBold" pitchFamily="34" charset="0"/>
                <a:ea typeface="Outfit ExtraBold" pitchFamily="34" charset="-122"/>
                <a:cs typeface="Outfit ExtraBold" pitchFamily="34" charset="-120"/>
              </a:rPr>
              <a:t>Shalu Thamang</a:t>
            </a:r>
            <a:endParaRPr lang="en-US" sz="1000" dirty="0"/>
          </a:p>
        </p:txBody>
      </p:sp>
      <p:sp>
        <p:nvSpPr>
          <p:cNvPr id="12" name="Text 8"/>
          <p:cNvSpPr/>
          <p:nvPr/>
        </p:nvSpPr>
        <p:spPr>
          <a:xfrm>
            <a:off x="547241" y="2058739"/>
            <a:ext cx="3858071" cy="317153"/>
          </a:xfrm>
          <a:prstGeom prst="rect">
            <a:avLst/>
          </a:prstGeom>
          <a:noFill/>
          <a:ln/>
        </p:spPr>
        <p:txBody>
          <a:bodyPr wrap="square" lIns="0" tIns="0" rIns="0" bIns="0" rtlCol="0" anchor="t">
            <a:normAutofit/>
          </a:bodyPr>
          <a:lstStyle/>
          <a:p>
            <a:pPr marL="0" indent="0" algn="l">
              <a:lnSpc>
                <a:spcPct val="124000"/>
              </a:lnSpc>
              <a:buNone/>
            </a:pPr>
            <a:r>
              <a:rPr lang="en-US" sz="800" dirty="0">
                <a:solidFill>
                  <a:srgbClr val="2A2742"/>
                </a:solidFill>
                <a:latin typeface="Arimo" pitchFamily="34" charset="0"/>
                <a:ea typeface="Arimo" pitchFamily="34" charset="-122"/>
                <a:cs typeface="Arimo" pitchFamily="34" charset="-120"/>
              </a:rPr>
              <a:t>Assigned team roles, finalised meeting agendas, and confirmed all key decisions as Group Leader.</a:t>
            </a:r>
            <a:endParaRPr lang="en-US" sz="800" dirty="0"/>
          </a:p>
        </p:txBody>
      </p:sp>
      <p:sp>
        <p:nvSpPr>
          <p:cNvPr id="13" name="Shape 9"/>
          <p:cNvSpPr/>
          <p:nvPr/>
        </p:nvSpPr>
        <p:spPr>
          <a:xfrm>
            <a:off x="4617765" y="1570806"/>
            <a:ext cx="4099843" cy="925934"/>
          </a:xfrm>
          <a:prstGeom prst="roundRect">
            <a:avLst>
              <a:gd name="adj" fmla="val 7407"/>
            </a:avLst>
          </a:prstGeom>
          <a:solidFill>
            <a:srgbClr val="FAFAFA">
              <a:alpha val="95000"/>
            </a:srgbClr>
          </a:solidFill>
          <a:ln w="14288">
            <a:solidFill>
              <a:srgbClr val="BDB8DF"/>
            </a:solidFill>
            <a:prstDash val="solid"/>
          </a:ln>
        </p:spPr>
        <p:txBody>
          <a:bodyPr/>
          <a:lstStyle/>
          <a:p>
            <a:endParaRPr lang="en-GB"/>
          </a:p>
        </p:txBody>
      </p:sp>
      <p:sp>
        <p:nvSpPr>
          <p:cNvPr id="14" name="Shape 10"/>
          <p:cNvSpPr/>
          <p:nvPr/>
        </p:nvSpPr>
        <p:spPr>
          <a:xfrm>
            <a:off x="4617765" y="1556519"/>
            <a:ext cx="4099843" cy="57150"/>
          </a:xfrm>
          <a:prstGeom prst="roundRect">
            <a:avLst>
              <a:gd name="adj" fmla="val 78343"/>
            </a:avLst>
          </a:prstGeom>
          <a:solidFill>
            <a:srgbClr val="5E4CE6"/>
          </a:solidFill>
          <a:ln/>
        </p:spPr>
        <p:txBody>
          <a:bodyPr/>
          <a:lstStyle/>
          <a:p>
            <a:endParaRPr lang="en-GB"/>
          </a:p>
        </p:txBody>
      </p:sp>
      <p:sp>
        <p:nvSpPr>
          <p:cNvPr id="15" name="Shape 11"/>
          <p:cNvSpPr/>
          <p:nvPr/>
        </p:nvSpPr>
        <p:spPr>
          <a:xfrm>
            <a:off x="6507770" y="1410965"/>
            <a:ext cx="319757" cy="319757"/>
          </a:xfrm>
          <a:prstGeom prst="roundRect">
            <a:avLst>
              <a:gd name="adj" fmla="val 178729"/>
            </a:avLst>
          </a:prstGeom>
          <a:solidFill>
            <a:srgbClr val="5E4CE6"/>
          </a:solidFill>
          <a:ln/>
        </p:spPr>
        <p:txBody>
          <a:bodyPr/>
          <a:lstStyle/>
          <a:p>
            <a:endParaRPr lang="en-GB"/>
          </a:p>
        </p:txBody>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03690" y="1506810"/>
            <a:ext cx="127918" cy="127918"/>
          </a:xfrm>
          <a:prstGeom prst="rect">
            <a:avLst/>
          </a:prstGeom>
        </p:spPr>
      </p:pic>
      <p:sp>
        <p:nvSpPr>
          <p:cNvPr id="17" name="Text 12"/>
          <p:cNvSpPr/>
          <p:nvPr/>
        </p:nvSpPr>
        <p:spPr>
          <a:xfrm>
            <a:off x="4738613" y="1837283"/>
            <a:ext cx="1332458" cy="166539"/>
          </a:xfrm>
          <a:prstGeom prst="rect">
            <a:avLst/>
          </a:prstGeom>
          <a:noFill/>
          <a:ln/>
        </p:spPr>
        <p:txBody>
          <a:bodyPr wrap="none" lIns="0" tIns="0" rIns="0" bIns="0" rtlCol="0" anchor="t"/>
          <a:lstStyle/>
          <a:p>
            <a:pPr marL="0" indent="0" algn="l">
              <a:lnSpc>
                <a:spcPct val="104000"/>
              </a:lnSpc>
              <a:buNone/>
            </a:pPr>
            <a:r>
              <a:rPr lang="en-US" sz="1000" dirty="0">
                <a:solidFill>
                  <a:srgbClr val="2A2742"/>
                </a:solidFill>
                <a:latin typeface="Outfit ExtraBold" pitchFamily="34" charset="0"/>
                <a:ea typeface="Outfit ExtraBold" pitchFamily="34" charset="-122"/>
                <a:cs typeface="Outfit ExtraBold" pitchFamily="34" charset="-120"/>
              </a:rPr>
              <a:t>Amrit Sharma</a:t>
            </a:r>
            <a:endParaRPr lang="en-US" sz="1000" dirty="0"/>
          </a:p>
        </p:txBody>
      </p:sp>
      <p:sp>
        <p:nvSpPr>
          <p:cNvPr id="18" name="Text 13"/>
          <p:cNvSpPr/>
          <p:nvPr/>
        </p:nvSpPr>
        <p:spPr>
          <a:xfrm>
            <a:off x="4738613" y="2058739"/>
            <a:ext cx="3858146" cy="317153"/>
          </a:xfrm>
          <a:prstGeom prst="rect">
            <a:avLst/>
          </a:prstGeom>
          <a:noFill/>
          <a:ln/>
        </p:spPr>
        <p:txBody>
          <a:bodyPr wrap="square" lIns="0" tIns="0" rIns="0" bIns="0" rtlCol="0" anchor="t">
            <a:normAutofit/>
          </a:bodyPr>
          <a:lstStyle/>
          <a:p>
            <a:pPr marL="0" indent="0" algn="l">
              <a:lnSpc>
                <a:spcPct val="124000"/>
              </a:lnSpc>
              <a:buNone/>
            </a:pPr>
            <a:r>
              <a:rPr lang="en-US" sz="800" dirty="0">
                <a:solidFill>
                  <a:srgbClr val="2A2742"/>
                </a:solidFill>
                <a:latin typeface="Arimo" pitchFamily="34" charset="0"/>
                <a:ea typeface="Arimo" pitchFamily="34" charset="-122"/>
                <a:cs typeface="Arimo" pitchFamily="34" charset="-120"/>
              </a:rPr>
              <a:t>Updated the GitHub repository and README, and conducted a detailed review of current game visuals.</a:t>
            </a:r>
            <a:endParaRPr lang="en-US" sz="800" dirty="0"/>
          </a:p>
        </p:txBody>
      </p:sp>
      <p:sp>
        <p:nvSpPr>
          <p:cNvPr id="19" name="Shape 14"/>
          <p:cNvSpPr/>
          <p:nvPr/>
        </p:nvSpPr>
        <p:spPr>
          <a:xfrm>
            <a:off x="426393" y="2748186"/>
            <a:ext cx="4099768" cy="925934"/>
          </a:xfrm>
          <a:prstGeom prst="roundRect">
            <a:avLst>
              <a:gd name="adj" fmla="val 7407"/>
            </a:avLst>
          </a:prstGeom>
          <a:solidFill>
            <a:srgbClr val="FAFAFA">
              <a:alpha val="95000"/>
            </a:srgbClr>
          </a:solidFill>
          <a:ln w="14288">
            <a:solidFill>
              <a:srgbClr val="BDB8DF"/>
            </a:solidFill>
            <a:prstDash val="solid"/>
          </a:ln>
        </p:spPr>
        <p:txBody>
          <a:bodyPr/>
          <a:lstStyle/>
          <a:p>
            <a:endParaRPr lang="en-GB"/>
          </a:p>
        </p:txBody>
      </p:sp>
      <p:sp>
        <p:nvSpPr>
          <p:cNvPr id="20" name="Shape 15"/>
          <p:cNvSpPr/>
          <p:nvPr/>
        </p:nvSpPr>
        <p:spPr>
          <a:xfrm>
            <a:off x="426393" y="2733898"/>
            <a:ext cx="4099768" cy="57150"/>
          </a:xfrm>
          <a:prstGeom prst="roundRect">
            <a:avLst>
              <a:gd name="adj" fmla="val 78343"/>
            </a:avLst>
          </a:prstGeom>
          <a:solidFill>
            <a:srgbClr val="5E4CE6"/>
          </a:solidFill>
          <a:ln/>
        </p:spPr>
        <p:txBody>
          <a:bodyPr/>
          <a:lstStyle/>
          <a:p>
            <a:endParaRPr lang="en-GB"/>
          </a:p>
        </p:txBody>
      </p:sp>
      <p:sp>
        <p:nvSpPr>
          <p:cNvPr id="21" name="Shape 16"/>
          <p:cNvSpPr/>
          <p:nvPr/>
        </p:nvSpPr>
        <p:spPr>
          <a:xfrm>
            <a:off x="2316398" y="2588344"/>
            <a:ext cx="319757" cy="319757"/>
          </a:xfrm>
          <a:prstGeom prst="roundRect">
            <a:avLst>
              <a:gd name="adj" fmla="val 178729"/>
            </a:avLst>
          </a:prstGeom>
          <a:solidFill>
            <a:srgbClr val="5E4CE6"/>
          </a:solidFill>
          <a:ln/>
        </p:spPr>
        <p:txBody>
          <a:bodyPr/>
          <a:lstStyle/>
          <a:p>
            <a:endParaRPr lang="en-GB"/>
          </a:p>
        </p:txBody>
      </p:sp>
      <p:pic>
        <p:nvPicPr>
          <p:cNvPr id="2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412318" y="2684190"/>
            <a:ext cx="127918" cy="127918"/>
          </a:xfrm>
          <a:prstGeom prst="rect">
            <a:avLst/>
          </a:prstGeom>
        </p:spPr>
      </p:pic>
      <p:sp>
        <p:nvSpPr>
          <p:cNvPr id="23" name="Text 17"/>
          <p:cNvSpPr/>
          <p:nvPr/>
        </p:nvSpPr>
        <p:spPr>
          <a:xfrm>
            <a:off x="547241" y="3014663"/>
            <a:ext cx="1332458" cy="166539"/>
          </a:xfrm>
          <a:prstGeom prst="rect">
            <a:avLst/>
          </a:prstGeom>
          <a:noFill/>
          <a:ln/>
        </p:spPr>
        <p:txBody>
          <a:bodyPr wrap="none" lIns="0" tIns="0" rIns="0" bIns="0" rtlCol="0" anchor="t"/>
          <a:lstStyle/>
          <a:p>
            <a:pPr marL="0" indent="0" algn="l">
              <a:lnSpc>
                <a:spcPct val="104000"/>
              </a:lnSpc>
              <a:buNone/>
            </a:pPr>
            <a:r>
              <a:rPr lang="en-US" sz="1000" dirty="0">
                <a:solidFill>
                  <a:srgbClr val="2A2742"/>
                </a:solidFill>
                <a:latin typeface="Outfit ExtraBold" pitchFamily="34" charset="0"/>
                <a:ea typeface="Outfit ExtraBold" pitchFamily="34" charset="-122"/>
                <a:cs typeface="Outfit ExtraBold" pitchFamily="34" charset="-120"/>
              </a:rPr>
              <a:t>Prajwal Shahi</a:t>
            </a:r>
            <a:endParaRPr lang="en-US" sz="1000" dirty="0"/>
          </a:p>
        </p:txBody>
      </p:sp>
      <p:sp>
        <p:nvSpPr>
          <p:cNvPr id="24" name="Text 18"/>
          <p:cNvSpPr/>
          <p:nvPr/>
        </p:nvSpPr>
        <p:spPr>
          <a:xfrm>
            <a:off x="547241" y="3236119"/>
            <a:ext cx="3858071" cy="317153"/>
          </a:xfrm>
          <a:prstGeom prst="rect">
            <a:avLst/>
          </a:prstGeom>
          <a:noFill/>
          <a:ln/>
        </p:spPr>
        <p:txBody>
          <a:bodyPr wrap="square" lIns="0" tIns="0" rIns="0" bIns="0" rtlCol="0" anchor="t">
            <a:normAutofit/>
          </a:bodyPr>
          <a:lstStyle/>
          <a:p>
            <a:pPr marL="0" indent="0" algn="l">
              <a:lnSpc>
                <a:spcPct val="124000"/>
              </a:lnSpc>
              <a:buNone/>
            </a:pPr>
            <a:r>
              <a:rPr lang="en-US" sz="800" dirty="0">
                <a:solidFill>
                  <a:srgbClr val="2A2742"/>
                </a:solidFill>
                <a:latin typeface="Arimo" pitchFamily="34" charset="0"/>
                <a:ea typeface="Arimo" pitchFamily="34" charset="-122"/>
                <a:cs typeface="Arimo" pitchFamily="34" charset="-120"/>
              </a:rPr>
              <a:t>Transformed the storyboard into a full visual game representation — bringing the concept to life visually.</a:t>
            </a:r>
            <a:endParaRPr lang="en-US" sz="800" dirty="0"/>
          </a:p>
        </p:txBody>
      </p:sp>
      <p:sp>
        <p:nvSpPr>
          <p:cNvPr id="25" name="Shape 19"/>
          <p:cNvSpPr/>
          <p:nvPr/>
        </p:nvSpPr>
        <p:spPr>
          <a:xfrm>
            <a:off x="4617765" y="2748186"/>
            <a:ext cx="4099843" cy="925934"/>
          </a:xfrm>
          <a:prstGeom prst="roundRect">
            <a:avLst>
              <a:gd name="adj" fmla="val 7407"/>
            </a:avLst>
          </a:prstGeom>
          <a:solidFill>
            <a:srgbClr val="FAFAFA">
              <a:alpha val="95000"/>
            </a:srgbClr>
          </a:solidFill>
          <a:ln w="14288">
            <a:solidFill>
              <a:srgbClr val="BDB8DF"/>
            </a:solidFill>
            <a:prstDash val="solid"/>
          </a:ln>
        </p:spPr>
        <p:txBody>
          <a:bodyPr/>
          <a:lstStyle/>
          <a:p>
            <a:endParaRPr lang="en-GB"/>
          </a:p>
        </p:txBody>
      </p:sp>
      <p:sp>
        <p:nvSpPr>
          <p:cNvPr id="26" name="Shape 20"/>
          <p:cNvSpPr/>
          <p:nvPr/>
        </p:nvSpPr>
        <p:spPr>
          <a:xfrm>
            <a:off x="4617765" y="2733898"/>
            <a:ext cx="4099843" cy="57150"/>
          </a:xfrm>
          <a:prstGeom prst="roundRect">
            <a:avLst>
              <a:gd name="adj" fmla="val 78343"/>
            </a:avLst>
          </a:prstGeom>
          <a:solidFill>
            <a:srgbClr val="5E4CE6"/>
          </a:solidFill>
          <a:ln/>
        </p:spPr>
        <p:txBody>
          <a:bodyPr/>
          <a:lstStyle/>
          <a:p>
            <a:endParaRPr lang="en-GB"/>
          </a:p>
        </p:txBody>
      </p:sp>
      <p:sp>
        <p:nvSpPr>
          <p:cNvPr id="27" name="Shape 21"/>
          <p:cNvSpPr/>
          <p:nvPr/>
        </p:nvSpPr>
        <p:spPr>
          <a:xfrm>
            <a:off x="6507770" y="2588344"/>
            <a:ext cx="319757" cy="319757"/>
          </a:xfrm>
          <a:prstGeom prst="roundRect">
            <a:avLst>
              <a:gd name="adj" fmla="val 178729"/>
            </a:avLst>
          </a:prstGeom>
          <a:solidFill>
            <a:srgbClr val="5E4CE6"/>
          </a:solidFill>
          <a:ln/>
        </p:spPr>
        <p:txBody>
          <a:bodyPr/>
          <a:lstStyle/>
          <a:p>
            <a:endParaRPr lang="en-GB"/>
          </a:p>
        </p:txBody>
      </p:sp>
      <p:pic>
        <p:nvPicPr>
          <p:cNvPr id="28"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603690" y="2684190"/>
            <a:ext cx="127918" cy="127918"/>
          </a:xfrm>
          <a:prstGeom prst="rect">
            <a:avLst/>
          </a:prstGeom>
        </p:spPr>
      </p:pic>
      <p:sp>
        <p:nvSpPr>
          <p:cNvPr id="29" name="Text 22"/>
          <p:cNvSpPr/>
          <p:nvPr/>
        </p:nvSpPr>
        <p:spPr>
          <a:xfrm>
            <a:off x="4738613" y="3014663"/>
            <a:ext cx="1332458" cy="166539"/>
          </a:xfrm>
          <a:prstGeom prst="rect">
            <a:avLst/>
          </a:prstGeom>
          <a:noFill/>
          <a:ln/>
        </p:spPr>
        <p:txBody>
          <a:bodyPr wrap="none" lIns="0" tIns="0" rIns="0" bIns="0" rtlCol="0" anchor="t"/>
          <a:lstStyle/>
          <a:p>
            <a:pPr marL="0" indent="0" algn="l">
              <a:lnSpc>
                <a:spcPct val="104000"/>
              </a:lnSpc>
              <a:buNone/>
            </a:pPr>
            <a:r>
              <a:rPr lang="en-US" sz="1000" dirty="0">
                <a:solidFill>
                  <a:srgbClr val="2A2742"/>
                </a:solidFill>
                <a:latin typeface="Outfit ExtraBold" pitchFamily="34" charset="0"/>
                <a:ea typeface="Outfit ExtraBold" pitchFamily="34" charset="-122"/>
                <a:cs typeface="Outfit ExtraBold" pitchFamily="34" charset="-120"/>
              </a:rPr>
              <a:t>Manish Thapa</a:t>
            </a:r>
            <a:endParaRPr lang="en-US" sz="1000" dirty="0"/>
          </a:p>
        </p:txBody>
      </p:sp>
      <p:sp>
        <p:nvSpPr>
          <p:cNvPr id="30" name="Text 23"/>
          <p:cNvSpPr/>
          <p:nvPr/>
        </p:nvSpPr>
        <p:spPr>
          <a:xfrm>
            <a:off x="4738613" y="3236119"/>
            <a:ext cx="3858146" cy="317153"/>
          </a:xfrm>
          <a:prstGeom prst="rect">
            <a:avLst/>
          </a:prstGeom>
          <a:noFill/>
          <a:ln/>
        </p:spPr>
        <p:txBody>
          <a:bodyPr wrap="square" lIns="0" tIns="0" rIns="0" bIns="0" rtlCol="0" anchor="t">
            <a:normAutofit/>
          </a:bodyPr>
          <a:lstStyle/>
          <a:p>
            <a:pPr marL="0" indent="0" algn="l">
              <a:lnSpc>
                <a:spcPct val="124000"/>
              </a:lnSpc>
              <a:buNone/>
            </a:pPr>
            <a:r>
              <a:rPr lang="en-US" sz="800" dirty="0">
                <a:solidFill>
                  <a:srgbClr val="2A2742"/>
                </a:solidFill>
                <a:latin typeface="Arimo" pitchFamily="34" charset="0"/>
                <a:ea typeface="Arimo" pitchFamily="34" charset="-122"/>
                <a:cs typeface="Arimo" pitchFamily="34" charset="-120"/>
              </a:rPr>
              <a:t>Created the presentation outline and managed timekeeping during today's meeting session.</a:t>
            </a:r>
            <a:endParaRPr lang="en-US" sz="800" dirty="0"/>
          </a:p>
        </p:txBody>
      </p:sp>
      <p:sp>
        <p:nvSpPr>
          <p:cNvPr id="31" name="Shape 24"/>
          <p:cNvSpPr/>
          <p:nvPr/>
        </p:nvSpPr>
        <p:spPr>
          <a:xfrm>
            <a:off x="426393" y="3925565"/>
            <a:ext cx="4099768" cy="925934"/>
          </a:xfrm>
          <a:prstGeom prst="roundRect">
            <a:avLst>
              <a:gd name="adj" fmla="val 7407"/>
            </a:avLst>
          </a:prstGeom>
          <a:solidFill>
            <a:srgbClr val="FAFAFA">
              <a:alpha val="95000"/>
            </a:srgbClr>
          </a:solidFill>
          <a:ln w="14288">
            <a:solidFill>
              <a:srgbClr val="BDB8DF"/>
            </a:solidFill>
            <a:prstDash val="solid"/>
          </a:ln>
        </p:spPr>
        <p:txBody>
          <a:bodyPr/>
          <a:lstStyle/>
          <a:p>
            <a:endParaRPr lang="en-GB"/>
          </a:p>
        </p:txBody>
      </p:sp>
      <p:sp>
        <p:nvSpPr>
          <p:cNvPr id="32" name="Shape 25"/>
          <p:cNvSpPr/>
          <p:nvPr/>
        </p:nvSpPr>
        <p:spPr>
          <a:xfrm>
            <a:off x="426393" y="3911278"/>
            <a:ext cx="4099768" cy="57150"/>
          </a:xfrm>
          <a:prstGeom prst="roundRect">
            <a:avLst>
              <a:gd name="adj" fmla="val 78343"/>
            </a:avLst>
          </a:prstGeom>
          <a:solidFill>
            <a:srgbClr val="5E4CE6"/>
          </a:solidFill>
          <a:ln/>
        </p:spPr>
        <p:txBody>
          <a:bodyPr/>
          <a:lstStyle/>
          <a:p>
            <a:endParaRPr lang="en-GB"/>
          </a:p>
        </p:txBody>
      </p:sp>
      <p:sp>
        <p:nvSpPr>
          <p:cNvPr id="33" name="Shape 26"/>
          <p:cNvSpPr/>
          <p:nvPr/>
        </p:nvSpPr>
        <p:spPr>
          <a:xfrm>
            <a:off x="2316398" y="3765724"/>
            <a:ext cx="319757" cy="319757"/>
          </a:xfrm>
          <a:prstGeom prst="roundRect">
            <a:avLst>
              <a:gd name="adj" fmla="val 178729"/>
            </a:avLst>
          </a:prstGeom>
          <a:solidFill>
            <a:srgbClr val="5E4CE6"/>
          </a:solidFill>
          <a:ln/>
        </p:spPr>
        <p:txBody>
          <a:bodyPr/>
          <a:lstStyle/>
          <a:p>
            <a:endParaRPr lang="en-GB"/>
          </a:p>
        </p:txBody>
      </p:sp>
      <p:pic>
        <p:nvPicPr>
          <p:cNvPr id="34"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412318" y="3861569"/>
            <a:ext cx="127918" cy="127918"/>
          </a:xfrm>
          <a:prstGeom prst="rect">
            <a:avLst/>
          </a:prstGeom>
        </p:spPr>
      </p:pic>
      <p:sp>
        <p:nvSpPr>
          <p:cNvPr id="35" name="Text 27"/>
          <p:cNvSpPr/>
          <p:nvPr/>
        </p:nvSpPr>
        <p:spPr>
          <a:xfrm>
            <a:off x="547241" y="4192042"/>
            <a:ext cx="1332458" cy="166539"/>
          </a:xfrm>
          <a:prstGeom prst="rect">
            <a:avLst/>
          </a:prstGeom>
          <a:noFill/>
          <a:ln/>
        </p:spPr>
        <p:txBody>
          <a:bodyPr wrap="none" lIns="0" tIns="0" rIns="0" bIns="0" rtlCol="0" anchor="t"/>
          <a:lstStyle/>
          <a:p>
            <a:pPr marL="0" indent="0" algn="l">
              <a:lnSpc>
                <a:spcPct val="104000"/>
              </a:lnSpc>
              <a:buNone/>
            </a:pPr>
            <a:r>
              <a:rPr lang="en-US" sz="1000" dirty="0">
                <a:solidFill>
                  <a:srgbClr val="2A2742"/>
                </a:solidFill>
                <a:latin typeface="Outfit ExtraBold" pitchFamily="34" charset="0"/>
                <a:ea typeface="Outfit ExtraBold" pitchFamily="34" charset="-122"/>
                <a:cs typeface="Outfit ExtraBold" pitchFamily="34" charset="-120"/>
              </a:rPr>
              <a:t>Sujal Pathak</a:t>
            </a:r>
            <a:endParaRPr lang="en-US" sz="1000" dirty="0"/>
          </a:p>
        </p:txBody>
      </p:sp>
      <p:sp>
        <p:nvSpPr>
          <p:cNvPr id="36" name="Text 28"/>
          <p:cNvSpPr/>
          <p:nvPr/>
        </p:nvSpPr>
        <p:spPr>
          <a:xfrm>
            <a:off x="547241" y="4413498"/>
            <a:ext cx="3858071" cy="317153"/>
          </a:xfrm>
          <a:prstGeom prst="rect">
            <a:avLst/>
          </a:prstGeom>
          <a:noFill/>
          <a:ln/>
        </p:spPr>
        <p:txBody>
          <a:bodyPr wrap="square" lIns="0" tIns="0" rIns="0" bIns="0" rtlCol="0" anchor="t">
            <a:normAutofit/>
          </a:bodyPr>
          <a:lstStyle/>
          <a:p>
            <a:pPr marL="0" indent="0" algn="l">
              <a:lnSpc>
                <a:spcPct val="124000"/>
              </a:lnSpc>
              <a:buNone/>
            </a:pPr>
            <a:r>
              <a:rPr lang="en-US" sz="800" dirty="0">
                <a:solidFill>
                  <a:srgbClr val="2A2742"/>
                </a:solidFill>
                <a:latin typeface="Arimo" pitchFamily="34" charset="0"/>
                <a:ea typeface="Arimo" pitchFamily="34" charset="-122"/>
                <a:cs typeface="Arimo" pitchFamily="34" charset="-120"/>
              </a:rPr>
              <a:t>Organised team meetings and ensured clear, consistent communication across all members.</a:t>
            </a:r>
            <a:endParaRPr lang="en-US" sz="800" dirty="0"/>
          </a:p>
        </p:txBody>
      </p:sp>
      <p:pic>
        <p:nvPicPr>
          <p:cNvPr id="40"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603690" y="3861569"/>
            <a:ext cx="127918" cy="12791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96119" y="735881"/>
            <a:ext cx="958974" cy="233214"/>
          </a:xfrm>
          <a:prstGeom prst="roundRect">
            <a:avLst>
              <a:gd name="adj" fmla="val 17872"/>
            </a:avLst>
          </a:prstGeom>
          <a:solidFill>
            <a:srgbClr val="D7D2F9"/>
          </a:solidFill>
          <a:ln/>
        </p:spPr>
        <p:txBody>
          <a:bodyPr/>
          <a:lstStyle/>
          <a:p>
            <a:endParaRPr lang="en-GB"/>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70533" y="802853"/>
            <a:ext cx="99194" cy="99194"/>
          </a:xfrm>
          <a:prstGeom prst="rect">
            <a:avLst/>
          </a:prstGeom>
        </p:spPr>
      </p:pic>
      <p:sp>
        <p:nvSpPr>
          <p:cNvPr id="4" name="Text 1"/>
          <p:cNvSpPr/>
          <p:nvPr/>
        </p:nvSpPr>
        <p:spPr>
          <a:xfrm>
            <a:off x="719286" y="773088"/>
            <a:ext cx="1118592" cy="158800"/>
          </a:xfrm>
          <a:prstGeom prst="rect">
            <a:avLst/>
          </a:prstGeom>
          <a:noFill/>
          <a:ln/>
        </p:spPr>
        <p:txBody>
          <a:bodyPr wrap="none" lIns="0" tIns="0" rIns="0" bIns="0" rtlCol="0" anchor="t"/>
          <a:lstStyle/>
          <a:p>
            <a:pPr marL="0" indent="0" algn="l">
              <a:lnSpc>
                <a:spcPct val="133000"/>
              </a:lnSpc>
              <a:buNone/>
            </a:pPr>
            <a:r>
              <a:rPr lang="en-US" sz="750" dirty="0">
                <a:solidFill>
                  <a:srgbClr val="2A2742"/>
                </a:solidFill>
                <a:latin typeface="Arimo" pitchFamily="34" charset="0"/>
                <a:ea typeface="Arimo" pitchFamily="34" charset="-122"/>
                <a:cs typeface="Arimo" pitchFamily="34" charset="-120"/>
              </a:rPr>
              <a:t>CONCLUSION</a:t>
            </a:r>
            <a:endParaRPr lang="en-US" sz="750" dirty="0"/>
          </a:p>
        </p:txBody>
      </p:sp>
      <p:sp>
        <p:nvSpPr>
          <p:cNvPr id="5" name="Text 2"/>
          <p:cNvSpPr/>
          <p:nvPr/>
        </p:nvSpPr>
        <p:spPr>
          <a:xfrm>
            <a:off x="496119" y="1018654"/>
            <a:ext cx="6333604" cy="387548"/>
          </a:xfrm>
          <a:prstGeom prst="rect">
            <a:avLst/>
          </a:prstGeom>
          <a:noFill/>
          <a:ln/>
        </p:spPr>
        <p:txBody>
          <a:bodyPr wrap="none" lIns="0" tIns="0" rIns="0" bIns="0" rtlCol="0" anchor="t"/>
          <a:lstStyle/>
          <a:p>
            <a:pPr marL="0" indent="0" algn="l">
              <a:lnSpc>
                <a:spcPct val="104000"/>
              </a:lnSpc>
              <a:buNone/>
            </a:pPr>
            <a:r>
              <a:rPr lang="en-US" sz="2400" dirty="0">
                <a:solidFill>
                  <a:srgbClr val="231971"/>
                </a:solidFill>
                <a:latin typeface="Outfit ExtraBold" pitchFamily="34" charset="0"/>
                <a:ea typeface="Outfit ExtraBold" pitchFamily="34" charset="-122"/>
                <a:cs typeface="Outfit ExtraBold" pitchFamily="34" charset="-120"/>
              </a:rPr>
              <a:t>Where We Are — and Where We're Going</a:t>
            </a:r>
            <a:endParaRPr lang="en-US" sz="2400" dirty="0"/>
          </a:p>
        </p:txBody>
      </p:sp>
      <p:sp>
        <p:nvSpPr>
          <p:cNvPr id="6" name="Text 3"/>
          <p:cNvSpPr/>
          <p:nvPr/>
        </p:nvSpPr>
        <p:spPr>
          <a:xfrm>
            <a:off x="496119" y="1592238"/>
            <a:ext cx="815176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A2742"/>
                </a:solidFill>
                <a:latin typeface="Arimo" pitchFamily="34" charset="0"/>
                <a:ea typeface="Arimo" pitchFamily="34" charset="-122"/>
                <a:cs typeface="Arimo" pitchFamily="34" charset="-120"/>
              </a:rPr>
              <a:t>In a short time, our team has moved from idea to functional prototype, demonstrating both technical capability and strong collaborative practice. </a:t>
            </a:r>
            <a:r>
              <a:rPr lang="en-US" sz="950" b="1" dirty="0">
                <a:solidFill>
                  <a:srgbClr val="2A2742"/>
                </a:solidFill>
                <a:latin typeface="Arimo" pitchFamily="34" charset="0"/>
                <a:ea typeface="Arimo" pitchFamily="34" charset="-122"/>
                <a:cs typeface="Arimo" pitchFamily="34" charset="-120"/>
              </a:rPr>
              <a:t>Everyday Dilemma</a:t>
            </a:r>
            <a:r>
              <a:rPr lang="en-US" sz="950" dirty="0">
                <a:solidFill>
                  <a:srgbClr val="2A2742"/>
                </a:solidFill>
                <a:latin typeface="Arimo" pitchFamily="34" charset="0"/>
                <a:ea typeface="Arimo" pitchFamily="34" charset="-122"/>
                <a:cs typeface="Arimo" pitchFamily="34" charset="-120"/>
              </a:rPr>
              <a:t> is on track to become a polished, impactful learning tool for the students who need it most.</a:t>
            </a:r>
            <a:endParaRPr lang="en-US" sz="950" dirty="0"/>
          </a:p>
        </p:txBody>
      </p:sp>
      <p:sp>
        <p:nvSpPr>
          <p:cNvPr id="7" name="Shape 4"/>
          <p:cNvSpPr/>
          <p:nvPr/>
        </p:nvSpPr>
        <p:spPr>
          <a:xfrm>
            <a:off x="406822" y="2128689"/>
            <a:ext cx="4103191" cy="1413942"/>
          </a:xfrm>
          <a:prstGeom prst="roundRect">
            <a:avLst>
              <a:gd name="adj" fmla="val 6317"/>
            </a:avLst>
          </a:prstGeom>
          <a:solidFill>
            <a:srgbClr val="5E4CE6">
              <a:alpha val="95000"/>
            </a:srgbClr>
          </a:solidFill>
          <a:ln/>
        </p:spPr>
        <p:txBody>
          <a:bodyPr/>
          <a:lstStyle/>
          <a:p>
            <a:endParaRPr lang="en-GB"/>
          </a:p>
        </p:txBody>
      </p:sp>
      <p:sp>
        <p:nvSpPr>
          <p:cNvPr id="8" name="Text 5"/>
          <p:cNvSpPr/>
          <p:nvPr/>
        </p:nvSpPr>
        <p:spPr>
          <a:xfrm>
            <a:off x="530796" y="2252663"/>
            <a:ext cx="2248198" cy="198611"/>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Outfit ExtraBold" pitchFamily="34" charset="0"/>
                <a:ea typeface="Outfit ExtraBold" pitchFamily="34" charset="-122"/>
                <a:cs typeface="Outfit ExtraBold" pitchFamily="34" charset="-120"/>
              </a:rPr>
              <a:t>✅</a:t>
            </a:r>
            <a:r>
              <a:rPr lang="en-US" sz="1200" dirty="0">
                <a:solidFill>
                  <a:srgbClr val="FFFFFF"/>
                </a:solidFill>
                <a:latin typeface="Outfit ExtraBold" pitchFamily="34" charset="0"/>
                <a:ea typeface="Outfit ExtraBold" pitchFamily="34" charset="-122"/>
                <a:cs typeface="Outfit ExtraBold" pitchFamily="34" charset="-120"/>
              </a:rPr>
              <a:t> What We've Achieved</a:t>
            </a:r>
            <a:endParaRPr lang="en-US" sz="1200" dirty="0"/>
          </a:p>
        </p:txBody>
      </p:sp>
      <p:sp>
        <p:nvSpPr>
          <p:cNvPr id="9" name="Text 6"/>
          <p:cNvSpPr/>
          <p:nvPr/>
        </p:nvSpPr>
        <p:spPr>
          <a:xfrm>
            <a:off x="530796" y="2575247"/>
            <a:ext cx="3855244" cy="923999"/>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950" dirty="0">
                <a:solidFill>
                  <a:srgbClr val="FFFFFF"/>
                </a:solidFill>
                <a:latin typeface="Arimo" pitchFamily="34" charset="0"/>
                <a:ea typeface="Arimo" pitchFamily="34" charset="-122"/>
                <a:cs typeface="Arimo" pitchFamily="34" charset="-120"/>
              </a:rPr>
              <a:t>Fully scoped game concept with clear educational objectives</a:t>
            </a:r>
            <a:endParaRPr lang="en-US" sz="950" dirty="0"/>
          </a:p>
          <a:p>
            <a:pPr marL="342900" indent="-342900" algn="l">
              <a:lnSpc>
                <a:spcPct val="133000"/>
              </a:lnSpc>
              <a:buSzPct val="100000"/>
              <a:buChar char="•"/>
            </a:pPr>
            <a:r>
              <a:rPr lang="en-US" sz="950" dirty="0">
                <a:solidFill>
                  <a:srgbClr val="FFFFFF"/>
                </a:solidFill>
                <a:latin typeface="Arimo" pitchFamily="34" charset="0"/>
                <a:ea typeface="Arimo" pitchFamily="34" charset="-122"/>
                <a:cs typeface="Arimo" pitchFamily="34" charset="-120"/>
              </a:rPr>
              <a:t>Functional welcome screen and animated instructions section</a:t>
            </a:r>
            <a:endParaRPr lang="en-US" sz="950" dirty="0"/>
          </a:p>
          <a:p>
            <a:pPr marL="342900" indent="-342900" algn="l">
              <a:lnSpc>
                <a:spcPct val="133000"/>
              </a:lnSpc>
              <a:buSzPct val="100000"/>
              <a:buChar char="•"/>
            </a:pPr>
            <a:r>
              <a:rPr lang="en-US" sz="950" dirty="0">
                <a:solidFill>
                  <a:srgbClr val="FFFFFF"/>
                </a:solidFill>
                <a:latin typeface="Arimo" pitchFamily="34" charset="0"/>
                <a:ea typeface="Arimo" pitchFamily="34" charset="-122"/>
                <a:cs typeface="Arimo" pitchFamily="34" charset="-120"/>
              </a:rPr>
              <a:t>Collaborative workflows via GitHub and structured meetings</a:t>
            </a:r>
            <a:endParaRPr lang="en-US" sz="950" dirty="0"/>
          </a:p>
          <a:p>
            <a:pPr marL="342900" indent="-342900" algn="l">
              <a:lnSpc>
                <a:spcPct val="133000"/>
              </a:lnSpc>
              <a:buSzPct val="100000"/>
              <a:buChar char="•"/>
            </a:pPr>
            <a:r>
              <a:rPr lang="en-US" sz="950" dirty="0">
                <a:solidFill>
                  <a:srgbClr val="FFFFFF"/>
                </a:solidFill>
                <a:latin typeface="Arimo" pitchFamily="34" charset="0"/>
                <a:ea typeface="Arimo" pitchFamily="34" charset="-122"/>
                <a:cs typeface="Arimo" pitchFamily="34" charset="-120"/>
              </a:rPr>
              <a:t>Defined roles with consistent, accountable delivery</a:t>
            </a:r>
            <a:endParaRPr lang="en-US" sz="950" dirty="0"/>
          </a:p>
        </p:txBody>
      </p:sp>
      <p:sp>
        <p:nvSpPr>
          <p:cNvPr id="10" name="Text 7"/>
          <p:cNvSpPr/>
          <p:nvPr/>
        </p:nvSpPr>
        <p:spPr>
          <a:xfrm>
            <a:off x="4728046" y="2252663"/>
            <a:ext cx="2007766" cy="198611"/>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Outfit ExtraBold" pitchFamily="34" charset="0"/>
                <a:ea typeface="Outfit ExtraBold" pitchFamily="34" charset="-122"/>
                <a:cs typeface="Outfit ExtraBold" pitchFamily="34" charset="-120"/>
              </a:rPr>
              <a:t>🚀</a:t>
            </a:r>
            <a:r>
              <a:rPr lang="en-US" sz="1200" dirty="0">
                <a:solidFill>
                  <a:srgbClr val="231971"/>
                </a:solidFill>
                <a:latin typeface="Outfit ExtraBold" pitchFamily="34" charset="0"/>
                <a:ea typeface="Outfit ExtraBold" pitchFamily="34" charset="-122"/>
                <a:cs typeface="Outfit ExtraBold" pitchFamily="34" charset="-120"/>
              </a:rPr>
              <a:t> Next Steps</a:t>
            </a:r>
            <a:endParaRPr lang="en-US" sz="1200" dirty="0"/>
          </a:p>
        </p:txBody>
      </p:sp>
      <p:sp>
        <p:nvSpPr>
          <p:cNvPr id="11" name="Text 8"/>
          <p:cNvSpPr/>
          <p:nvPr/>
        </p:nvSpPr>
        <p:spPr>
          <a:xfrm>
            <a:off x="4728046" y="2575247"/>
            <a:ext cx="3924598" cy="923999"/>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950" dirty="0">
                <a:solidFill>
                  <a:srgbClr val="2A2742"/>
                </a:solidFill>
                <a:latin typeface="Arimo" pitchFamily="34" charset="0"/>
                <a:ea typeface="Arimo" pitchFamily="34" charset="-122"/>
                <a:cs typeface="Arimo" pitchFamily="34" charset="-120"/>
              </a:rPr>
              <a:t>Complete all scenario gameplay screens and decision logic</a:t>
            </a:r>
            <a:endParaRPr lang="en-US" sz="950" dirty="0"/>
          </a:p>
          <a:p>
            <a:pPr marL="342900" indent="-342900" algn="l">
              <a:lnSpc>
                <a:spcPct val="133000"/>
              </a:lnSpc>
              <a:buSzPct val="100000"/>
              <a:buChar char="•"/>
            </a:pPr>
            <a:r>
              <a:rPr lang="en-US" sz="950" dirty="0">
                <a:solidFill>
                  <a:srgbClr val="2A2742"/>
                </a:solidFill>
                <a:latin typeface="Arimo" pitchFamily="34" charset="0"/>
                <a:ea typeface="Arimo" pitchFamily="34" charset="-122"/>
                <a:cs typeface="Arimo" pitchFamily="34" charset="-120"/>
              </a:rPr>
              <a:t>Conduct peer and classmate playtesting sessions</a:t>
            </a:r>
            <a:endParaRPr lang="en-US" sz="950" dirty="0"/>
          </a:p>
          <a:p>
            <a:pPr marL="342900" indent="-342900" algn="l">
              <a:lnSpc>
                <a:spcPct val="133000"/>
              </a:lnSpc>
              <a:buSzPct val="100000"/>
              <a:buChar char="•"/>
            </a:pPr>
            <a:r>
              <a:rPr lang="en-US" sz="950" dirty="0">
                <a:solidFill>
                  <a:srgbClr val="2A2742"/>
                </a:solidFill>
                <a:latin typeface="Arimo" pitchFamily="34" charset="0"/>
                <a:ea typeface="Arimo" pitchFamily="34" charset="-122"/>
                <a:cs typeface="Arimo" pitchFamily="34" charset="-120"/>
              </a:rPr>
              <a:t>Refine scoring, feedback animations, and UI polish</a:t>
            </a:r>
            <a:endParaRPr lang="en-US" sz="950" dirty="0"/>
          </a:p>
          <a:p>
            <a:pPr marL="342900" indent="-342900" algn="l">
              <a:lnSpc>
                <a:spcPct val="133000"/>
              </a:lnSpc>
              <a:buSzPct val="100000"/>
              <a:buChar char="•"/>
            </a:pPr>
            <a:r>
              <a:rPr lang="en-US" sz="950" dirty="0">
                <a:solidFill>
                  <a:srgbClr val="2A2742"/>
                </a:solidFill>
                <a:latin typeface="Arimo" pitchFamily="34" charset="0"/>
                <a:ea typeface="Arimo" pitchFamily="34" charset="-122"/>
                <a:cs typeface="Arimo" pitchFamily="34" charset="-120"/>
              </a:rPr>
              <a:t>Prepare final demo and project submission documentation</a:t>
            </a:r>
            <a:endParaRPr lang="en-US" sz="950" dirty="0"/>
          </a:p>
        </p:txBody>
      </p:sp>
      <p:sp>
        <p:nvSpPr>
          <p:cNvPr id="12" name="Shape 9"/>
          <p:cNvSpPr/>
          <p:nvPr/>
        </p:nvSpPr>
        <p:spPr>
          <a:xfrm>
            <a:off x="496119" y="3682157"/>
            <a:ext cx="8151763" cy="725463"/>
          </a:xfrm>
          <a:prstGeom prst="roundRect">
            <a:avLst>
              <a:gd name="adj" fmla="val 7182"/>
            </a:avLst>
          </a:prstGeom>
          <a:solidFill>
            <a:srgbClr val="B6FCB8"/>
          </a:solidFill>
          <a:ln/>
        </p:spPr>
        <p:txBody>
          <a:bodyPr/>
          <a:lstStyle/>
          <a:p>
            <a:endParaRPr lang="en-GB"/>
          </a:p>
        </p:txBody>
      </p:sp>
      <p:pic>
        <p:nvPicPr>
          <p:cNvPr id="13" name="Image 1" descr="preencoded.png"/>
          <p:cNvPicPr>
            <a:picLocks noChangeAspect="1"/>
          </p:cNvPicPr>
          <p:nvPr/>
        </p:nvPicPr>
        <p:blipFill>
          <a:blip r:embed="rId4"/>
          <a:stretch>
            <a:fillRect/>
          </a:stretch>
        </p:blipFill>
        <p:spPr>
          <a:xfrm>
            <a:off x="620092" y="3866704"/>
            <a:ext cx="155004" cy="123974"/>
          </a:xfrm>
          <a:prstGeom prst="rect">
            <a:avLst/>
          </a:prstGeom>
        </p:spPr>
      </p:pic>
      <p:sp>
        <p:nvSpPr>
          <p:cNvPr id="14" name="Text 10"/>
          <p:cNvSpPr/>
          <p:nvPr/>
        </p:nvSpPr>
        <p:spPr>
          <a:xfrm>
            <a:off x="899071" y="3837087"/>
            <a:ext cx="7624837" cy="396925"/>
          </a:xfrm>
          <a:prstGeom prst="rect">
            <a:avLst/>
          </a:prstGeom>
          <a:noFill/>
          <a:ln/>
        </p:spPr>
        <p:txBody>
          <a:bodyPr wrap="square" lIns="0" tIns="0" rIns="0" bIns="0" rtlCol="0" anchor="t">
            <a:normAutofit/>
          </a:bodyPr>
          <a:lstStyle/>
          <a:p>
            <a:pPr marL="0" indent="0" algn="l">
              <a:lnSpc>
                <a:spcPct val="133000"/>
              </a:lnSpc>
              <a:buNone/>
            </a:pPr>
            <a:r>
              <a:rPr lang="en-US" sz="950" b="1" dirty="0">
                <a:solidFill>
                  <a:srgbClr val="000000"/>
                </a:solidFill>
                <a:latin typeface="Arimo" pitchFamily="34" charset="0"/>
                <a:ea typeface="Arimo" pitchFamily="34" charset="-122"/>
                <a:cs typeface="Arimo" pitchFamily="34" charset="-120"/>
              </a:rPr>
              <a:t>Key Professional Skills Gained:</a:t>
            </a:r>
            <a:r>
              <a:rPr lang="en-US" sz="950" dirty="0">
                <a:solidFill>
                  <a:srgbClr val="000000"/>
                </a:solidFill>
                <a:latin typeface="Arimo" pitchFamily="34" charset="0"/>
                <a:ea typeface="Arimo" pitchFamily="34" charset="-122"/>
                <a:cs typeface="Arimo" pitchFamily="34" charset="-120"/>
              </a:rPr>
              <a:t> Agile teamwork, UX research, game-based learning design, version control with GitHub, and applying cybersecurity concepts in a creative, student-centred context.</a:t>
            </a:r>
            <a:endParaRPr lang="en-US" sz="950" dirty="0"/>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32</TotalTime>
  <Words>1401</Words>
  <Application>Microsoft Office PowerPoint</Application>
  <PresentationFormat>On-screen Show (16:9)</PresentationFormat>
  <Paragraphs>148</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Outfit ExtraBold</vt:lpstr>
      <vt:lpstr>Trebuchet MS</vt:lpstr>
      <vt:lpstr>Wingdings 3</vt:lpstr>
      <vt:lpstr>Arimo</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Manish Thapa</cp:lastModifiedBy>
  <cp:revision>4</cp:revision>
  <dcterms:created xsi:type="dcterms:W3CDTF">2026-05-21T14:07:06Z</dcterms:created>
  <dcterms:modified xsi:type="dcterms:W3CDTF">2026-05-21T14:44:35Z</dcterms:modified>
</cp:coreProperties>
</file>