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embeddedFontLst>
    <p:embeddedFont>
      <p:font typeface="Brygada 1918"/>
      <p:regular r:id="rId9"/>
    </p:embeddedFont>
    <p:embeddedFont>
      <p:font typeface="Brygada 1918"/>
      <p:regular r:id="rId10"/>
    </p:embeddedFont>
    <p:embeddedFont>
      <p:font typeface="Brygada 1918"/>
      <p:regular r:id="rId11"/>
    </p:embeddedFont>
    <p:embeddedFont>
      <p:font typeface="Brygada 1918"/>
      <p:regular r:id="rId12"/>
    </p:embeddedFont>
    <p:embeddedFont>
      <p:font typeface="Montserrat Medium"/>
      <p:regular r:id="rId13"/>
    </p:embeddedFont>
    <p:embeddedFont>
      <p:font typeface="Montserrat Medium"/>
      <p:regular r:id="rId14"/>
    </p:embeddedFont>
    <p:embeddedFont>
      <p:font typeface="Montserrat Medium"/>
      <p:regular r:id="rId15"/>
    </p:embeddedFont>
    <p:embeddedFont>
      <p:font typeface="Montserrat Medium"/>
      <p:regular r:id="rId1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font" Target="fonts/font1.fntdata"/><Relationship Id="rId10" Type="http://schemas.openxmlformats.org/officeDocument/2006/relationships/font" Target="fonts/font2.fntdata"/><Relationship Id="rId11" Type="http://schemas.openxmlformats.org/officeDocument/2006/relationships/font" Target="fonts/font3.fntdata"/><Relationship Id="rId12" Type="http://schemas.openxmlformats.org/officeDocument/2006/relationships/font" Target="fonts/font4.fntdata"/><Relationship Id="rId13" Type="http://schemas.openxmlformats.org/officeDocument/2006/relationships/font" Target="fonts/font5.fntdata"/><Relationship Id="rId14" Type="http://schemas.openxmlformats.org/officeDocument/2006/relationships/font" Target="fonts/font6.fntdata"/><Relationship Id="rId15" Type="http://schemas.openxmlformats.org/officeDocument/2006/relationships/font" Target="fonts/font7.fntdata"/><Relationship Id="rId16"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21424"/>
          </a:solidFill>
          <a:ln/>
        </p:spPr>
      </p:sp>
      <p:sp>
        <p:nvSpPr>
          <p:cNvPr id="3" name="Shape 1"/>
          <p:cNvSpPr/>
          <p:nvPr/>
        </p:nvSpPr>
        <p:spPr>
          <a:xfrm>
            <a:off x="0" y="0"/>
            <a:ext cx="9144000" cy="51435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21424"/>
          </a:solidFill>
          <a:ln/>
        </p:spPr>
      </p:sp>
      <p:sp>
        <p:nvSpPr>
          <p:cNvPr id="3" name="Shape 1"/>
          <p:cNvSpPr/>
          <p:nvPr/>
        </p:nvSpPr>
        <p:spPr>
          <a:xfrm>
            <a:off x="0" y="0"/>
            <a:ext cx="9144000" cy="51435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hyperlink" Target="mailto:j.calton@coventry-uni-support.co.uk" TargetMode="External"/><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1-10.png"/><Relationship Id="rId12" Type="http://schemas.openxmlformats.org/officeDocument/2006/relationships/image" Target="../media/image-1-11.svg"/><Relationship Id="rId13" Type="http://schemas.openxmlformats.org/officeDocument/2006/relationships/image" Target="../media/image-1-12.png"/><Relationship Id="rId14" Type="http://schemas.openxmlformats.org/officeDocument/2006/relationships/image" Target="../media/image-1-13.svg"/><Relationship Id="rId15" Type="http://schemas.openxmlformats.org/officeDocument/2006/relationships/image" Target="../media/image-1-14.png"/><Relationship Id="rId16" Type="http://schemas.openxmlformats.org/officeDocument/2006/relationships/image" Target="../media/image-1-15.svg"/><Relationship Id="rId17" Type="http://schemas.openxmlformats.org/officeDocument/2006/relationships/image" Target="../media/image-1-16.png"/><Relationship Id="rId18" Type="http://schemas.openxmlformats.org/officeDocument/2006/relationships/image" Target="../media/image-1-17.svg"/><Relationship Id="rId19" Type="http://schemas.openxmlformats.org/officeDocument/2006/relationships/image" Target="../media/image-1-18.png"/><Relationship Id="rId20" Type="http://schemas.openxmlformats.org/officeDocument/2006/relationships/image" Target="../media/image-1-19.svg"/><Relationship Id="rId21" Type="http://schemas.openxmlformats.org/officeDocument/2006/relationships/image" Target="../media/image-1-20.png"/><Relationship Id="rId22" Type="http://schemas.openxmlformats.org/officeDocument/2006/relationships/image" Target="../media/image-1-21.svg"/><Relationship Id="rId23" Type="http://schemas.openxmlformats.org/officeDocument/2006/relationships/image" Target="../media/image-1-22.png"/><Relationship Id="rId24" Type="http://schemas.openxmlformats.org/officeDocument/2006/relationships/slideLayout" Target="../slideLayouts/slideLayout2.xml"/><Relationship Id="rId2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34107" y="209848"/>
            <a:ext cx="3062139" cy="144884"/>
          </a:xfrm>
          <a:prstGeom prst="rect">
            <a:avLst/>
          </a:prstGeom>
          <a:noFill/>
          <a:ln/>
        </p:spPr>
        <p:txBody>
          <a:bodyPr wrap="none" lIns="0" tIns="0" rIns="0" bIns="0" rtlCol="0" anchor="t"/>
          <a:lstStyle/>
          <a:p>
            <a:pPr algn="l" indent="0" marL="0">
              <a:lnSpc>
                <a:spcPts val="1100"/>
              </a:lnSpc>
              <a:buNone/>
            </a:pPr>
            <a:r>
              <a:rPr lang="en-US" sz="900" b="1" dirty="0">
                <a:solidFill>
                  <a:srgbClr val="FFB393"/>
                </a:solidFill>
                <a:latin typeface="Brygada 1918 Bold" pitchFamily="34" charset="0"/>
                <a:ea typeface="Brygada 1918 Bold" pitchFamily="34" charset="-122"/>
                <a:cs typeface="Brygada 1918 Bold" pitchFamily="34" charset="-120"/>
              </a:rPr>
              <a:t>Phishing Scam Awareness: Three Real-World Scenarios</a:t>
            </a:r>
            <a:endParaRPr lang="en-US" sz="900" dirty="0"/>
          </a:p>
        </p:txBody>
      </p:sp>
      <p:sp>
        <p:nvSpPr>
          <p:cNvPr id="3" name="Text 1"/>
          <p:cNvSpPr/>
          <p:nvPr/>
        </p:nvSpPr>
        <p:spPr>
          <a:xfrm>
            <a:off x="234107" y="382935"/>
            <a:ext cx="8675787" cy="46062"/>
          </a:xfrm>
          <a:prstGeom prst="rect">
            <a:avLst/>
          </a:prstGeom>
          <a:noFill/>
          <a:ln/>
        </p:spPr>
        <p:txBody>
          <a:bodyPr wrap="none" lIns="0" tIns="0" rIns="0" bIns="0" rtlCol="0" anchor="t"/>
          <a:lstStyle/>
          <a:p>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Test your cybersecurity knowledge with interactive scenarios based on common phishing attacks targeting university students. Learn to identify red flags, make informed decisions, and protect your accounts and personal information.</a:t>
            </a:r>
            <a:endParaRPr lang="en-US" sz="300" dirty="0"/>
          </a:p>
        </p:txBody>
      </p:sp>
      <p:sp>
        <p:nvSpPr>
          <p:cNvPr id="4" name="Shape 2"/>
          <p:cNvSpPr/>
          <p:nvPr/>
        </p:nvSpPr>
        <p:spPr>
          <a:xfrm>
            <a:off x="234107" y="444847"/>
            <a:ext cx="2882503" cy="358304"/>
          </a:xfrm>
          <a:prstGeom prst="roundRect">
            <a:avLst>
              <a:gd name="adj" fmla="val 1821"/>
            </a:avLst>
          </a:prstGeom>
          <a:solidFill>
            <a:srgbClr val="4D1529"/>
          </a:solidFill>
          <a:ln/>
        </p:spPr>
      </p:sp>
      <p:sp>
        <p:nvSpPr>
          <p:cNvPr id="5" name="Shape 3"/>
          <p:cNvSpPr/>
          <p:nvPr/>
        </p:nvSpPr>
        <p:spPr>
          <a:xfrm>
            <a:off x="277564" y="488305"/>
            <a:ext cx="130448" cy="130448"/>
          </a:xfrm>
          <a:prstGeom prst="roundRect">
            <a:avLst>
              <a:gd name="adj" fmla="val 43806179"/>
            </a:avLst>
          </a:prstGeom>
          <a:solidFill>
            <a:srgbClr val="FFB393"/>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13432" y="524173"/>
            <a:ext cx="58638" cy="58638"/>
          </a:xfrm>
          <a:prstGeom prst="rect">
            <a:avLst/>
          </a:prstGeom>
        </p:spPr>
      </p:pic>
      <p:sp>
        <p:nvSpPr>
          <p:cNvPr id="7" name="Text 4"/>
          <p:cNvSpPr/>
          <p:nvPr/>
        </p:nvSpPr>
        <p:spPr>
          <a:xfrm>
            <a:off x="277564" y="632817"/>
            <a:ext cx="1006897"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Urgent Assignment Re-upload Scam</a:t>
            </a:r>
            <a:endParaRPr lang="en-US" sz="450" dirty="0"/>
          </a:p>
        </p:txBody>
      </p:sp>
      <p:sp>
        <p:nvSpPr>
          <p:cNvPr id="8" name="Text 5"/>
          <p:cNvSpPr/>
          <p:nvPr/>
        </p:nvSpPr>
        <p:spPr>
          <a:xfrm>
            <a:off x="277564" y="713631"/>
            <a:ext cx="2795588" cy="46062"/>
          </a:xfrm>
          <a:prstGeom prst="rect">
            <a:avLst/>
          </a:prstGeom>
          <a:noFill/>
          <a:ln/>
        </p:spPr>
        <p:txBody>
          <a:bodyPr wrap="none" lIns="0" tIns="0" rIns="0" bIns="0" rtlCol="0" anchor="t"/>
          <a:lstStyle/>
          <a:p>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A fake email claims your coursework submission failed and demands immediate re-upload or face zero marks.</a:t>
            </a:r>
            <a:endParaRPr lang="en-US" sz="300" dirty="0"/>
          </a:p>
        </p:txBody>
      </p:sp>
      <p:sp>
        <p:nvSpPr>
          <p:cNvPr id="9" name="Shape 6"/>
          <p:cNvSpPr/>
          <p:nvPr/>
        </p:nvSpPr>
        <p:spPr>
          <a:xfrm>
            <a:off x="3130674" y="444847"/>
            <a:ext cx="2882578" cy="358304"/>
          </a:xfrm>
          <a:prstGeom prst="roundRect">
            <a:avLst>
              <a:gd name="adj" fmla="val 1821"/>
            </a:avLst>
          </a:prstGeom>
          <a:solidFill>
            <a:srgbClr val="4D1529"/>
          </a:solidFill>
          <a:ln/>
        </p:spPr>
      </p:sp>
      <p:sp>
        <p:nvSpPr>
          <p:cNvPr id="10" name="Shape 7"/>
          <p:cNvSpPr/>
          <p:nvPr/>
        </p:nvSpPr>
        <p:spPr>
          <a:xfrm>
            <a:off x="3174132" y="488305"/>
            <a:ext cx="130448" cy="130448"/>
          </a:xfrm>
          <a:prstGeom prst="roundRect">
            <a:avLst>
              <a:gd name="adj" fmla="val 43806179"/>
            </a:avLst>
          </a:prstGeom>
          <a:solidFill>
            <a:srgbClr val="FFB393"/>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09999" y="524173"/>
            <a:ext cx="58638" cy="58638"/>
          </a:xfrm>
          <a:prstGeom prst="rect">
            <a:avLst/>
          </a:prstGeom>
        </p:spPr>
      </p:pic>
      <p:sp>
        <p:nvSpPr>
          <p:cNvPr id="12" name="Text 8"/>
          <p:cNvSpPr/>
          <p:nvPr/>
        </p:nvSpPr>
        <p:spPr>
          <a:xfrm>
            <a:off x="3174132" y="632817"/>
            <a:ext cx="909042"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IT Support Password Reset Scam</a:t>
            </a:r>
            <a:endParaRPr lang="en-US" sz="450" dirty="0"/>
          </a:p>
        </p:txBody>
      </p:sp>
      <p:sp>
        <p:nvSpPr>
          <p:cNvPr id="13" name="Text 9"/>
          <p:cNvSpPr/>
          <p:nvPr/>
        </p:nvSpPr>
        <p:spPr>
          <a:xfrm>
            <a:off x="3174132" y="713631"/>
            <a:ext cx="2795662" cy="46062"/>
          </a:xfrm>
          <a:prstGeom prst="rect">
            <a:avLst/>
          </a:prstGeom>
          <a:noFill/>
          <a:ln/>
        </p:spPr>
        <p:txBody>
          <a:bodyPr wrap="none" lIns="0" tIns="0" rIns="0" bIns="0" rtlCol="0" anchor="t"/>
          <a:lstStyle/>
          <a:p>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An urgent message warns your university password expires today and must be reset immediately or lose access.</a:t>
            </a:r>
            <a:endParaRPr lang="en-US" sz="300" dirty="0"/>
          </a:p>
        </p:txBody>
      </p:sp>
      <p:sp>
        <p:nvSpPr>
          <p:cNvPr id="14" name="Shape 10"/>
          <p:cNvSpPr/>
          <p:nvPr/>
        </p:nvSpPr>
        <p:spPr>
          <a:xfrm>
            <a:off x="6027316" y="444847"/>
            <a:ext cx="2882578" cy="358304"/>
          </a:xfrm>
          <a:prstGeom prst="roundRect">
            <a:avLst>
              <a:gd name="adj" fmla="val 1821"/>
            </a:avLst>
          </a:prstGeom>
          <a:solidFill>
            <a:srgbClr val="4D1529"/>
          </a:solidFill>
          <a:ln/>
        </p:spPr>
      </p:sp>
      <p:sp>
        <p:nvSpPr>
          <p:cNvPr id="15" name="Shape 11"/>
          <p:cNvSpPr/>
          <p:nvPr/>
        </p:nvSpPr>
        <p:spPr>
          <a:xfrm>
            <a:off x="6070774" y="488305"/>
            <a:ext cx="130448" cy="130448"/>
          </a:xfrm>
          <a:prstGeom prst="roundRect">
            <a:avLst>
              <a:gd name="adj" fmla="val 43806179"/>
            </a:avLst>
          </a:prstGeom>
          <a:solidFill>
            <a:srgbClr val="FFB393"/>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06641" y="524173"/>
            <a:ext cx="58638" cy="58638"/>
          </a:xfrm>
          <a:prstGeom prst="rect">
            <a:avLst/>
          </a:prstGeom>
        </p:spPr>
      </p:pic>
      <p:sp>
        <p:nvSpPr>
          <p:cNvPr id="17" name="Text 12"/>
          <p:cNvSpPr/>
          <p:nvPr/>
        </p:nvSpPr>
        <p:spPr>
          <a:xfrm>
            <a:off x="6070774" y="632817"/>
            <a:ext cx="690711"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Tuition Fee Refund Scam</a:t>
            </a:r>
            <a:endParaRPr lang="en-US" sz="450" dirty="0"/>
          </a:p>
        </p:txBody>
      </p:sp>
      <p:sp>
        <p:nvSpPr>
          <p:cNvPr id="18" name="Text 13"/>
          <p:cNvSpPr/>
          <p:nvPr/>
        </p:nvSpPr>
        <p:spPr>
          <a:xfrm>
            <a:off x="6070774" y="713631"/>
            <a:ext cx="2795662" cy="46062"/>
          </a:xfrm>
          <a:prstGeom prst="rect">
            <a:avLst/>
          </a:prstGeom>
          <a:noFill/>
          <a:ln/>
        </p:spPr>
        <p:txBody>
          <a:bodyPr wrap="none" lIns="0" tIns="0" rIns="0" bIns="0" rtlCol="0" anchor="t"/>
          <a:lstStyle/>
          <a:p>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An SMS claims you've been overcharged for tuition fees and can claim a £5,000 refund by confirming bank details.</a:t>
            </a:r>
            <a:endParaRPr lang="en-US" sz="300" dirty="0"/>
          </a:p>
        </p:txBody>
      </p:sp>
      <p:sp>
        <p:nvSpPr>
          <p:cNvPr id="19" name="Text 14"/>
          <p:cNvSpPr/>
          <p:nvPr/>
        </p:nvSpPr>
        <p:spPr>
          <a:xfrm>
            <a:off x="234107" y="824285"/>
            <a:ext cx="2114550" cy="115937"/>
          </a:xfrm>
          <a:prstGeom prst="rect">
            <a:avLst/>
          </a:prstGeom>
          <a:noFill/>
          <a:ln/>
        </p:spPr>
        <p:txBody>
          <a:bodyPr wrap="none" lIns="0" tIns="0" rIns="0" bIns="0" rtlCol="0" anchor="t"/>
          <a:lstStyle/>
          <a:p>
            <a:pPr algn="l" indent="0" marL="0">
              <a:lnSpc>
                <a:spcPts val="900"/>
              </a:lnSpc>
              <a:buNone/>
            </a:pPr>
            <a:r>
              <a:rPr lang="en-US" sz="700" b="1" dirty="0">
                <a:solidFill>
                  <a:srgbClr val="FFB393"/>
                </a:solidFill>
                <a:latin typeface="Brygada 1918 Bold" pitchFamily="34" charset="0"/>
                <a:ea typeface="Brygada 1918 Bold" pitchFamily="34" charset="-122"/>
                <a:cs typeface="Brygada 1918 Bold" pitchFamily="34" charset="-120"/>
              </a:rPr>
              <a:t>Scenario 1: Urgent Assignment Re-upload Scam</a:t>
            </a:r>
            <a:endParaRPr lang="en-US" sz="700" dirty="0"/>
          </a:p>
        </p:txBody>
      </p:sp>
      <p:sp>
        <p:nvSpPr>
          <p:cNvPr id="20" name="Text 15"/>
          <p:cNvSpPr/>
          <p:nvPr/>
        </p:nvSpPr>
        <p:spPr>
          <a:xfrm>
            <a:off x="234107" y="975420"/>
            <a:ext cx="579834" cy="72405"/>
          </a:xfrm>
          <a:prstGeom prst="rect">
            <a:avLst/>
          </a:prstGeom>
          <a:noFill/>
          <a:ln/>
        </p:spPr>
        <p:txBody>
          <a:bodyPr wrap="none" lIns="0" tIns="0" rIns="0" bIns="0" rtlCol="0" anchor="t"/>
          <a:lstStyle/>
          <a:p>
            <a:pPr algn="l" indent="0" marL="0">
              <a:lnSpc>
                <a:spcPts val="550"/>
              </a:lnSpc>
              <a:buNone/>
            </a:pPr>
            <a:r>
              <a:rPr lang="en-US" sz="450" b="1" dirty="0">
                <a:solidFill>
                  <a:srgbClr val="FFB393"/>
                </a:solidFill>
                <a:latin typeface="Brygada 1918 Bold" pitchFamily="34" charset="0"/>
                <a:ea typeface="Brygada 1918 Bold" pitchFamily="34" charset="-122"/>
                <a:cs typeface="Brygada 1918 Bold" pitchFamily="34" charset="-120"/>
              </a:rPr>
              <a:t>The Situation</a:t>
            </a:r>
            <a:endParaRPr lang="en-US" sz="450" dirty="0"/>
          </a:p>
        </p:txBody>
      </p:sp>
      <p:sp>
        <p:nvSpPr>
          <p:cNvPr id="21" name="Text 16"/>
          <p:cNvSpPr/>
          <p:nvPr/>
        </p:nvSpPr>
        <p:spPr>
          <a:xfrm>
            <a:off x="234107" y="1061889"/>
            <a:ext cx="4284836" cy="92125"/>
          </a:xfrm>
          <a:prstGeom prst="rect">
            <a:avLst/>
          </a:prstGeom>
          <a:noFill/>
          <a:ln/>
        </p:spPr>
        <p:txBody>
          <a:bodyPr wrap="square" lIns="0" tIns="0" rIns="0" bIns="0" rtlCol="0" anchor="t"/>
          <a:lstStyle/>
          <a:p>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You're a second-year Coventry University student during assessment week, stressed as your final coursework deadline approaches tonight. After submitting your assignment on Turnitin, you receive an urgent email claiming your submission failed and must be re-uploaded immediately or receive zero marks.</a:t>
            </a:r>
            <a:endParaRPr lang="en-US" sz="300" dirty="0"/>
          </a:p>
        </p:txBody>
      </p:sp>
      <p:sp>
        <p:nvSpPr>
          <p:cNvPr id="22" name="Text 17"/>
          <p:cNvSpPr/>
          <p:nvPr/>
        </p:nvSpPr>
        <p:spPr>
          <a:xfrm>
            <a:off x="4629820" y="975420"/>
            <a:ext cx="579834" cy="72405"/>
          </a:xfrm>
          <a:prstGeom prst="rect">
            <a:avLst/>
          </a:prstGeom>
          <a:noFill/>
          <a:ln/>
        </p:spPr>
        <p:txBody>
          <a:bodyPr wrap="none" lIns="0" tIns="0" rIns="0" bIns="0" rtlCol="0" anchor="t"/>
          <a:lstStyle/>
          <a:p>
            <a:pPr algn="l" indent="0" marL="0">
              <a:lnSpc>
                <a:spcPts val="550"/>
              </a:lnSpc>
              <a:buNone/>
            </a:pPr>
            <a:r>
              <a:rPr lang="en-US" sz="450" b="1" dirty="0">
                <a:solidFill>
                  <a:srgbClr val="FFB393"/>
                </a:solidFill>
                <a:latin typeface="Brygada 1918 Bold" pitchFamily="34" charset="0"/>
                <a:ea typeface="Brygada 1918 Bold" pitchFamily="34" charset="-122"/>
                <a:cs typeface="Brygada 1918 Bold" pitchFamily="34" charset="-120"/>
              </a:rPr>
              <a:t>Red Flags</a:t>
            </a:r>
            <a:endParaRPr lang="en-US" sz="450" dirty="0"/>
          </a:p>
        </p:txBody>
      </p:sp>
      <p:sp>
        <p:nvSpPr>
          <p:cNvPr id="23" name="Text 18"/>
          <p:cNvSpPr/>
          <p:nvPr/>
        </p:nvSpPr>
        <p:spPr>
          <a:xfrm>
            <a:off x="4629820" y="1061889"/>
            <a:ext cx="4284836" cy="198983"/>
          </a:xfrm>
          <a:prstGeom prst="rect">
            <a:avLst/>
          </a:prstGeom>
          <a:noFill/>
          <a:ln/>
        </p:spPr>
        <p:txBody>
          <a:bodyPr wrap="square" lIns="0" tIns="0" rIns="0" bIns="0" rtlCol="0" anchor="t"/>
          <a:lstStyle/>
          <a:p>
            <a:pPr algn="l" marL="342900" indent="-342900">
              <a:lnSpc>
                <a:spcPts val="350"/>
              </a:lnSpc>
              <a:buSzPct val="100000"/>
              <a:buChar char="•"/>
            </a:pPr>
            <a:r>
              <a:rPr lang="en-US" sz="300" dirty="0">
                <a:solidFill>
                  <a:srgbClr val="F4CAB8"/>
                </a:solidFill>
                <a:latin typeface="Montserrat Medium" pitchFamily="34" charset="0"/>
                <a:ea typeface="Montserrat Medium" pitchFamily="34" charset="-122"/>
                <a:cs typeface="Montserrat Medium" pitchFamily="34" charset="-120"/>
              </a:rPr>
              <a:t>Fake email domain: </a:t>
            </a:r>
            <a:pPr algn="l" marL="342900" indent="-342900">
              <a:lnSpc>
                <a:spcPts val="350"/>
              </a:lnSpc>
              <a:buSzPct val="100000"/>
              <a:buChar char="•"/>
            </a:pPr>
            <a:r>
              <a:rPr lang="en-US" sz="300" u="sng" dirty="0">
                <a:solidFill>
                  <a:srgbClr val="FFB393"/>
                </a:solidFill>
                <a:latin typeface="Montserrat Medium" pitchFamily="34" charset="0"/>
                <a:ea typeface="Montserrat Medium" pitchFamily="34" charset="-122"/>
                <a:cs typeface="Montserrat Medium" pitchFamily="34" charset="-120"/>
                <a:hlinkClick r:id="rId7" invalidUrl="" action="" tgtFrame="" tooltip="" history="1" highlightClick="0" endSnd="0">
                  <a:extLst>
                    <a:ext uri="{A12FA001-AC4F-418D-AE19-62706E023703}">
                      <ahyp:hlinkClr xmlns:ahyp="http://schemas.microsoft.com/office/drawing/2018/hyperlinkcolor" val="tx"/>
                    </a:ext>
                  </a:extLst>
                </a:hlinkClick>
              </a:rPr>
              <a:t>j.calton@coventry-uni-support.co.uk</a:t>
            </a:r>
            <a:endParaRPr lang="en-US" sz="300" dirty="0"/>
          </a:p>
          <a:p>
            <a:pPr algn="l" marL="342900" indent="-342900">
              <a:lnSpc>
                <a:spcPts val="350"/>
              </a:lnSpc>
              <a:buSzPct val="100000"/>
              <a:buChar char="•"/>
            </a:pPr>
            <a:r>
              <a:rPr lang="en-US" sz="300" dirty="0">
                <a:solidFill>
                  <a:srgbClr val="F4CAB8"/>
                </a:solidFill>
                <a:latin typeface="Montserrat Medium" pitchFamily="34" charset="0"/>
                <a:ea typeface="Montserrat Medium" pitchFamily="34" charset="-122"/>
                <a:cs typeface="Montserrat Medium" pitchFamily="34" charset="-120"/>
              </a:rPr>
              <a:t>Threatening language creating urgency</a:t>
            </a:r>
            <a:endParaRPr lang="en-US" sz="300" dirty="0"/>
          </a:p>
          <a:p>
            <a:pPr algn="l" marL="342900" indent="-342900">
              <a:lnSpc>
                <a:spcPts val="350"/>
              </a:lnSpc>
              <a:buSzPct val="100000"/>
              <a:buChar char="•"/>
            </a:pPr>
            <a:r>
              <a:rPr lang="en-US" sz="300" dirty="0">
                <a:solidFill>
                  <a:srgbClr val="F4CAB8"/>
                </a:solidFill>
                <a:latin typeface="Montserrat Medium" pitchFamily="34" charset="0"/>
                <a:ea typeface="Montserrat Medium" pitchFamily="34" charset="-122"/>
                <a:cs typeface="Montserrat Medium" pitchFamily="34" charset="-120"/>
              </a:rPr>
              <a:t>Suspicious shortened link</a:t>
            </a:r>
            <a:endParaRPr lang="en-US" sz="300" dirty="0"/>
          </a:p>
          <a:p>
            <a:pPr algn="l" marL="342900" indent="-342900">
              <a:lnSpc>
                <a:spcPts val="350"/>
              </a:lnSpc>
              <a:buSzPct val="100000"/>
              <a:buChar char="•"/>
            </a:pPr>
            <a:r>
              <a:rPr lang="en-US" sz="300" dirty="0">
                <a:solidFill>
                  <a:srgbClr val="F4CAB8"/>
                </a:solidFill>
                <a:latin typeface="Montserrat Medium" pitchFamily="34" charset="0"/>
                <a:ea typeface="Montserrat Medium" pitchFamily="34" charset="-122"/>
                <a:cs typeface="Montserrat Medium" pitchFamily="34" charset="-120"/>
              </a:rPr>
              <a:t>Pressure to act immediately without verification</a:t>
            </a:r>
            <a:endParaRPr lang="en-US" sz="300" dirty="0"/>
          </a:p>
        </p:txBody>
      </p:sp>
      <p:sp>
        <p:nvSpPr>
          <p:cNvPr id="24" name="Shape 19"/>
          <p:cNvSpPr/>
          <p:nvPr/>
        </p:nvSpPr>
        <p:spPr>
          <a:xfrm>
            <a:off x="234107" y="1281633"/>
            <a:ext cx="2882503" cy="378842"/>
          </a:xfrm>
          <a:prstGeom prst="roundRect">
            <a:avLst>
              <a:gd name="adj" fmla="val 1722"/>
            </a:avLst>
          </a:prstGeom>
          <a:solidFill>
            <a:srgbClr val="5C2438"/>
          </a:solidFill>
          <a:ln w="4763">
            <a:solidFill>
              <a:srgbClr val="662E42"/>
            </a:solidFill>
            <a:prstDash val="solid"/>
          </a:ln>
        </p:spPr>
      </p:sp>
      <p:sp>
        <p:nvSpPr>
          <p:cNvPr id="25" name="Shape 20"/>
          <p:cNvSpPr/>
          <p:nvPr/>
        </p:nvSpPr>
        <p:spPr>
          <a:xfrm>
            <a:off x="238869" y="1286396"/>
            <a:ext cx="2872978" cy="130448"/>
          </a:xfrm>
          <a:prstGeom prst="roundRect">
            <a:avLst>
              <a:gd name="adj" fmla="val 620"/>
            </a:avLst>
          </a:prstGeom>
          <a:solidFill>
            <a:srgbClr val="4D1529"/>
          </a:solidFill>
          <a:ln/>
        </p:spPr>
      </p:sp>
      <p:sp>
        <p:nvSpPr>
          <p:cNvPr id="26" name="Text 21"/>
          <p:cNvSpPr/>
          <p:nvPr/>
        </p:nvSpPr>
        <p:spPr>
          <a:xfrm>
            <a:off x="1642765" y="1310878"/>
            <a:ext cx="65187" cy="81483"/>
          </a:xfrm>
          <a:prstGeom prst="rect">
            <a:avLst/>
          </a:prstGeom>
          <a:noFill/>
          <a:ln/>
        </p:spPr>
        <p:txBody>
          <a:bodyPr wrap="none" lIns="0" tIns="0" rIns="0" bIns="0" rtlCol="0" anchor="ctr"/>
          <a:lstStyle/>
          <a:p>
            <a:pPr algn="ctr" indent="0" marL="0">
              <a:lnSpc>
                <a:spcPct val="100000"/>
              </a:lnSpc>
              <a:buNone/>
            </a:pPr>
            <a:r>
              <a:rPr lang="en-US" sz="500" b="1" dirty="0">
                <a:solidFill>
                  <a:srgbClr val="F4CAB8"/>
                </a:solidFill>
                <a:latin typeface="Brygada 1918 Bold" pitchFamily="34" charset="0"/>
                <a:ea typeface="Brygada 1918 Bold" pitchFamily="34" charset="-122"/>
                <a:cs typeface="Brygada 1918 Bold" pitchFamily="34" charset="-120"/>
              </a:rPr>
              <a:t>1</a:t>
            </a:r>
            <a:endParaRPr lang="en-US" sz="500" dirty="0"/>
          </a:p>
        </p:txBody>
      </p:sp>
      <p:sp>
        <p:nvSpPr>
          <p:cNvPr id="27" name="Text 22"/>
          <p:cNvSpPr/>
          <p:nvPr/>
        </p:nvSpPr>
        <p:spPr>
          <a:xfrm>
            <a:off x="282327" y="1430908"/>
            <a:ext cx="1059284"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Click the link and upload immediately</a:t>
            </a:r>
            <a:endParaRPr lang="en-US" sz="450" dirty="0"/>
          </a:p>
        </p:txBody>
      </p:sp>
      <p:sp>
        <p:nvSpPr>
          <p:cNvPr id="28" name="Text 23"/>
          <p:cNvSpPr/>
          <p:nvPr/>
        </p:nvSpPr>
        <p:spPr>
          <a:xfrm>
            <a:off x="282327" y="1511722"/>
            <a:ext cx="2786063" cy="46062"/>
          </a:xfrm>
          <a:prstGeom prst="rect">
            <a:avLst/>
          </a:prstGeom>
          <a:noFill/>
          <a:ln/>
        </p:spPr>
        <p:txBody>
          <a:bodyPr wrap="none" lIns="0" tIns="0" rIns="0" bIns="0" rtlCol="0" anchor="t"/>
          <a:lstStyle/>
          <a:p>
            <a:pPr algn="l" indent="0" marL="0">
              <a:lnSpc>
                <a:spcPts val="350"/>
              </a:lnSpc>
              <a:buNone/>
            </a:pPr>
            <a:r>
              <a:rPr lang="en-US" sz="300" b="1" dirty="0">
                <a:solidFill>
                  <a:srgbClr val="421424"/>
                </a:solidFill>
                <a:latin typeface="Montserrat Medium" pitchFamily="34" charset="0"/>
                <a:ea typeface="Montserrat Medium" pitchFamily="34" charset="-122"/>
                <a:cs typeface="Montserrat Medium" pitchFamily="34" charset="-120"/>
              </a:rPr>
              <a:t>–15 Points</a:t>
            </a:r>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 Your login details were stolen through a fake Turnitin page.</a:t>
            </a:r>
            <a:endParaRPr lang="en-US" sz="300" dirty="0"/>
          </a:p>
        </p:txBody>
      </p:sp>
      <p:sp>
        <p:nvSpPr>
          <p:cNvPr id="29" name="Text 24"/>
          <p:cNvSpPr/>
          <p:nvPr/>
        </p:nvSpPr>
        <p:spPr>
          <a:xfrm>
            <a:off x="282327" y="1566193"/>
            <a:ext cx="2786063" cy="46062"/>
          </a:xfrm>
          <a:prstGeom prst="rect">
            <a:avLst/>
          </a:prstGeom>
          <a:noFill/>
          <a:ln/>
        </p:spPr>
        <p:txBody>
          <a:bodyPr wrap="none" lIns="0" tIns="0" rIns="0" bIns="0" rtlCol="0" anchor="t"/>
          <a:lstStyle/>
          <a:p>
            <a:pPr algn="l" indent="0" marL="0">
              <a:lnSpc>
                <a:spcPts val="350"/>
              </a:lnSpc>
              <a:buNone/>
            </a:pPr>
            <a:r>
              <a:rPr lang="en-US" sz="300" i="1" dirty="0">
                <a:solidFill>
                  <a:srgbClr val="F4CAB8"/>
                </a:solidFill>
                <a:latin typeface="Montserrat Medium" pitchFamily="34" charset="0"/>
                <a:ea typeface="Montserrat Medium" pitchFamily="34" charset="-122"/>
                <a:cs typeface="Montserrat Medium" pitchFamily="34" charset="-120"/>
              </a:rPr>
              <a:t>Never click links in urgent assignment emails. Verify through official websites directly.</a:t>
            </a:r>
            <a:endParaRPr lang="en-US" sz="300" dirty="0"/>
          </a:p>
        </p:txBody>
      </p:sp>
      <p:sp>
        <p:nvSpPr>
          <p:cNvPr id="30" name="Shape 25"/>
          <p:cNvSpPr/>
          <p:nvPr/>
        </p:nvSpPr>
        <p:spPr>
          <a:xfrm>
            <a:off x="3130674" y="1281633"/>
            <a:ext cx="2882578" cy="378842"/>
          </a:xfrm>
          <a:prstGeom prst="roundRect">
            <a:avLst>
              <a:gd name="adj" fmla="val 1722"/>
            </a:avLst>
          </a:prstGeom>
          <a:solidFill>
            <a:srgbClr val="5C2438"/>
          </a:solidFill>
          <a:ln w="4763">
            <a:solidFill>
              <a:srgbClr val="662E42"/>
            </a:solidFill>
            <a:prstDash val="solid"/>
          </a:ln>
        </p:spPr>
      </p:sp>
      <p:sp>
        <p:nvSpPr>
          <p:cNvPr id="31" name="Shape 26"/>
          <p:cNvSpPr/>
          <p:nvPr/>
        </p:nvSpPr>
        <p:spPr>
          <a:xfrm>
            <a:off x="3135437" y="1286396"/>
            <a:ext cx="2873053" cy="130448"/>
          </a:xfrm>
          <a:prstGeom prst="roundRect">
            <a:avLst>
              <a:gd name="adj" fmla="val 620"/>
            </a:avLst>
          </a:prstGeom>
          <a:solidFill>
            <a:srgbClr val="4D1529"/>
          </a:solidFill>
          <a:ln/>
        </p:spPr>
      </p:sp>
      <p:sp>
        <p:nvSpPr>
          <p:cNvPr id="32" name="Text 27"/>
          <p:cNvSpPr/>
          <p:nvPr/>
        </p:nvSpPr>
        <p:spPr>
          <a:xfrm>
            <a:off x="4539332" y="1310878"/>
            <a:ext cx="65187" cy="81483"/>
          </a:xfrm>
          <a:prstGeom prst="rect">
            <a:avLst/>
          </a:prstGeom>
          <a:noFill/>
          <a:ln/>
        </p:spPr>
        <p:txBody>
          <a:bodyPr wrap="none" lIns="0" tIns="0" rIns="0" bIns="0" rtlCol="0" anchor="ctr"/>
          <a:lstStyle/>
          <a:p>
            <a:pPr algn="ctr" indent="0" marL="0">
              <a:lnSpc>
                <a:spcPct val="100000"/>
              </a:lnSpc>
              <a:buNone/>
            </a:pPr>
            <a:r>
              <a:rPr lang="en-US" sz="500" b="1" dirty="0">
                <a:solidFill>
                  <a:srgbClr val="F4CAB8"/>
                </a:solidFill>
                <a:latin typeface="Brygada 1918 Bold" pitchFamily="34" charset="0"/>
                <a:ea typeface="Brygada 1918 Bold" pitchFamily="34" charset="-122"/>
                <a:cs typeface="Brygada 1918 Bold" pitchFamily="34" charset="-120"/>
              </a:rPr>
              <a:t>2</a:t>
            </a:r>
            <a:endParaRPr lang="en-US" sz="500" dirty="0"/>
          </a:p>
        </p:txBody>
      </p:sp>
      <p:sp>
        <p:nvSpPr>
          <p:cNvPr id="33" name="Text 28"/>
          <p:cNvSpPr/>
          <p:nvPr/>
        </p:nvSpPr>
        <p:spPr>
          <a:xfrm>
            <a:off x="3178894" y="1430908"/>
            <a:ext cx="832917"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Reply asking for confirmation</a:t>
            </a:r>
            <a:endParaRPr lang="en-US" sz="450" dirty="0"/>
          </a:p>
        </p:txBody>
      </p:sp>
      <p:sp>
        <p:nvSpPr>
          <p:cNvPr id="34" name="Text 29"/>
          <p:cNvSpPr/>
          <p:nvPr/>
        </p:nvSpPr>
        <p:spPr>
          <a:xfrm>
            <a:off x="3178894" y="1511722"/>
            <a:ext cx="2786137" cy="46062"/>
          </a:xfrm>
          <a:prstGeom prst="rect">
            <a:avLst/>
          </a:prstGeom>
          <a:noFill/>
          <a:ln/>
        </p:spPr>
        <p:txBody>
          <a:bodyPr wrap="none" lIns="0" tIns="0" rIns="0" bIns="0" rtlCol="0" anchor="t"/>
          <a:lstStyle/>
          <a:p>
            <a:pPr algn="l" indent="0" marL="0">
              <a:lnSpc>
                <a:spcPts val="350"/>
              </a:lnSpc>
              <a:buNone/>
            </a:pPr>
            <a:r>
              <a:rPr lang="en-US" sz="300" b="1" dirty="0">
                <a:solidFill>
                  <a:srgbClr val="421424"/>
                </a:solidFill>
                <a:latin typeface="Montserrat Medium" pitchFamily="34" charset="0"/>
                <a:ea typeface="Montserrat Medium" pitchFamily="34" charset="-122"/>
                <a:cs typeface="Montserrat Medium" pitchFamily="34" charset="-120"/>
              </a:rPr>
              <a:t>–5 Points</a:t>
            </a:r>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 The attacker now knows your email is active and will target you for future attacks.</a:t>
            </a:r>
            <a:endParaRPr lang="en-US" sz="300" dirty="0"/>
          </a:p>
        </p:txBody>
      </p:sp>
      <p:sp>
        <p:nvSpPr>
          <p:cNvPr id="35" name="Text 30"/>
          <p:cNvSpPr/>
          <p:nvPr/>
        </p:nvSpPr>
        <p:spPr>
          <a:xfrm>
            <a:off x="3178894" y="1566193"/>
            <a:ext cx="2786137" cy="46062"/>
          </a:xfrm>
          <a:prstGeom prst="rect">
            <a:avLst/>
          </a:prstGeom>
          <a:noFill/>
          <a:ln/>
        </p:spPr>
        <p:txBody>
          <a:bodyPr wrap="none" lIns="0" tIns="0" rIns="0" bIns="0" rtlCol="0" anchor="t"/>
          <a:lstStyle/>
          <a:p>
            <a:pPr algn="l" indent="0" marL="0">
              <a:lnSpc>
                <a:spcPts val="350"/>
              </a:lnSpc>
              <a:buNone/>
            </a:pPr>
            <a:r>
              <a:rPr lang="en-US" sz="300" i="1" dirty="0">
                <a:solidFill>
                  <a:srgbClr val="F4CAB8"/>
                </a:solidFill>
                <a:latin typeface="Montserrat Medium" pitchFamily="34" charset="0"/>
                <a:ea typeface="Montserrat Medium" pitchFamily="34" charset="-122"/>
                <a:cs typeface="Montserrat Medium" pitchFamily="34" charset="-120"/>
              </a:rPr>
              <a:t>Replying to suspicious emails confirms your account is real.</a:t>
            </a:r>
            <a:endParaRPr lang="en-US" sz="300" dirty="0"/>
          </a:p>
        </p:txBody>
      </p:sp>
      <p:sp>
        <p:nvSpPr>
          <p:cNvPr id="36" name="Shape 31"/>
          <p:cNvSpPr/>
          <p:nvPr/>
        </p:nvSpPr>
        <p:spPr>
          <a:xfrm>
            <a:off x="6027316" y="1281633"/>
            <a:ext cx="2882578" cy="378842"/>
          </a:xfrm>
          <a:prstGeom prst="roundRect">
            <a:avLst>
              <a:gd name="adj" fmla="val 1722"/>
            </a:avLst>
          </a:prstGeom>
          <a:solidFill>
            <a:srgbClr val="5C2438"/>
          </a:solidFill>
          <a:ln w="4763">
            <a:solidFill>
              <a:srgbClr val="662E42"/>
            </a:solidFill>
            <a:prstDash val="solid"/>
          </a:ln>
        </p:spPr>
      </p:sp>
      <p:sp>
        <p:nvSpPr>
          <p:cNvPr id="37" name="Shape 32"/>
          <p:cNvSpPr/>
          <p:nvPr/>
        </p:nvSpPr>
        <p:spPr>
          <a:xfrm>
            <a:off x="6032078" y="1286396"/>
            <a:ext cx="2873053" cy="130448"/>
          </a:xfrm>
          <a:prstGeom prst="roundRect">
            <a:avLst>
              <a:gd name="adj" fmla="val 620"/>
            </a:avLst>
          </a:prstGeom>
          <a:solidFill>
            <a:srgbClr val="4D1529"/>
          </a:solidFill>
          <a:ln/>
        </p:spPr>
      </p:sp>
      <p:sp>
        <p:nvSpPr>
          <p:cNvPr id="38" name="Text 33"/>
          <p:cNvSpPr/>
          <p:nvPr/>
        </p:nvSpPr>
        <p:spPr>
          <a:xfrm>
            <a:off x="7435974" y="1310878"/>
            <a:ext cx="65187" cy="81483"/>
          </a:xfrm>
          <a:prstGeom prst="rect">
            <a:avLst/>
          </a:prstGeom>
          <a:noFill/>
          <a:ln/>
        </p:spPr>
        <p:txBody>
          <a:bodyPr wrap="none" lIns="0" tIns="0" rIns="0" bIns="0" rtlCol="0" anchor="ctr"/>
          <a:lstStyle/>
          <a:p>
            <a:pPr algn="ctr" indent="0" marL="0">
              <a:lnSpc>
                <a:spcPct val="100000"/>
              </a:lnSpc>
              <a:buNone/>
            </a:pPr>
            <a:r>
              <a:rPr lang="en-US" sz="500" b="1" dirty="0">
                <a:solidFill>
                  <a:srgbClr val="F4CAB8"/>
                </a:solidFill>
                <a:latin typeface="Brygada 1918 Bold" pitchFamily="34" charset="0"/>
                <a:ea typeface="Brygada 1918 Bold" pitchFamily="34" charset="-122"/>
                <a:cs typeface="Brygada 1918 Bold" pitchFamily="34" charset="-120"/>
              </a:rPr>
              <a:t>3</a:t>
            </a:r>
            <a:endParaRPr lang="en-US" sz="500" dirty="0"/>
          </a:p>
        </p:txBody>
      </p:sp>
      <p:sp>
        <p:nvSpPr>
          <p:cNvPr id="39" name="Text 34"/>
          <p:cNvSpPr/>
          <p:nvPr/>
        </p:nvSpPr>
        <p:spPr>
          <a:xfrm>
            <a:off x="6075536" y="1430908"/>
            <a:ext cx="858515"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Check official Turnitin directly</a:t>
            </a:r>
            <a:endParaRPr lang="en-US" sz="450" dirty="0"/>
          </a:p>
        </p:txBody>
      </p:sp>
      <p:sp>
        <p:nvSpPr>
          <p:cNvPr id="40" name="Text 35"/>
          <p:cNvSpPr/>
          <p:nvPr/>
        </p:nvSpPr>
        <p:spPr>
          <a:xfrm>
            <a:off x="6075536" y="1511722"/>
            <a:ext cx="2786137" cy="46062"/>
          </a:xfrm>
          <a:prstGeom prst="rect">
            <a:avLst/>
          </a:prstGeom>
          <a:noFill/>
          <a:ln/>
        </p:spPr>
        <p:txBody>
          <a:bodyPr wrap="none" lIns="0" tIns="0" rIns="0" bIns="0" rtlCol="0" anchor="t"/>
          <a:lstStyle/>
          <a:p>
            <a:pPr algn="l" indent="0" marL="0">
              <a:lnSpc>
                <a:spcPts val="350"/>
              </a:lnSpc>
              <a:buNone/>
            </a:pPr>
            <a:r>
              <a:rPr lang="en-US" sz="300" b="1" dirty="0">
                <a:solidFill>
                  <a:srgbClr val="FFB393"/>
                </a:solidFill>
                <a:latin typeface="Montserrat Medium" pitchFamily="34" charset="0"/>
                <a:ea typeface="Montserrat Medium" pitchFamily="34" charset="-122"/>
                <a:cs typeface="Montserrat Medium" pitchFamily="34" charset="-120"/>
              </a:rPr>
              <a:t>+25 Points</a:t>
            </a:r>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 You safely verified your submission status through the official website.</a:t>
            </a:r>
            <a:endParaRPr lang="en-US" sz="300" dirty="0"/>
          </a:p>
        </p:txBody>
      </p:sp>
      <p:sp>
        <p:nvSpPr>
          <p:cNvPr id="41" name="Text 36"/>
          <p:cNvSpPr/>
          <p:nvPr/>
        </p:nvSpPr>
        <p:spPr>
          <a:xfrm>
            <a:off x="6075536" y="1566193"/>
            <a:ext cx="2786137" cy="46062"/>
          </a:xfrm>
          <a:prstGeom prst="rect">
            <a:avLst/>
          </a:prstGeom>
          <a:noFill/>
          <a:ln/>
        </p:spPr>
        <p:txBody>
          <a:bodyPr wrap="none" lIns="0" tIns="0" rIns="0" bIns="0" rtlCol="0" anchor="t"/>
          <a:lstStyle/>
          <a:p>
            <a:pPr algn="l" indent="0" marL="0">
              <a:lnSpc>
                <a:spcPts val="350"/>
              </a:lnSpc>
              <a:buNone/>
            </a:pPr>
            <a:r>
              <a:rPr lang="en-US" sz="300" i="1" dirty="0">
                <a:solidFill>
                  <a:srgbClr val="F4CAB8"/>
                </a:solidFill>
                <a:latin typeface="Montserrat Medium" pitchFamily="34" charset="0"/>
                <a:ea typeface="Montserrat Medium" pitchFamily="34" charset="-122"/>
                <a:cs typeface="Montserrat Medium" pitchFamily="34" charset="-120"/>
              </a:rPr>
              <a:t>Official university services should always be accessed through trusted platforms.</a:t>
            </a:r>
            <a:endParaRPr lang="en-US" sz="300" dirty="0"/>
          </a:p>
        </p:txBody>
      </p:sp>
      <p:sp>
        <p:nvSpPr>
          <p:cNvPr id="42" name="Shape 37"/>
          <p:cNvSpPr/>
          <p:nvPr/>
        </p:nvSpPr>
        <p:spPr>
          <a:xfrm>
            <a:off x="234107" y="1676326"/>
            <a:ext cx="8675787" cy="191839"/>
          </a:xfrm>
          <a:prstGeom prst="roundRect">
            <a:avLst>
              <a:gd name="adj" fmla="val 3400"/>
            </a:avLst>
          </a:prstGeom>
          <a:solidFill>
            <a:srgbClr val="183A13"/>
          </a:solidFill>
          <a:ln/>
        </p:spPr>
      </p:sp>
      <p:pic>
        <p:nvPicPr>
          <p:cNvPr id="43" name="Image 3" descr="preencoded.png">    </p:cNvPr>
          <p:cNvPicPr>
            <a:picLocks noChangeAspect="1"/>
          </p:cNvPicPr>
          <p:nvPr/>
        </p:nvPicPr>
        <p:blipFill>
          <a:blip r:embed="rId8"/>
          <a:stretch>
            <a:fillRect/>
          </a:stretch>
        </p:blipFill>
        <p:spPr>
          <a:xfrm>
            <a:off x="277564" y="1702891"/>
            <a:ext cx="72479" cy="57969"/>
          </a:xfrm>
          <a:prstGeom prst="rect">
            <a:avLst/>
          </a:prstGeom>
        </p:spPr>
      </p:pic>
      <p:sp>
        <p:nvSpPr>
          <p:cNvPr id="44" name="Text 38"/>
          <p:cNvSpPr/>
          <p:nvPr/>
        </p:nvSpPr>
        <p:spPr>
          <a:xfrm>
            <a:off x="393502" y="1701254"/>
            <a:ext cx="579834" cy="72405"/>
          </a:xfrm>
          <a:prstGeom prst="rect">
            <a:avLst/>
          </a:prstGeom>
          <a:noFill/>
          <a:ln/>
        </p:spPr>
        <p:txBody>
          <a:bodyPr wrap="none" lIns="0" tIns="0" rIns="0" bIns="0" rtlCol="0" anchor="t"/>
          <a:lstStyle/>
          <a:p>
            <a:pPr algn="l" indent="0" marL="0">
              <a:lnSpc>
                <a:spcPts val="550"/>
              </a:lnSpc>
              <a:buNone/>
            </a:pPr>
            <a:r>
              <a:rPr lang="en-US" sz="450" b="1" dirty="0">
                <a:solidFill>
                  <a:srgbClr val="FFFFFF"/>
                </a:solidFill>
                <a:latin typeface="Brygada 1918 Bold" pitchFamily="34" charset="0"/>
                <a:ea typeface="Brygada 1918 Bold" pitchFamily="34" charset="-122"/>
                <a:cs typeface="Brygada 1918 Bold" pitchFamily="34" charset="-120"/>
              </a:rPr>
              <a:t>Correct Approach</a:t>
            </a:r>
            <a:endParaRPr lang="en-US" sz="450" dirty="0"/>
          </a:p>
        </p:txBody>
      </p:sp>
      <p:sp>
        <p:nvSpPr>
          <p:cNvPr id="45" name="Text 39"/>
          <p:cNvSpPr/>
          <p:nvPr/>
        </p:nvSpPr>
        <p:spPr>
          <a:xfrm>
            <a:off x="393502" y="1787723"/>
            <a:ext cx="8472934" cy="46062"/>
          </a:xfrm>
          <a:prstGeom prst="rect">
            <a:avLst/>
          </a:prstGeom>
          <a:noFill/>
          <a:ln/>
        </p:spPr>
        <p:txBody>
          <a:bodyPr wrap="none" lIns="0" tIns="0" rIns="0" bIns="0" rtlCol="0" anchor="t"/>
          <a:lstStyle/>
          <a:p>
            <a:pPr algn="l" indent="0" marL="0">
              <a:lnSpc>
                <a:spcPts val="350"/>
              </a:lnSpc>
              <a:buNone/>
            </a:pPr>
            <a:r>
              <a:rPr lang="en-US" sz="300" dirty="0">
                <a:solidFill>
                  <a:srgbClr val="FFFFFF"/>
                </a:solidFill>
                <a:latin typeface="Montserrat Medium" pitchFamily="34" charset="0"/>
                <a:ea typeface="Montserrat Medium" pitchFamily="34" charset="-122"/>
                <a:cs typeface="Montserrat Medium" pitchFamily="34" charset="-120"/>
              </a:rPr>
              <a:t>Your account remains secure and the phishing attempt fails. Always verify submission status by logging into official university platforms directly, not through email links.</a:t>
            </a:r>
            <a:endParaRPr lang="en-US" sz="300" dirty="0"/>
          </a:p>
        </p:txBody>
      </p:sp>
      <p:sp>
        <p:nvSpPr>
          <p:cNvPr id="46" name="Shape 40"/>
          <p:cNvSpPr/>
          <p:nvPr/>
        </p:nvSpPr>
        <p:spPr>
          <a:xfrm>
            <a:off x="234107" y="1894880"/>
            <a:ext cx="8675787" cy="3200"/>
          </a:xfrm>
          <a:prstGeom prst="rect">
            <a:avLst/>
          </a:prstGeom>
          <a:solidFill>
            <a:srgbClr val="F4CAB8">
              <a:alpha val="50000"/>
            </a:srgbClr>
          </a:solidFill>
          <a:ln/>
        </p:spPr>
      </p:sp>
      <p:sp>
        <p:nvSpPr>
          <p:cNvPr id="47" name="Text 41"/>
          <p:cNvSpPr/>
          <p:nvPr/>
        </p:nvSpPr>
        <p:spPr>
          <a:xfrm>
            <a:off x="234107" y="1930078"/>
            <a:ext cx="2191643" cy="115937"/>
          </a:xfrm>
          <a:prstGeom prst="rect">
            <a:avLst/>
          </a:prstGeom>
          <a:noFill/>
          <a:ln/>
        </p:spPr>
        <p:txBody>
          <a:bodyPr wrap="none" lIns="0" tIns="0" rIns="0" bIns="0" rtlCol="0" anchor="t"/>
          <a:lstStyle/>
          <a:p>
            <a:pPr algn="l" indent="0" marL="0">
              <a:lnSpc>
                <a:spcPts val="900"/>
              </a:lnSpc>
              <a:buNone/>
            </a:pPr>
            <a:r>
              <a:rPr lang="en-US" sz="700" b="1" dirty="0">
                <a:solidFill>
                  <a:srgbClr val="FFB393"/>
                </a:solidFill>
                <a:latin typeface="Brygada 1918 Bold" pitchFamily="34" charset="0"/>
                <a:ea typeface="Brygada 1918 Bold" pitchFamily="34" charset="-122"/>
                <a:cs typeface="Brygada 1918 Bold" pitchFamily="34" charset="-120"/>
              </a:rPr>
              <a:t>Scenario 2: Fake IT Support Password Reset Scam</a:t>
            </a:r>
            <a:endParaRPr lang="en-US" sz="700" dirty="0"/>
          </a:p>
        </p:txBody>
      </p:sp>
      <p:sp>
        <p:nvSpPr>
          <p:cNvPr id="48" name="Text 42"/>
          <p:cNvSpPr/>
          <p:nvPr/>
        </p:nvSpPr>
        <p:spPr>
          <a:xfrm>
            <a:off x="234107" y="2081213"/>
            <a:ext cx="579834" cy="72405"/>
          </a:xfrm>
          <a:prstGeom prst="rect">
            <a:avLst/>
          </a:prstGeom>
          <a:noFill/>
          <a:ln/>
        </p:spPr>
        <p:txBody>
          <a:bodyPr wrap="none" lIns="0" tIns="0" rIns="0" bIns="0" rtlCol="0" anchor="t"/>
          <a:lstStyle/>
          <a:p>
            <a:pPr algn="l" indent="0" marL="0">
              <a:lnSpc>
                <a:spcPts val="550"/>
              </a:lnSpc>
              <a:buNone/>
            </a:pPr>
            <a:r>
              <a:rPr lang="en-US" sz="450" b="1" dirty="0">
                <a:solidFill>
                  <a:srgbClr val="FFB393"/>
                </a:solidFill>
                <a:latin typeface="Brygada 1918 Bold" pitchFamily="34" charset="0"/>
                <a:ea typeface="Brygada 1918 Bold" pitchFamily="34" charset="-122"/>
                <a:cs typeface="Brygada 1918 Bold" pitchFamily="34" charset="-120"/>
              </a:rPr>
              <a:t>The Situation</a:t>
            </a:r>
            <a:endParaRPr lang="en-US" sz="450" dirty="0"/>
          </a:p>
        </p:txBody>
      </p:sp>
      <p:sp>
        <p:nvSpPr>
          <p:cNvPr id="49" name="Text 43"/>
          <p:cNvSpPr/>
          <p:nvPr/>
        </p:nvSpPr>
        <p:spPr>
          <a:xfrm>
            <a:off x="234107" y="2167682"/>
            <a:ext cx="4284836" cy="92125"/>
          </a:xfrm>
          <a:prstGeom prst="rect">
            <a:avLst/>
          </a:prstGeom>
          <a:noFill/>
          <a:ln/>
        </p:spPr>
        <p:txBody>
          <a:bodyPr wrap="square" lIns="0" tIns="0" rIns="0" bIns="0" rtlCol="0" anchor="t"/>
          <a:lstStyle/>
          <a:p>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During a busy semester and assignment submission week, you receive an urgent email claiming your university password expires today. Your account will be suspended unless you reset it immediately, or lose access to student email and Turnitin.</a:t>
            </a:r>
            <a:endParaRPr lang="en-US" sz="300" dirty="0"/>
          </a:p>
        </p:txBody>
      </p:sp>
      <p:sp>
        <p:nvSpPr>
          <p:cNvPr id="50" name="Text 44"/>
          <p:cNvSpPr/>
          <p:nvPr/>
        </p:nvSpPr>
        <p:spPr>
          <a:xfrm>
            <a:off x="4629820" y="2081213"/>
            <a:ext cx="579834" cy="72405"/>
          </a:xfrm>
          <a:prstGeom prst="rect">
            <a:avLst/>
          </a:prstGeom>
          <a:noFill/>
          <a:ln/>
        </p:spPr>
        <p:txBody>
          <a:bodyPr wrap="none" lIns="0" tIns="0" rIns="0" bIns="0" rtlCol="0" anchor="t"/>
          <a:lstStyle/>
          <a:p>
            <a:pPr algn="l" indent="0" marL="0">
              <a:lnSpc>
                <a:spcPts val="550"/>
              </a:lnSpc>
              <a:buNone/>
            </a:pPr>
            <a:r>
              <a:rPr lang="en-US" sz="450" b="1" dirty="0">
                <a:solidFill>
                  <a:srgbClr val="FFB393"/>
                </a:solidFill>
                <a:latin typeface="Brygada 1918 Bold" pitchFamily="34" charset="0"/>
                <a:ea typeface="Brygada 1918 Bold" pitchFamily="34" charset="-122"/>
                <a:cs typeface="Brygada 1918 Bold" pitchFamily="34" charset="-120"/>
              </a:rPr>
              <a:t>Red Flags</a:t>
            </a:r>
            <a:endParaRPr lang="en-US" sz="450" dirty="0"/>
          </a:p>
        </p:txBody>
      </p:sp>
      <p:sp>
        <p:nvSpPr>
          <p:cNvPr id="51" name="Text 45"/>
          <p:cNvSpPr/>
          <p:nvPr/>
        </p:nvSpPr>
        <p:spPr>
          <a:xfrm>
            <a:off x="4629820" y="2167682"/>
            <a:ext cx="4284836" cy="198983"/>
          </a:xfrm>
          <a:prstGeom prst="rect">
            <a:avLst/>
          </a:prstGeom>
          <a:noFill/>
          <a:ln/>
        </p:spPr>
        <p:txBody>
          <a:bodyPr wrap="square" lIns="0" tIns="0" rIns="0" bIns="0" rtlCol="0" anchor="t"/>
          <a:lstStyle/>
          <a:p>
            <a:pPr algn="l" marL="342900" indent="-342900">
              <a:lnSpc>
                <a:spcPts val="350"/>
              </a:lnSpc>
              <a:buSzPct val="100000"/>
              <a:buChar char="•"/>
            </a:pPr>
            <a:r>
              <a:rPr lang="en-US" sz="300" dirty="0">
                <a:solidFill>
                  <a:srgbClr val="F4CAB8"/>
                </a:solidFill>
                <a:latin typeface="Montserrat Medium" pitchFamily="34" charset="0"/>
                <a:ea typeface="Montserrat Medium" pitchFamily="34" charset="-122"/>
                <a:cs typeface="Montserrat Medium" pitchFamily="34" charset="-120"/>
              </a:rPr>
              <a:t>Fake support website: coventry-passwordhelp.net</a:t>
            </a:r>
            <a:endParaRPr lang="en-US" sz="300" dirty="0"/>
          </a:p>
          <a:p>
            <a:pPr algn="l" marL="342900" indent="-342900">
              <a:lnSpc>
                <a:spcPts val="350"/>
              </a:lnSpc>
              <a:buSzPct val="100000"/>
              <a:buChar char="•"/>
            </a:pPr>
            <a:r>
              <a:rPr lang="en-US" sz="300" dirty="0">
                <a:solidFill>
                  <a:srgbClr val="F4CAB8"/>
                </a:solidFill>
                <a:latin typeface="Montserrat Medium" pitchFamily="34" charset="0"/>
                <a:ea typeface="Montserrat Medium" pitchFamily="34" charset="-122"/>
                <a:cs typeface="Montserrat Medium" pitchFamily="34" charset="-120"/>
              </a:rPr>
              <a:t>Generic greeting "Dear Student"</a:t>
            </a:r>
            <a:endParaRPr lang="en-US" sz="300" dirty="0"/>
          </a:p>
          <a:p>
            <a:pPr algn="l" marL="342900" indent="-342900">
              <a:lnSpc>
                <a:spcPts val="350"/>
              </a:lnSpc>
              <a:buSzPct val="100000"/>
              <a:buChar char="•"/>
            </a:pPr>
            <a:r>
              <a:rPr lang="en-US" sz="300" dirty="0">
                <a:solidFill>
                  <a:srgbClr val="F4CAB8"/>
                </a:solidFill>
                <a:latin typeface="Montserrat Medium" pitchFamily="34" charset="0"/>
                <a:ea typeface="Montserrat Medium" pitchFamily="34" charset="-122"/>
                <a:cs typeface="Montserrat Medium" pitchFamily="34" charset="-120"/>
              </a:rPr>
              <a:t>Urgent warning and fear tactics</a:t>
            </a:r>
            <a:endParaRPr lang="en-US" sz="300" dirty="0"/>
          </a:p>
          <a:p>
            <a:pPr algn="l" marL="342900" indent="-342900">
              <a:lnSpc>
                <a:spcPts val="350"/>
              </a:lnSpc>
              <a:buSzPct val="100000"/>
              <a:buChar char="•"/>
            </a:pPr>
            <a:r>
              <a:rPr lang="en-US" sz="300" dirty="0">
                <a:solidFill>
                  <a:srgbClr val="F4CAB8"/>
                </a:solidFill>
                <a:latin typeface="Montserrat Medium" pitchFamily="34" charset="0"/>
                <a:ea typeface="Montserrat Medium" pitchFamily="34" charset="-122"/>
                <a:cs typeface="Montserrat Medium" pitchFamily="34" charset="-120"/>
              </a:rPr>
              <a:t>Unofficial password reset link</a:t>
            </a:r>
            <a:endParaRPr lang="en-US" sz="300" dirty="0"/>
          </a:p>
        </p:txBody>
      </p:sp>
      <p:sp>
        <p:nvSpPr>
          <p:cNvPr id="52" name="Shape 46"/>
          <p:cNvSpPr/>
          <p:nvPr/>
        </p:nvSpPr>
        <p:spPr>
          <a:xfrm>
            <a:off x="234107" y="2387426"/>
            <a:ext cx="2882503" cy="378842"/>
          </a:xfrm>
          <a:prstGeom prst="roundRect">
            <a:avLst>
              <a:gd name="adj" fmla="val 1722"/>
            </a:avLst>
          </a:prstGeom>
          <a:solidFill>
            <a:srgbClr val="5C2438"/>
          </a:solidFill>
          <a:ln w="4763">
            <a:solidFill>
              <a:srgbClr val="662E42"/>
            </a:solidFill>
            <a:prstDash val="solid"/>
          </a:ln>
        </p:spPr>
      </p:sp>
      <p:sp>
        <p:nvSpPr>
          <p:cNvPr id="53" name="Shape 47"/>
          <p:cNvSpPr/>
          <p:nvPr/>
        </p:nvSpPr>
        <p:spPr>
          <a:xfrm>
            <a:off x="238869" y="2392189"/>
            <a:ext cx="2872978" cy="130448"/>
          </a:xfrm>
          <a:prstGeom prst="roundRect">
            <a:avLst>
              <a:gd name="adj" fmla="val 620"/>
            </a:avLst>
          </a:prstGeom>
          <a:solidFill>
            <a:srgbClr val="4D1529"/>
          </a:solidFill>
          <a:ln/>
        </p:spPr>
      </p:sp>
      <p:sp>
        <p:nvSpPr>
          <p:cNvPr id="54" name="Text 48"/>
          <p:cNvSpPr/>
          <p:nvPr/>
        </p:nvSpPr>
        <p:spPr>
          <a:xfrm>
            <a:off x="1642765" y="2416671"/>
            <a:ext cx="65187" cy="81483"/>
          </a:xfrm>
          <a:prstGeom prst="rect">
            <a:avLst/>
          </a:prstGeom>
          <a:noFill/>
          <a:ln/>
        </p:spPr>
        <p:txBody>
          <a:bodyPr wrap="none" lIns="0" tIns="0" rIns="0" bIns="0" rtlCol="0" anchor="ctr"/>
          <a:lstStyle/>
          <a:p>
            <a:pPr algn="ctr" indent="0" marL="0">
              <a:lnSpc>
                <a:spcPct val="100000"/>
              </a:lnSpc>
              <a:buNone/>
            </a:pPr>
            <a:r>
              <a:rPr lang="en-US" sz="500" b="1" dirty="0">
                <a:solidFill>
                  <a:srgbClr val="F4CAB8"/>
                </a:solidFill>
                <a:latin typeface="Brygada 1918 Bold" pitchFamily="34" charset="0"/>
                <a:ea typeface="Brygada 1918 Bold" pitchFamily="34" charset="-122"/>
                <a:cs typeface="Brygada 1918 Bold" pitchFamily="34" charset="-120"/>
              </a:rPr>
              <a:t>1</a:t>
            </a:r>
            <a:endParaRPr lang="en-US" sz="500" dirty="0"/>
          </a:p>
        </p:txBody>
      </p:sp>
      <p:sp>
        <p:nvSpPr>
          <p:cNvPr id="55" name="Text 49"/>
          <p:cNvSpPr/>
          <p:nvPr/>
        </p:nvSpPr>
        <p:spPr>
          <a:xfrm>
            <a:off x="282327" y="2536701"/>
            <a:ext cx="908670"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Click reset and enter credentials</a:t>
            </a:r>
            <a:endParaRPr lang="en-US" sz="450" dirty="0"/>
          </a:p>
        </p:txBody>
      </p:sp>
      <p:sp>
        <p:nvSpPr>
          <p:cNvPr id="56" name="Text 50"/>
          <p:cNvSpPr/>
          <p:nvPr/>
        </p:nvSpPr>
        <p:spPr>
          <a:xfrm>
            <a:off x="282327" y="2617515"/>
            <a:ext cx="2786063" cy="46062"/>
          </a:xfrm>
          <a:prstGeom prst="rect">
            <a:avLst/>
          </a:prstGeom>
          <a:noFill/>
          <a:ln/>
        </p:spPr>
        <p:txBody>
          <a:bodyPr wrap="none" lIns="0" tIns="0" rIns="0" bIns="0" rtlCol="0" anchor="t"/>
          <a:lstStyle/>
          <a:p>
            <a:pPr algn="l" indent="0" marL="0">
              <a:lnSpc>
                <a:spcPts val="350"/>
              </a:lnSpc>
              <a:buNone/>
            </a:pPr>
            <a:r>
              <a:rPr lang="en-US" sz="300" b="1" dirty="0">
                <a:solidFill>
                  <a:srgbClr val="421424"/>
                </a:solidFill>
                <a:latin typeface="Montserrat Medium" pitchFamily="34" charset="0"/>
                <a:ea typeface="Montserrat Medium" pitchFamily="34" charset="-122"/>
                <a:cs typeface="Montserrat Medium" pitchFamily="34" charset="-120"/>
              </a:rPr>
              <a:t>–20 Points</a:t>
            </a:r>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 The password reset page was fake. Your university account credentials have been stolen.</a:t>
            </a:r>
            <a:endParaRPr lang="en-US" sz="300" dirty="0"/>
          </a:p>
        </p:txBody>
      </p:sp>
      <p:sp>
        <p:nvSpPr>
          <p:cNvPr id="57" name="Text 51"/>
          <p:cNvSpPr/>
          <p:nvPr/>
        </p:nvSpPr>
        <p:spPr>
          <a:xfrm>
            <a:off x="282327" y="2671986"/>
            <a:ext cx="2786063" cy="46062"/>
          </a:xfrm>
          <a:prstGeom prst="rect">
            <a:avLst/>
          </a:prstGeom>
          <a:noFill/>
          <a:ln/>
        </p:spPr>
        <p:txBody>
          <a:bodyPr wrap="none" lIns="0" tIns="0" rIns="0" bIns="0" rtlCol="0" anchor="t"/>
          <a:lstStyle/>
          <a:p>
            <a:pPr algn="l" indent="0" marL="0">
              <a:lnSpc>
                <a:spcPts val="350"/>
              </a:lnSpc>
              <a:buNone/>
            </a:pPr>
            <a:r>
              <a:rPr lang="en-US" sz="300" i="1" dirty="0">
                <a:solidFill>
                  <a:srgbClr val="F4CAB8"/>
                </a:solidFill>
                <a:latin typeface="Montserrat Medium" pitchFamily="34" charset="0"/>
                <a:ea typeface="Montserrat Medium" pitchFamily="34" charset="-122"/>
                <a:cs typeface="Montserrat Medium" pitchFamily="34" charset="-120"/>
              </a:rPr>
              <a:t>Always verify password reset requests through official university websites.</a:t>
            </a:r>
            <a:endParaRPr lang="en-US" sz="300" dirty="0"/>
          </a:p>
        </p:txBody>
      </p:sp>
      <p:sp>
        <p:nvSpPr>
          <p:cNvPr id="58" name="Shape 52"/>
          <p:cNvSpPr/>
          <p:nvPr/>
        </p:nvSpPr>
        <p:spPr>
          <a:xfrm>
            <a:off x="3130674" y="2387426"/>
            <a:ext cx="2882578" cy="378842"/>
          </a:xfrm>
          <a:prstGeom prst="roundRect">
            <a:avLst>
              <a:gd name="adj" fmla="val 1722"/>
            </a:avLst>
          </a:prstGeom>
          <a:solidFill>
            <a:srgbClr val="5C2438"/>
          </a:solidFill>
          <a:ln w="4763">
            <a:solidFill>
              <a:srgbClr val="662E42"/>
            </a:solidFill>
            <a:prstDash val="solid"/>
          </a:ln>
        </p:spPr>
      </p:sp>
      <p:sp>
        <p:nvSpPr>
          <p:cNvPr id="59" name="Shape 53"/>
          <p:cNvSpPr/>
          <p:nvPr/>
        </p:nvSpPr>
        <p:spPr>
          <a:xfrm>
            <a:off x="3135437" y="2392189"/>
            <a:ext cx="2873053" cy="130448"/>
          </a:xfrm>
          <a:prstGeom prst="roundRect">
            <a:avLst>
              <a:gd name="adj" fmla="val 620"/>
            </a:avLst>
          </a:prstGeom>
          <a:solidFill>
            <a:srgbClr val="4D1529"/>
          </a:solidFill>
          <a:ln/>
        </p:spPr>
      </p:sp>
      <p:sp>
        <p:nvSpPr>
          <p:cNvPr id="60" name="Text 54"/>
          <p:cNvSpPr/>
          <p:nvPr/>
        </p:nvSpPr>
        <p:spPr>
          <a:xfrm>
            <a:off x="4539332" y="2416671"/>
            <a:ext cx="65187" cy="81483"/>
          </a:xfrm>
          <a:prstGeom prst="rect">
            <a:avLst/>
          </a:prstGeom>
          <a:noFill/>
          <a:ln/>
        </p:spPr>
        <p:txBody>
          <a:bodyPr wrap="none" lIns="0" tIns="0" rIns="0" bIns="0" rtlCol="0" anchor="ctr"/>
          <a:lstStyle/>
          <a:p>
            <a:pPr algn="ctr" indent="0" marL="0">
              <a:lnSpc>
                <a:spcPct val="100000"/>
              </a:lnSpc>
              <a:buNone/>
            </a:pPr>
            <a:r>
              <a:rPr lang="en-US" sz="500" b="1" dirty="0">
                <a:solidFill>
                  <a:srgbClr val="F4CAB8"/>
                </a:solidFill>
                <a:latin typeface="Brygada 1918 Bold" pitchFamily="34" charset="0"/>
                <a:ea typeface="Brygada 1918 Bold" pitchFamily="34" charset="-122"/>
                <a:cs typeface="Brygada 1918 Bold" pitchFamily="34" charset="-120"/>
              </a:rPr>
              <a:t>2</a:t>
            </a:r>
            <a:endParaRPr lang="en-US" sz="500" dirty="0"/>
          </a:p>
        </p:txBody>
      </p:sp>
      <p:sp>
        <p:nvSpPr>
          <p:cNvPr id="61" name="Text 55"/>
          <p:cNvSpPr/>
          <p:nvPr/>
        </p:nvSpPr>
        <p:spPr>
          <a:xfrm>
            <a:off x="3178894" y="2536701"/>
            <a:ext cx="919237"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Verify through official IT support</a:t>
            </a:r>
            <a:endParaRPr lang="en-US" sz="450" dirty="0"/>
          </a:p>
        </p:txBody>
      </p:sp>
      <p:sp>
        <p:nvSpPr>
          <p:cNvPr id="62" name="Text 56"/>
          <p:cNvSpPr/>
          <p:nvPr/>
        </p:nvSpPr>
        <p:spPr>
          <a:xfrm>
            <a:off x="3178894" y="2617515"/>
            <a:ext cx="2786137" cy="46062"/>
          </a:xfrm>
          <a:prstGeom prst="rect">
            <a:avLst/>
          </a:prstGeom>
          <a:noFill/>
          <a:ln/>
        </p:spPr>
        <p:txBody>
          <a:bodyPr wrap="none" lIns="0" tIns="0" rIns="0" bIns="0" rtlCol="0" anchor="t"/>
          <a:lstStyle/>
          <a:p>
            <a:pPr algn="l" indent="0" marL="0">
              <a:lnSpc>
                <a:spcPts val="350"/>
              </a:lnSpc>
              <a:buNone/>
            </a:pPr>
            <a:r>
              <a:rPr lang="en-US" sz="300" b="1" dirty="0">
                <a:solidFill>
                  <a:srgbClr val="FFB393"/>
                </a:solidFill>
                <a:latin typeface="Montserrat Medium" pitchFamily="34" charset="0"/>
                <a:ea typeface="Montserrat Medium" pitchFamily="34" charset="-122"/>
                <a:cs typeface="Montserrat Medium" pitchFamily="34" charset="-120"/>
              </a:rPr>
              <a:t>+25 Points</a:t>
            </a:r>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 Well done! Coventry IT Support confirmed the email was a phishing scam.</a:t>
            </a:r>
            <a:endParaRPr lang="en-US" sz="300" dirty="0"/>
          </a:p>
        </p:txBody>
      </p:sp>
      <p:sp>
        <p:nvSpPr>
          <p:cNvPr id="63" name="Text 57"/>
          <p:cNvSpPr/>
          <p:nvPr/>
        </p:nvSpPr>
        <p:spPr>
          <a:xfrm>
            <a:off x="3178894" y="2671986"/>
            <a:ext cx="2786137" cy="46062"/>
          </a:xfrm>
          <a:prstGeom prst="rect">
            <a:avLst/>
          </a:prstGeom>
          <a:noFill/>
          <a:ln/>
        </p:spPr>
        <p:txBody>
          <a:bodyPr wrap="none" lIns="0" tIns="0" rIns="0" bIns="0" rtlCol="0" anchor="t"/>
          <a:lstStyle/>
          <a:p>
            <a:pPr algn="l" indent="0" marL="0">
              <a:lnSpc>
                <a:spcPts val="350"/>
              </a:lnSpc>
              <a:buNone/>
            </a:pPr>
            <a:r>
              <a:rPr lang="en-US" sz="300" i="1" dirty="0">
                <a:solidFill>
                  <a:srgbClr val="F4CAB8"/>
                </a:solidFill>
                <a:latin typeface="Montserrat Medium" pitchFamily="34" charset="0"/>
                <a:ea typeface="Montserrat Medium" pitchFamily="34" charset="-122"/>
                <a:cs typeface="Montserrat Medium" pitchFamily="34" charset="-120"/>
              </a:rPr>
              <a:t>Use official university portals and support channels to verify urgent requests.</a:t>
            </a:r>
            <a:endParaRPr lang="en-US" sz="300" dirty="0"/>
          </a:p>
        </p:txBody>
      </p:sp>
      <p:sp>
        <p:nvSpPr>
          <p:cNvPr id="64" name="Shape 58"/>
          <p:cNvSpPr/>
          <p:nvPr/>
        </p:nvSpPr>
        <p:spPr>
          <a:xfrm>
            <a:off x="6027316" y="2387426"/>
            <a:ext cx="2882578" cy="378842"/>
          </a:xfrm>
          <a:prstGeom prst="roundRect">
            <a:avLst>
              <a:gd name="adj" fmla="val 1722"/>
            </a:avLst>
          </a:prstGeom>
          <a:solidFill>
            <a:srgbClr val="5C2438"/>
          </a:solidFill>
          <a:ln w="4763">
            <a:solidFill>
              <a:srgbClr val="662E42"/>
            </a:solidFill>
            <a:prstDash val="solid"/>
          </a:ln>
        </p:spPr>
      </p:sp>
      <p:sp>
        <p:nvSpPr>
          <p:cNvPr id="65" name="Shape 59"/>
          <p:cNvSpPr/>
          <p:nvPr/>
        </p:nvSpPr>
        <p:spPr>
          <a:xfrm>
            <a:off x="6032078" y="2392189"/>
            <a:ext cx="2873053" cy="130448"/>
          </a:xfrm>
          <a:prstGeom prst="roundRect">
            <a:avLst>
              <a:gd name="adj" fmla="val 620"/>
            </a:avLst>
          </a:prstGeom>
          <a:solidFill>
            <a:srgbClr val="4D1529"/>
          </a:solidFill>
          <a:ln/>
        </p:spPr>
      </p:sp>
      <p:sp>
        <p:nvSpPr>
          <p:cNvPr id="66" name="Text 60"/>
          <p:cNvSpPr/>
          <p:nvPr/>
        </p:nvSpPr>
        <p:spPr>
          <a:xfrm>
            <a:off x="7435974" y="2416671"/>
            <a:ext cx="65187" cy="81483"/>
          </a:xfrm>
          <a:prstGeom prst="rect">
            <a:avLst/>
          </a:prstGeom>
          <a:noFill/>
          <a:ln/>
        </p:spPr>
        <p:txBody>
          <a:bodyPr wrap="none" lIns="0" tIns="0" rIns="0" bIns="0" rtlCol="0" anchor="ctr"/>
          <a:lstStyle/>
          <a:p>
            <a:pPr algn="ctr" indent="0" marL="0">
              <a:lnSpc>
                <a:spcPct val="100000"/>
              </a:lnSpc>
              <a:buNone/>
            </a:pPr>
            <a:r>
              <a:rPr lang="en-US" sz="500" b="1" dirty="0">
                <a:solidFill>
                  <a:srgbClr val="F4CAB8"/>
                </a:solidFill>
                <a:latin typeface="Brygada 1918 Bold" pitchFamily="34" charset="0"/>
                <a:ea typeface="Brygada 1918 Bold" pitchFamily="34" charset="-122"/>
                <a:cs typeface="Brygada 1918 Bold" pitchFamily="34" charset="-120"/>
              </a:rPr>
              <a:t>3</a:t>
            </a:r>
            <a:endParaRPr lang="en-US" sz="500" dirty="0"/>
          </a:p>
        </p:txBody>
      </p:sp>
      <p:sp>
        <p:nvSpPr>
          <p:cNvPr id="67" name="Text 61"/>
          <p:cNvSpPr/>
          <p:nvPr/>
        </p:nvSpPr>
        <p:spPr>
          <a:xfrm>
            <a:off x="6075536" y="2536701"/>
            <a:ext cx="778520"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Ignore the email completely</a:t>
            </a:r>
            <a:endParaRPr lang="en-US" sz="450" dirty="0"/>
          </a:p>
        </p:txBody>
      </p:sp>
      <p:sp>
        <p:nvSpPr>
          <p:cNvPr id="68" name="Text 62"/>
          <p:cNvSpPr/>
          <p:nvPr/>
        </p:nvSpPr>
        <p:spPr>
          <a:xfrm>
            <a:off x="6075536" y="2617515"/>
            <a:ext cx="2786137" cy="46062"/>
          </a:xfrm>
          <a:prstGeom prst="rect">
            <a:avLst/>
          </a:prstGeom>
          <a:noFill/>
          <a:ln/>
        </p:spPr>
        <p:txBody>
          <a:bodyPr wrap="none" lIns="0" tIns="0" rIns="0" bIns="0" rtlCol="0" anchor="t"/>
          <a:lstStyle/>
          <a:p>
            <a:pPr algn="l" indent="0" marL="0">
              <a:lnSpc>
                <a:spcPts val="350"/>
              </a:lnSpc>
              <a:buNone/>
            </a:pPr>
            <a:r>
              <a:rPr lang="en-US" sz="300" b="1" dirty="0">
                <a:solidFill>
                  <a:srgbClr val="421424"/>
                </a:solidFill>
                <a:latin typeface="Montserrat Medium" pitchFamily="34" charset="0"/>
                <a:ea typeface="Montserrat Medium" pitchFamily="34" charset="-122"/>
                <a:cs typeface="Montserrat Medium" pitchFamily="34" charset="-120"/>
              </a:rPr>
              <a:t>+5 Points</a:t>
            </a:r>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 You avoided the phishing attack, but ignoring all security emails can also be risky.</a:t>
            </a:r>
            <a:endParaRPr lang="en-US" sz="300" dirty="0"/>
          </a:p>
        </p:txBody>
      </p:sp>
      <p:sp>
        <p:nvSpPr>
          <p:cNvPr id="69" name="Text 63"/>
          <p:cNvSpPr/>
          <p:nvPr/>
        </p:nvSpPr>
        <p:spPr>
          <a:xfrm>
            <a:off x="6075536" y="2671986"/>
            <a:ext cx="2786137" cy="46062"/>
          </a:xfrm>
          <a:prstGeom prst="rect">
            <a:avLst/>
          </a:prstGeom>
          <a:noFill/>
          <a:ln/>
        </p:spPr>
        <p:txBody>
          <a:bodyPr wrap="none" lIns="0" tIns="0" rIns="0" bIns="0" rtlCol="0" anchor="t"/>
          <a:lstStyle/>
          <a:p>
            <a:pPr algn="l" indent="0" marL="0">
              <a:lnSpc>
                <a:spcPts val="350"/>
              </a:lnSpc>
              <a:buNone/>
            </a:pPr>
            <a:r>
              <a:rPr lang="en-US" sz="300" i="1" dirty="0">
                <a:solidFill>
                  <a:srgbClr val="F4CAB8"/>
                </a:solidFill>
                <a:latin typeface="Montserrat Medium" pitchFamily="34" charset="0"/>
                <a:ea typeface="Montserrat Medium" pitchFamily="34" charset="-122"/>
                <a:cs typeface="Montserrat Medium" pitchFamily="34" charset="-120"/>
              </a:rPr>
              <a:t>Always verify suspicious messages instead of ignoring them completely.</a:t>
            </a:r>
            <a:endParaRPr lang="en-US" sz="300" dirty="0"/>
          </a:p>
        </p:txBody>
      </p:sp>
      <p:sp>
        <p:nvSpPr>
          <p:cNvPr id="70" name="Shape 64"/>
          <p:cNvSpPr/>
          <p:nvPr/>
        </p:nvSpPr>
        <p:spPr>
          <a:xfrm>
            <a:off x="234107" y="2782119"/>
            <a:ext cx="8675787" cy="191839"/>
          </a:xfrm>
          <a:prstGeom prst="roundRect">
            <a:avLst>
              <a:gd name="adj" fmla="val 3400"/>
            </a:avLst>
          </a:prstGeom>
          <a:solidFill>
            <a:srgbClr val="183A13"/>
          </a:solidFill>
          <a:ln/>
        </p:spPr>
      </p:sp>
      <p:pic>
        <p:nvPicPr>
          <p:cNvPr id="71" name="Image 4" descr="preencoded.png">    </p:cNvPr>
          <p:cNvPicPr>
            <a:picLocks noChangeAspect="1"/>
          </p:cNvPicPr>
          <p:nvPr/>
        </p:nvPicPr>
        <p:blipFill>
          <a:blip r:embed="rId9"/>
          <a:stretch>
            <a:fillRect/>
          </a:stretch>
        </p:blipFill>
        <p:spPr>
          <a:xfrm>
            <a:off x="277564" y="2808684"/>
            <a:ext cx="72479" cy="57969"/>
          </a:xfrm>
          <a:prstGeom prst="rect">
            <a:avLst/>
          </a:prstGeom>
        </p:spPr>
      </p:pic>
      <p:sp>
        <p:nvSpPr>
          <p:cNvPr id="72" name="Text 65"/>
          <p:cNvSpPr/>
          <p:nvPr/>
        </p:nvSpPr>
        <p:spPr>
          <a:xfrm>
            <a:off x="393502" y="2807047"/>
            <a:ext cx="579834" cy="72405"/>
          </a:xfrm>
          <a:prstGeom prst="rect">
            <a:avLst/>
          </a:prstGeom>
          <a:noFill/>
          <a:ln/>
        </p:spPr>
        <p:txBody>
          <a:bodyPr wrap="none" lIns="0" tIns="0" rIns="0" bIns="0" rtlCol="0" anchor="t"/>
          <a:lstStyle/>
          <a:p>
            <a:pPr algn="l" indent="0" marL="0">
              <a:lnSpc>
                <a:spcPts val="550"/>
              </a:lnSpc>
              <a:buNone/>
            </a:pPr>
            <a:r>
              <a:rPr lang="en-US" sz="450" b="1" dirty="0">
                <a:solidFill>
                  <a:srgbClr val="FFFFFF"/>
                </a:solidFill>
                <a:latin typeface="Brygada 1918 Bold" pitchFamily="34" charset="0"/>
                <a:ea typeface="Brygada 1918 Bold" pitchFamily="34" charset="-122"/>
                <a:cs typeface="Brygada 1918 Bold" pitchFamily="34" charset="-120"/>
              </a:rPr>
              <a:t>Correct Approach</a:t>
            </a:r>
            <a:endParaRPr lang="en-US" sz="450" dirty="0"/>
          </a:p>
        </p:txBody>
      </p:sp>
      <p:sp>
        <p:nvSpPr>
          <p:cNvPr id="73" name="Text 66"/>
          <p:cNvSpPr/>
          <p:nvPr/>
        </p:nvSpPr>
        <p:spPr>
          <a:xfrm>
            <a:off x="393502" y="2893516"/>
            <a:ext cx="8472934" cy="46062"/>
          </a:xfrm>
          <a:prstGeom prst="rect">
            <a:avLst/>
          </a:prstGeom>
          <a:noFill/>
          <a:ln/>
        </p:spPr>
        <p:txBody>
          <a:bodyPr wrap="none" lIns="0" tIns="0" rIns="0" bIns="0" rtlCol="0" anchor="t"/>
          <a:lstStyle/>
          <a:p>
            <a:pPr algn="l" indent="0" marL="0">
              <a:lnSpc>
                <a:spcPts val="350"/>
              </a:lnSpc>
              <a:buNone/>
            </a:pPr>
            <a:r>
              <a:rPr lang="en-US" sz="300" dirty="0">
                <a:solidFill>
                  <a:srgbClr val="FFFFFF"/>
                </a:solidFill>
                <a:latin typeface="Montserrat Medium" pitchFamily="34" charset="0"/>
                <a:ea typeface="Montserrat Medium" pitchFamily="34" charset="-122"/>
                <a:cs typeface="Montserrat Medium" pitchFamily="34" charset="-120"/>
              </a:rPr>
              <a:t>Your account stays secure and the phishing attempt is successfully avoided. Always access university IT support through official portals, not email links.</a:t>
            </a:r>
            <a:endParaRPr lang="en-US" sz="300" dirty="0"/>
          </a:p>
        </p:txBody>
      </p:sp>
      <p:sp>
        <p:nvSpPr>
          <p:cNvPr id="74" name="Shape 67"/>
          <p:cNvSpPr/>
          <p:nvPr/>
        </p:nvSpPr>
        <p:spPr>
          <a:xfrm>
            <a:off x="234107" y="3000673"/>
            <a:ext cx="8675787" cy="3200"/>
          </a:xfrm>
          <a:prstGeom prst="rect">
            <a:avLst/>
          </a:prstGeom>
          <a:solidFill>
            <a:srgbClr val="F4CAB8">
              <a:alpha val="50000"/>
            </a:srgbClr>
          </a:solidFill>
          <a:ln/>
        </p:spPr>
      </p:sp>
      <p:sp>
        <p:nvSpPr>
          <p:cNvPr id="75" name="Text 68"/>
          <p:cNvSpPr/>
          <p:nvPr/>
        </p:nvSpPr>
        <p:spPr>
          <a:xfrm>
            <a:off x="234107" y="3035871"/>
            <a:ext cx="1845692" cy="115937"/>
          </a:xfrm>
          <a:prstGeom prst="rect">
            <a:avLst/>
          </a:prstGeom>
          <a:noFill/>
          <a:ln/>
        </p:spPr>
        <p:txBody>
          <a:bodyPr wrap="none" lIns="0" tIns="0" rIns="0" bIns="0" rtlCol="0" anchor="t"/>
          <a:lstStyle/>
          <a:p>
            <a:pPr algn="l" indent="0" marL="0">
              <a:lnSpc>
                <a:spcPts val="900"/>
              </a:lnSpc>
              <a:buNone/>
            </a:pPr>
            <a:r>
              <a:rPr lang="en-US" sz="700" b="1" dirty="0">
                <a:solidFill>
                  <a:srgbClr val="FFB393"/>
                </a:solidFill>
                <a:latin typeface="Brygada 1918 Bold" pitchFamily="34" charset="0"/>
                <a:ea typeface="Brygada 1918 Bold" pitchFamily="34" charset="-122"/>
                <a:cs typeface="Brygada 1918 Bold" pitchFamily="34" charset="-120"/>
              </a:rPr>
              <a:t>Scenario 3: Fake Tuition Fee Refund Scam</a:t>
            </a:r>
            <a:endParaRPr lang="en-US" sz="700" dirty="0"/>
          </a:p>
        </p:txBody>
      </p:sp>
      <p:sp>
        <p:nvSpPr>
          <p:cNvPr id="76" name="Text 69"/>
          <p:cNvSpPr/>
          <p:nvPr/>
        </p:nvSpPr>
        <p:spPr>
          <a:xfrm>
            <a:off x="234107" y="3187005"/>
            <a:ext cx="579834" cy="72405"/>
          </a:xfrm>
          <a:prstGeom prst="rect">
            <a:avLst/>
          </a:prstGeom>
          <a:noFill/>
          <a:ln/>
        </p:spPr>
        <p:txBody>
          <a:bodyPr wrap="none" lIns="0" tIns="0" rIns="0" bIns="0" rtlCol="0" anchor="t"/>
          <a:lstStyle/>
          <a:p>
            <a:pPr algn="l" indent="0" marL="0">
              <a:lnSpc>
                <a:spcPts val="550"/>
              </a:lnSpc>
              <a:buNone/>
            </a:pPr>
            <a:r>
              <a:rPr lang="en-US" sz="450" b="1" dirty="0">
                <a:solidFill>
                  <a:srgbClr val="FFB393"/>
                </a:solidFill>
                <a:latin typeface="Brygada 1918 Bold" pitchFamily="34" charset="0"/>
                <a:ea typeface="Brygada 1918 Bold" pitchFamily="34" charset="-122"/>
                <a:cs typeface="Brygada 1918 Bold" pitchFamily="34" charset="-120"/>
              </a:rPr>
              <a:t>The Situation</a:t>
            </a:r>
            <a:endParaRPr lang="en-US" sz="450" dirty="0"/>
          </a:p>
        </p:txBody>
      </p:sp>
      <p:sp>
        <p:nvSpPr>
          <p:cNvPr id="77" name="Text 70"/>
          <p:cNvSpPr/>
          <p:nvPr/>
        </p:nvSpPr>
        <p:spPr>
          <a:xfrm>
            <a:off x="234107" y="3273475"/>
            <a:ext cx="4284836" cy="92125"/>
          </a:xfrm>
          <a:prstGeom prst="rect">
            <a:avLst/>
          </a:prstGeom>
          <a:noFill/>
          <a:ln/>
        </p:spPr>
        <p:txBody>
          <a:bodyPr wrap="square" lIns="0" tIns="0" rIns="0" bIns="0" rtlCol="0" anchor="t"/>
          <a:lstStyle/>
          <a:p>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As a student at CU London who recently paid tuition fees, you receive an SMS claiming your payment was processed twice due to a technical error. You're eligible for a £5,000 refund if you confirm your banking details immediately.</a:t>
            </a:r>
            <a:endParaRPr lang="en-US" sz="300" dirty="0"/>
          </a:p>
        </p:txBody>
      </p:sp>
      <p:sp>
        <p:nvSpPr>
          <p:cNvPr id="78" name="Text 71"/>
          <p:cNvSpPr/>
          <p:nvPr/>
        </p:nvSpPr>
        <p:spPr>
          <a:xfrm>
            <a:off x="4629820" y="3187005"/>
            <a:ext cx="579834" cy="72405"/>
          </a:xfrm>
          <a:prstGeom prst="rect">
            <a:avLst/>
          </a:prstGeom>
          <a:noFill/>
          <a:ln/>
        </p:spPr>
        <p:txBody>
          <a:bodyPr wrap="none" lIns="0" tIns="0" rIns="0" bIns="0" rtlCol="0" anchor="t"/>
          <a:lstStyle/>
          <a:p>
            <a:pPr algn="l" indent="0" marL="0">
              <a:lnSpc>
                <a:spcPts val="550"/>
              </a:lnSpc>
              <a:buNone/>
            </a:pPr>
            <a:r>
              <a:rPr lang="en-US" sz="450" b="1" dirty="0">
                <a:solidFill>
                  <a:srgbClr val="FFB393"/>
                </a:solidFill>
                <a:latin typeface="Brygada 1918 Bold" pitchFamily="34" charset="0"/>
                <a:ea typeface="Brygada 1918 Bold" pitchFamily="34" charset="-122"/>
                <a:cs typeface="Brygada 1918 Bold" pitchFamily="34" charset="-120"/>
              </a:rPr>
              <a:t>Red Flags</a:t>
            </a:r>
            <a:endParaRPr lang="en-US" sz="450" dirty="0"/>
          </a:p>
        </p:txBody>
      </p:sp>
      <p:sp>
        <p:nvSpPr>
          <p:cNvPr id="79" name="Text 72"/>
          <p:cNvSpPr/>
          <p:nvPr/>
        </p:nvSpPr>
        <p:spPr>
          <a:xfrm>
            <a:off x="4629820" y="3273475"/>
            <a:ext cx="4284836" cy="249957"/>
          </a:xfrm>
          <a:prstGeom prst="rect">
            <a:avLst/>
          </a:prstGeom>
          <a:noFill/>
          <a:ln/>
        </p:spPr>
        <p:txBody>
          <a:bodyPr wrap="square" lIns="0" tIns="0" rIns="0" bIns="0" rtlCol="0" anchor="t"/>
          <a:lstStyle/>
          <a:p>
            <a:pPr algn="l" marL="342900" indent="-342900">
              <a:lnSpc>
                <a:spcPts val="350"/>
              </a:lnSpc>
              <a:buSzPct val="100000"/>
              <a:buChar char="•"/>
            </a:pPr>
            <a:r>
              <a:rPr lang="en-US" sz="300" dirty="0">
                <a:solidFill>
                  <a:srgbClr val="F4CAB8"/>
                </a:solidFill>
                <a:latin typeface="Montserrat Medium" pitchFamily="34" charset="0"/>
                <a:ea typeface="Montserrat Medium" pitchFamily="34" charset="-122"/>
                <a:cs typeface="Montserrat Medium" pitchFamily="34" charset="-120"/>
              </a:rPr>
              <a:t>Unknown mobile number</a:t>
            </a:r>
            <a:endParaRPr lang="en-US" sz="300" dirty="0"/>
          </a:p>
          <a:p>
            <a:pPr algn="l" marL="342900" indent="-342900">
              <a:lnSpc>
                <a:spcPts val="350"/>
              </a:lnSpc>
              <a:buSzPct val="100000"/>
              <a:buChar char="•"/>
            </a:pPr>
            <a:r>
              <a:rPr lang="en-US" sz="300" dirty="0">
                <a:solidFill>
                  <a:srgbClr val="F4CAB8"/>
                </a:solidFill>
                <a:latin typeface="Montserrat Medium" pitchFamily="34" charset="0"/>
                <a:ea typeface="Montserrat Medium" pitchFamily="34" charset="-122"/>
                <a:cs typeface="Montserrat Medium" pitchFamily="34" charset="-120"/>
              </a:rPr>
              <a:t>Suspicious repayment link</a:t>
            </a:r>
            <a:endParaRPr lang="en-US" sz="300" dirty="0"/>
          </a:p>
          <a:p>
            <a:pPr algn="l" marL="342900" indent="-342900">
              <a:lnSpc>
                <a:spcPts val="350"/>
              </a:lnSpc>
              <a:buSzPct val="100000"/>
              <a:buChar char="•"/>
            </a:pPr>
            <a:r>
              <a:rPr lang="en-US" sz="300" dirty="0">
                <a:solidFill>
                  <a:srgbClr val="F4CAB8"/>
                </a:solidFill>
                <a:latin typeface="Montserrat Medium" pitchFamily="34" charset="0"/>
                <a:ea typeface="Montserrat Medium" pitchFamily="34" charset="-122"/>
                <a:cs typeface="Montserrat Medium" pitchFamily="34" charset="-120"/>
              </a:rPr>
              <a:t>Request for bank details</a:t>
            </a:r>
            <a:endParaRPr lang="en-US" sz="300" dirty="0"/>
          </a:p>
          <a:p>
            <a:pPr algn="l" marL="342900" indent="-342900">
              <a:lnSpc>
                <a:spcPts val="350"/>
              </a:lnSpc>
              <a:buSzPct val="100000"/>
              <a:buChar char="•"/>
            </a:pPr>
            <a:r>
              <a:rPr lang="en-US" sz="300" dirty="0">
                <a:solidFill>
                  <a:srgbClr val="F4CAB8"/>
                </a:solidFill>
                <a:latin typeface="Montserrat Medium" pitchFamily="34" charset="0"/>
                <a:ea typeface="Montserrat Medium" pitchFamily="34" charset="-122"/>
                <a:cs typeface="Montserrat Medium" pitchFamily="34" charset="-120"/>
              </a:rPr>
              <a:t>Fake finance website</a:t>
            </a:r>
            <a:endParaRPr lang="en-US" sz="300" dirty="0"/>
          </a:p>
          <a:p>
            <a:pPr algn="l" marL="342900" indent="-342900">
              <a:lnSpc>
                <a:spcPts val="350"/>
              </a:lnSpc>
              <a:buSzPct val="100000"/>
              <a:buChar char="•"/>
            </a:pPr>
            <a:r>
              <a:rPr lang="en-US" sz="300" dirty="0">
                <a:solidFill>
                  <a:srgbClr val="F4CAB8"/>
                </a:solidFill>
                <a:latin typeface="Montserrat Medium" pitchFamily="34" charset="0"/>
                <a:ea typeface="Montserrat Medium" pitchFamily="34" charset="-122"/>
                <a:cs typeface="Montserrat Medium" pitchFamily="34" charset="-120"/>
              </a:rPr>
              <a:t>Urgency tactics</a:t>
            </a:r>
            <a:endParaRPr lang="en-US" sz="300" dirty="0"/>
          </a:p>
        </p:txBody>
      </p:sp>
      <p:sp>
        <p:nvSpPr>
          <p:cNvPr id="80" name="Shape 73"/>
          <p:cNvSpPr/>
          <p:nvPr/>
        </p:nvSpPr>
        <p:spPr>
          <a:xfrm>
            <a:off x="234107" y="3544193"/>
            <a:ext cx="2882503" cy="378842"/>
          </a:xfrm>
          <a:prstGeom prst="roundRect">
            <a:avLst>
              <a:gd name="adj" fmla="val 1722"/>
            </a:avLst>
          </a:prstGeom>
          <a:solidFill>
            <a:srgbClr val="5C2438"/>
          </a:solidFill>
          <a:ln w="4763">
            <a:solidFill>
              <a:srgbClr val="662E42"/>
            </a:solidFill>
            <a:prstDash val="solid"/>
          </a:ln>
        </p:spPr>
      </p:sp>
      <p:sp>
        <p:nvSpPr>
          <p:cNvPr id="81" name="Shape 74"/>
          <p:cNvSpPr/>
          <p:nvPr/>
        </p:nvSpPr>
        <p:spPr>
          <a:xfrm>
            <a:off x="238869" y="3548955"/>
            <a:ext cx="2872978" cy="130448"/>
          </a:xfrm>
          <a:prstGeom prst="roundRect">
            <a:avLst>
              <a:gd name="adj" fmla="val 620"/>
            </a:avLst>
          </a:prstGeom>
          <a:solidFill>
            <a:srgbClr val="4D1529"/>
          </a:solidFill>
          <a:ln/>
        </p:spPr>
      </p:sp>
      <p:sp>
        <p:nvSpPr>
          <p:cNvPr id="82" name="Text 75"/>
          <p:cNvSpPr/>
          <p:nvPr/>
        </p:nvSpPr>
        <p:spPr>
          <a:xfrm>
            <a:off x="1642765" y="3573438"/>
            <a:ext cx="65187" cy="81483"/>
          </a:xfrm>
          <a:prstGeom prst="rect">
            <a:avLst/>
          </a:prstGeom>
          <a:noFill/>
          <a:ln/>
        </p:spPr>
        <p:txBody>
          <a:bodyPr wrap="none" lIns="0" tIns="0" rIns="0" bIns="0" rtlCol="0" anchor="ctr"/>
          <a:lstStyle/>
          <a:p>
            <a:pPr algn="ctr" indent="0" marL="0">
              <a:lnSpc>
                <a:spcPct val="100000"/>
              </a:lnSpc>
              <a:buNone/>
            </a:pPr>
            <a:r>
              <a:rPr lang="en-US" sz="500" b="1" dirty="0">
                <a:solidFill>
                  <a:srgbClr val="F4CAB8"/>
                </a:solidFill>
                <a:latin typeface="Brygada 1918 Bold" pitchFamily="34" charset="0"/>
                <a:ea typeface="Brygada 1918 Bold" pitchFamily="34" charset="-122"/>
                <a:cs typeface="Brygada 1918 Bold" pitchFamily="34" charset="-120"/>
              </a:rPr>
              <a:t>1</a:t>
            </a:r>
            <a:endParaRPr lang="en-US" sz="500" dirty="0"/>
          </a:p>
        </p:txBody>
      </p:sp>
      <p:sp>
        <p:nvSpPr>
          <p:cNvPr id="83" name="Text 76"/>
          <p:cNvSpPr/>
          <p:nvPr/>
        </p:nvSpPr>
        <p:spPr>
          <a:xfrm>
            <a:off x="282327" y="3693468"/>
            <a:ext cx="1105793"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Click refund link and enter bank details</a:t>
            </a:r>
            <a:endParaRPr lang="en-US" sz="450" dirty="0"/>
          </a:p>
        </p:txBody>
      </p:sp>
      <p:sp>
        <p:nvSpPr>
          <p:cNvPr id="84" name="Text 77"/>
          <p:cNvSpPr/>
          <p:nvPr/>
        </p:nvSpPr>
        <p:spPr>
          <a:xfrm>
            <a:off x="282327" y="3774281"/>
            <a:ext cx="2786063" cy="46062"/>
          </a:xfrm>
          <a:prstGeom prst="rect">
            <a:avLst/>
          </a:prstGeom>
          <a:noFill/>
          <a:ln/>
        </p:spPr>
        <p:txBody>
          <a:bodyPr wrap="none" lIns="0" tIns="0" rIns="0" bIns="0" rtlCol="0" anchor="t"/>
          <a:lstStyle/>
          <a:p>
            <a:pPr algn="l" indent="0" marL="0">
              <a:lnSpc>
                <a:spcPts val="350"/>
              </a:lnSpc>
              <a:buNone/>
            </a:pPr>
            <a:r>
              <a:rPr lang="en-US" sz="300" b="1" dirty="0">
                <a:solidFill>
                  <a:srgbClr val="421424"/>
                </a:solidFill>
                <a:latin typeface="Montserrat Medium" pitchFamily="34" charset="0"/>
                <a:ea typeface="Montserrat Medium" pitchFamily="34" charset="-122"/>
                <a:cs typeface="Montserrat Medium" pitchFamily="34" charset="-120"/>
              </a:rPr>
              <a:t>–25 Points</a:t>
            </a:r>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 Your banking information was stolen through a fake refund website.</a:t>
            </a:r>
            <a:endParaRPr lang="en-US" sz="300" dirty="0"/>
          </a:p>
        </p:txBody>
      </p:sp>
      <p:sp>
        <p:nvSpPr>
          <p:cNvPr id="85" name="Text 78"/>
          <p:cNvSpPr/>
          <p:nvPr/>
        </p:nvSpPr>
        <p:spPr>
          <a:xfrm>
            <a:off x="282327" y="3828752"/>
            <a:ext cx="2786063" cy="46062"/>
          </a:xfrm>
          <a:prstGeom prst="rect">
            <a:avLst/>
          </a:prstGeom>
          <a:noFill/>
          <a:ln/>
        </p:spPr>
        <p:txBody>
          <a:bodyPr wrap="none" lIns="0" tIns="0" rIns="0" bIns="0" rtlCol="0" anchor="t"/>
          <a:lstStyle/>
          <a:p>
            <a:pPr algn="l" indent="0" marL="0">
              <a:lnSpc>
                <a:spcPts val="350"/>
              </a:lnSpc>
              <a:buNone/>
            </a:pPr>
            <a:r>
              <a:rPr lang="en-US" sz="300" i="1" dirty="0">
                <a:solidFill>
                  <a:srgbClr val="F4CAB8"/>
                </a:solidFill>
                <a:latin typeface="Montserrat Medium" pitchFamily="34" charset="0"/>
                <a:ea typeface="Montserrat Medium" pitchFamily="34" charset="-122"/>
                <a:cs typeface="Montserrat Medium" pitchFamily="34" charset="-120"/>
              </a:rPr>
              <a:t>Universities do not request banking details through SMS refund links.</a:t>
            </a:r>
            <a:endParaRPr lang="en-US" sz="300" dirty="0"/>
          </a:p>
        </p:txBody>
      </p:sp>
      <p:sp>
        <p:nvSpPr>
          <p:cNvPr id="86" name="Shape 79"/>
          <p:cNvSpPr/>
          <p:nvPr/>
        </p:nvSpPr>
        <p:spPr>
          <a:xfrm>
            <a:off x="3130674" y="3544193"/>
            <a:ext cx="2882578" cy="378842"/>
          </a:xfrm>
          <a:prstGeom prst="roundRect">
            <a:avLst>
              <a:gd name="adj" fmla="val 1722"/>
            </a:avLst>
          </a:prstGeom>
          <a:solidFill>
            <a:srgbClr val="5C2438"/>
          </a:solidFill>
          <a:ln w="4763">
            <a:solidFill>
              <a:srgbClr val="662E42"/>
            </a:solidFill>
            <a:prstDash val="solid"/>
          </a:ln>
        </p:spPr>
      </p:sp>
      <p:sp>
        <p:nvSpPr>
          <p:cNvPr id="87" name="Shape 80"/>
          <p:cNvSpPr/>
          <p:nvPr/>
        </p:nvSpPr>
        <p:spPr>
          <a:xfrm>
            <a:off x="3135437" y="3548955"/>
            <a:ext cx="2873053" cy="130448"/>
          </a:xfrm>
          <a:prstGeom prst="roundRect">
            <a:avLst>
              <a:gd name="adj" fmla="val 620"/>
            </a:avLst>
          </a:prstGeom>
          <a:solidFill>
            <a:srgbClr val="4D1529"/>
          </a:solidFill>
          <a:ln/>
        </p:spPr>
      </p:sp>
      <p:sp>
        <p:nvSpPr>
          <p:cNvPr id="88" name="Text 81"/>
          <p:cNvSpPr/>
          <p:nvPr/>
        </p:nvSpPr>
        <p:spPr>
          <a:xfrm>
            <a:off x="4539332" y="3573438"/>
            <a:ext cx="65187" cy="81483"/>
          </a:xfrm>
          <a:prstGeom prst="rect">
            <a:avLst/>
          </a:prstGeom>
          <a:noFill/>
          <a:ln/>
        </p:spPr>
        <p:txBody>
          <a:bodyPr wrap="none" lIns="0" tIns="0" rIns="0" bIns="0" rtlCol="0" anchor="ctr"/>
          <a:lstStyle/>
          <a:p>
            <a:pPr algn="ctr" indent="0" marL="0">
              <a:lnSpc>
                <a:spcPct val="100000"/>
              </a:lnSpc>
              <a:buNone/>
            </a:pPr>
            <a:r>
              <a:rPr lang="en-US" sz="500" b="1" dirty="0">
                <a:solidFill>
                  <a:srgbClr val="F4CAB8"/>
                </a:solidFill>
                <a:latin typeface="Brygada 1918 Bold" pitchFamily="34" charset="0"/>
                <a:ea typeface="Brygada 1918 Bold" pitchFamily="34" charset="-122"/>
                <a:cs typeface="Brygada 1918 Bold" pitchFamily="34" charset="-120"/>
              </a:rPr>
              <a:t>2</a:t>
            </a:r>
            <a:endParaRPr lang="en-US" sz="500" dirty="0"/>
          </a:p>
        </p:txBody>
      </p:sp>
      <p:sp>
        <p:nvSpPr>
          <p:cNvPr id="89" name="Text 82"/>
          <p:cNvSpPr/>
          <p:nvPr/>
        </p:nvSpPr>
        <p:spPr>
          <a:xfrm>
            <a:off x="3178894" y="3693468"/>
            <a:ext cx="1078929"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Check official university finance portal</a:t>
            </a:r>
            <a:endParaRPr lang="en-US" sz="450" dirty="0"/>
          </a:p>
        </p:txBody>
      </p:sp>
      <p:sp>
        <p:nvSpPr>
          <p:cNvPr id="90" name="Text 83"/>
          <p:cNvSpPr/>
          <p:nvPr/>
        </p:nvSpPr>
        <p:spPr>
          <a:xfrm>
            <a:off x="3178894" y="3774281"/>
            <a:ext cx="2786137" cy="46062"/>
          </a:xfrm>
          <a:prstGeom prst="rect">
            <a:avLst/>
          </a:prstGeom>
          <a:noFill/>
          <a:ln/>
        </p:spPr>
        <p:txBody>
          <a:bodyPr wrap="none" lIns="0" tIns="0" rIns="0" bIns="0" rtlCol="0" anchor="t"/>
          <a:lstStyle/>
          <a:p>
            <a:pPr algn="l" indent="0" marL="0">
              <a:lnSpc>
                <a:spcPts val="350"/>
              </a:lnSpc>
              <a:buNone/>
            </a:pPr>
            <a:r>
              <a:rPr lang="en-US" sz="300" b="1" dirty="0">
                <a:solidFill>
                  <a:srgbClr val="FFB393"/>
                </a:solidFill>
                <a:latin typeface="Montserrat Medium" pitchFamily="34" charset="0"/>
                <a:ea typeface="Montserrat Medium" pitchFamily="34" charset="-122"/>
                <a:cs typeface="Montserrat Medium" pitchFamily="34" charset="-120"/>
              </a:rPr>
              <a:t>+30 Points</a:t>
            </a:r>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 The university confirmed the SMS was a phishing scam.</a:t>
            </a:r>
            <a:endParaRPr lang="en-US" sz="300" dirty="0"/>
          </a:p>
        </p:txBody>
      </p:sp>
      <p:sp>
        <p:nvSpPr>
          <p:cNvPr id="91" name="Text 84"/>
          <p:cNvSpPr/>
          <p:nvPr/>
        </p:nvSpPr>
        <p:spPr>
          <a:xfrm>
            <a:off x="3178894" y="3828752"/>
            <a:ext cx="2786137" cy="46062"/>
          </a:xfrm>
          <a:prstGeom prst="rect">
            <a:avLst/>
          </a:prstGeom>
          <a:noFill/>
          <a:ln/>
        </p:spPr>
        <p:txBody>
          <a:bodyPr wrap="none" lIns="0" tIns="0" rIns="0" bIns="0" rtlCol="0" anchor="t"/>
          <a:lstStyle/>
          <a:p>
            <a:pPr algn="l" indent="0" marL="0">
              <a:lnSpc>
                <a:spcPts val="350"/>
              </a:lnSpc>
              <a:buNone/>
            </a:pPr>
            <a:r>
              <a:rPr lang="en-US" sz="300" i="1" dirty="0">
                <a:solidFill>
                  <a:srgbClr val="F4CAB8"/>
                </a:solidFill>
                <a:latin typeface="Montserrat Medium" pitchFamily="34" charset="0"/>
                <a:ea typeface="Montserrat Medium" pitchFamily="34" charset="-122"/>
                <a:cs typeface="Montserrat Medium" pitchFamily="34" charset="-120"/>
              </a:rPr>
              <a:t>Always verify financial notifications through official university portals.</a:t>
            </a:r>
            <a:endParaRPr lang="en-US" sz="300" dirty="0"/>
          </a:p>
        </p:txBody>
      </p:sp>
      <p:sp>
        <p:nvSpPr>
          <p:cNvPr id="92" name="Shape 85"/>
          <p:cNvSpPr/>
          <p:nvPr/>
        </p:nvSpPr>
        <p:spPr>
          <a:xfrm>
            <a:off x="6027316" y="3544193"/>
            <a:ext cx="2882578" cy="378842"/>
          </a:xfrm>
          <a:prstGeom prst="roundRect">
            <a:avLst>
              <a:gd name="adj" fmla="val 1722"/>
            </a:avLst>
          </a:prstGeom>
          <a:solidFill>
            <a:srgbClr val="5C2438"/>
          </a:solidFill>
          <a:ln w="4763">
            <a:solidFill>
              <a:srgbClr val="662E42"/>
            </a:solidFill>
            <a:prstDash val="solid"/>
          </a:ln>
        </p:spPr>
      </p:sp>
      <p:sp>
        <p:nvSpPr>
          <p:cNvPr id="93" name="Shape 86"/>
          <p:cNvSpPr/>
          <p:nvPr/>
        </p:nvSpPr>
        <p:spPr>
          <a:xfrm>
            <a:off x="6032078" y="3548955"/>
            <a:ext cx="2873053" cy="130448"/>
          </a:xfrm>
          <a:prstGeom prst="roundRect">
            <a:avLst>
              <a:gd name="adj" fmla="val 620"/>
            </a:avLst>
          </a:prstGeom>
          <a:solidFill>
            <a:srgbClr val="4D1529"/>
          </a:solidFill>
          <a:ln/>
        </p:spPr>
      </p:sp>
      <p:sp>
        <p:nvSpPr>
          <p:cNvPr id="94" name="Text 87"/>
          <p:cNvSpPr/>
          <p:nvPr/>
        </p:nvSpPr>
        <p:spPr>
          <a:xfrm>
            <a:off x="7435974" y="3573438"/>
            <a:ext cx="65187" cy="81483"/>
          </a:xfrm>
          <a:prstGeom prst="rect">
            <a:avLst/>
          </a:prstGeom>
          <a:noFill/>
          <a:ln/>
        </p:spPr>
        <p:txBody>
          <a:bodyPr wrap="none" lIns="0" tIns="0" rIns="0" bIns="0" rtlCol="0" anchor="ctr"/>
          <a:lstStyle/>
          <a:p>
            <a:pPr algn="ctr" indent="0" marL="0">
              <a:lnSpc>
                <a:spcPct val="100000"/>
              </a:lnSpc>
              <a:buNone/>
            </a:pPr>
            <a:r>
              <a:rPr lang="en-US" sz="500" b="1" dirty="0">
                <a:solidFill>
                  <a:srgbClr val="F4CAB8"/>
                </a:solidFill>
                <a:latin typeface="Brygada 1918 Bold" pitchFamily="34" charset="0"/>
                <a:ea typeface="Brygada 1918 Bold" pitchFamily="34" charset="-122"/>
                <a:cs typeface="Brygada 1918 Bold" pitchFamily="34" charset="-120"/>
              </a:rPr>
              <a:t>3</a:t>
            </a:r>
            <a:endParaRPr lang="en-US" sz="500" dirty="0"/>
          </a:p>
        </p:txBody>
      </p:sp>
      <p:sp>
        <p:nvSpPr>
          <p:cNvPr id="95" name="Text 88"/>
          <p:cNvSpPr/>
          <p:nvPr/>
        </p:nvSpPr>
        <p:spPr>
          <a:xfrm>
            <a:off x="6075536" y="3693468"/>
            <a:ext cx="787598"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Reply asking if refund is real</a:t>
            </a:r>
            <a:endParaRPr lang="en-US" sz="450" dirty="0"/>
          </a:p>
        </p:txBody>
      </p:sp>
      <p:sp>
        <p:nvSpPr>
          <p:cNvPr id="96" name="Text 89"/>
          <p:cNvSpPr/>
          <p:nvPr/>
        </p:nvSpPr>
        <p:spPr>
          <a:xfrm>
            <a:off x="6075536" y="3774281"/>
            <a:ext cx="2786137" cy="46062"/>
          </a:xfrm>
          <a:prstGeom prst="rect">
            <a:avLst/>
          </a:prstGeom>
          <a:noFill/>
          <a:ln/>
        </p:spPr>
        <p:txBody>
          <a:bodyPr wrap="none" lIns="0" tIns="0" rIns="0" bIns="0" rtlCol="0" anchor="t"/>
          <a:lstStyle/>
          <a:p>
            <a:pPr algn="l" indent="0" marL="0">
              <a:lnSpc>
                <a:spcPts val="350"/>
              </a:lnSpc>
              <a:buNone/>
            </a:pPr>
            <a:r>
              <a:rPr lang="en-US" sz="300" b="1" dirty="0">
                <a:solidFill>
                  <a:srgbClr val="421424"/>
                </a:solidFill>
                <a:latin typeface="Montserrat Medium" pitchFamily="34" charset="0"/>
                <a:ea typeface="Montserrat Medium" pitchFamily="34" charset="-122"/>
                <a:cs typeface="Montserrat Medium" pitchFamily="34" charset="-120"/>
              </a:rPr>
              <a:t>–5 Points</a:t>
            </a:r>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 Replying confirmed your phone number is active for future scams.</a:t>
            </a:r>
            <a:endParaRPr lang="en-US" sz="300" dirty="0"/>
          </a:p>
        </p:txBody>
      </p:sp>
      <p:sp>
        <p:nvSpPr>
          <p:cNvPr id="97" name="Text 90"/>
          <p:cNvSpPr/>
          <p:nvPr/>
        </p:nvSpPr>
        <p:spPr>
          <a:xfrm>
            <a:off x="6075536" y="3828752"/>
            <a:ext cx="2786137" cy="46062"/>
          </a:xfrm>
          <a:prstGeom prst="rect">
            <a:avLst/>
          </a:prstGeom>
          <a:noFill/>
          <a:ln/>
        </p:spPr>
        <p:txBody>
          <a:bodyPr wrap="none" lIns="0" tIns="0" rIns="0" bIns="0" rtlCol="0" anchor="t"/>
          <a:lstStyle/>
          <a:p>
            <a:pPr algn="l" indent="0" marL="0">
              <a:lnSpc>
                <a:spcPts val="350"/>
              </a:lnSpc>
              <a:buNone/>
            </a:pPr>
            <a:r>
              <a:rPr lang="en-US" sz="300" i="1" dirty="0">
                <a:solidFill>
                  <a:srgbClr val="F4CAB8"/>
                </a:solidFill>
                <a:latin typeface="Montserrat Medium" pitchFamily="34" charset="0"/>
                <a:ea typeface="Montserrat Medium" pitchFamily="34" charset="-122"/>
                <a:cs typeface="Montserrat Medium" pitchFamily="34" charset="-120"/>
              </a:rPr>
              <a:t>Do not respond to suspicious financial messages.</a:t>
            </a:r>
            <a:endParaRPr lang="en-US" sz="300" dirty="0"/>
          </a:p>
        </p:txBody>
      </p:sp>
      <p:sp>
        <p:nvSpPr>
          <p:cNvPr id="98" name="Shape 91"/>
          <p:cNvSpPr/>
          <p:nvPr/>
        </p:nvSpPr>
        <p:spPr>
          <a:xfrm>
            <a:off x="234107" y="3938885"/>
            <a:ext cx="8675787" cy="191839"/>
          </a:xfrm>
          <a:prstGeom prst="roundRect">
            <a:avLst>
              <a:gd name="adj" fmla="val 3400"/>
            </a:avLst>
          </a:prstGeom>
          <a:solidFill>
            <a:srgbClr val="183A13"/>
          </a:solidFill>
          <a:ln/>
        </p:spPr>
      </p:sp>
      <p:pic>
        <p:nvPicPr>
          <p:cNvPr id="99" name="Image 5" descr="preencoded.png">    </p:cNvPr>
          <p:cNvPicPr>
            <a:picLocks noChangeAspect="1"/>
          </p:cNvPicPr>
          <p:nvPr/>
        </p:nvPicPr>
        <p:blipFill>
          <a:blip r:embed="rId10"/>
          <a:stretch>
            <a:fillRect/>
          </a:stretch>
        </p:blipFill>
        <p:spPr>
          <a:xfrm>
            <a:off x="277564" y="3965451"/>
            <a:ext cx="72479" cy="57969"/>
          </a:xfrm>
          <a:prstGeom prst="rect">
            <a:avLst/>
          </a:prstGeom>
        </p:spPr>
      </p:pic>
      <p:sp>
        <p:nvSpPr>
          <p:cNvPr id="100" name="Text 92"/>
          <p:cNvSpPr/>
          <p:nvPr/>
        </p:nvSpPr>
        <p:spPr>
          <a:xfrm>
            <a:off x="393502" y="3963814"/>
            <a:ext cx="579834" cy="72405"/>
          </a:xfrm>
          <a:prstGeom prst="rect">
            <a:avLst/>
          </a:prstGeom>
          <a:noFill/>
          <a:ln/>
        </p:spPr>
        <p:txBody>
          <a:bodyPr wrap="none" lIns="0" tIns="0" rIns="0" bIns="0" rtlCol="0" anchor="t"/>
          <a:lstStyle/>
          <a:p>
            <a:pPr algn="l" indent="0" marL="0">
              <a:lnSpc>
                <a:spcPts val="550"/>
              </a:lnSpc>
              <a:buNone/>
            </a:pPr>
            <a:r>
              <a:rPr lang="en-US" sz="450" b="1" dirty="0">
                <a:solidFill>
                  <a:srgbClr val="FFFFFF"/>
                </a:solidFill>
                <a:latin typeface="Brygada 1918 Bold" pitchFamily="34" charset="0"/>
                <a:ea typeface="Brygada 1918 Bold" pitchFamily="34" charset="-122"/>
                <a:cs typeface="Brygada 1918 Bold" pitchFamily="34" charset="-120"/>
              </a:rPr>
              <a:t>Correct Approach</a:t>
            </a:r>
            <a:endParaRPr lang="en-US" sz="450" dirty="0"/>
          </a:p>
        </p:txBody>
      </p:sp>
      <p:sp>
        <p:nvSpPr>
          <p:cNvPr id="101" name="Text 93"/>
          <p:cNvSpPr/>
          <p:nvPr/>
        </p:nvSpPr>
        <p:spPr>
          <a:xfrm>
            <a:off x="393502" y="4050283"/>
            <a:ext cx="8472934" cy="46062"/>
          </a:xfrm>
          <a:prstGeom prst="rect">
            <a:avLst/>
          </a:prstGeom>
          <a:noFill/>
          <a:ln/>
        </p:spPr>
        <p:txBody>
          <a:bodyPr wrap="none" lIns="0" tIns="0" rIns="0" bIns="0" rtlCol="0" anchor="t"/>
          <a:lstStyle/>
          <a:p>
            <a:pPr algn="l" indent="0" marL="0">
              <a:lnSpc>
                <a:spcPts val="350"/>
              </a:lnSpc>
              <a:buNone/>
            </a:pPr>
            <a:r>
              <a:rPr lang="en-US" sz="300" dirty="0">
                <a:solidFill>
                  <a:srgbClr val="FFFFFF"/>
                </a:solidFill>
                <a:latin typeface="Montserrat Medium" pitchFamily="34" charset="0"/>
                <a:ea typeface="Montserrat Medium" pitchFamily="34" charset="-122"/>
                <a:cs typeface="Montserrat Medium" pitchFamily="34" charset="-120"/>
              </a:rPr>
              <a:t>Your banking details remain safe and the phishing attempt is avoided. Always verify financial notifications through official university portals, never through SMS links.</a:t>
            </a:r>
            <a:endParaRPr lang="en-US" sz="300" dirty="0"/>
          </a:p>
        </p:txBody>
      </p:sp>
      <p:sp>
        <p:nvSpPr>
          <p:cNvPr id="102" name="Text 94"/>
          <p:cNvSpPr/>
          <p:nvPr/>
        </p:nvSpPr>
        <p:spPr>
          <a:xfrm>
            <a:off x="234107" y="4151858"/>
            <a:ext cx="1074390" cy="115937"/>
          </a:xfrm>
          <a:prstGeom prst="rect">
            <a:avLst/>
          </a:prstGeom>
          <a:noFill/>
          <a:ln/>
        </p:spPr>
        <p:txBody>
          <a:bodyPr wrap="none" lIns="0" tIns="0" rIns="0" bIns="0" rtlCol="0" anchor="t"/>
          <a:lstStyle/>
          <a:p>
            <a:pPr algn="l" indent="0" marL="0">
              <a:lnSpc>
                <a:spcPts val="900"/>
              </a:lnSpc>
              <a:buNone/>
            </a:pPr>
            <a:r>
              <a:rPr lang="en-US" sz="700" b="1" dirty="0">
                <a:solidFill>
                  <a:srgbClr val="FFB393"/>
                </a:solidFill>
                <a:latin typeface="Brygada 1918 Bold" pitchFamily="34" charset="0"/>
                <a:ea typeface="Brygada 1918 Bold" pitchFamily="34" charset="-122"/>
                <a:cs typeface="Brygada 1918 Bold" pitchFamily="34" charset="-120"/>
              </a:rPr>
              <a:t>Key Learning Objectives</a:t>
            </a:r>
            <a:endParaRPr lang="en-US" sz="700" dirty="0"/>
          </a:p>
        </p:txBody>
      </p:sp>
      <p:pic>
        <p:nvPicPr>
          <p:cNvPr id="103" name="Image 6"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4107" y="4288929"/>
            <a:ext cx="108719" cy="108719"/>
          </a:xfrm>
          <a:prstGeom prst="rect">
            <a:avLst/>
          </a:prstGeom>
        </p:spPr>
      </p:pic>
      <p:sp>
        <p:nvSpPr>
          <p:cNvPr id="104" name="Text 95"/>
          <p:cNvSpPr/>
          <p:nvPr/>
        </p:nvSpPr>
        <p:spPr>
          <a:xfrm>
            <a:off x="360462" y="4288929"/>
            <a:ext cx="861268"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Identify Fake University Emails</a:t>
            </a:r>
            <a:endParaRPr lang="en-US" sz="450" dirty="0"/>
          </a:p>
        </p:txBody>
      </p:sp>
      <p:sp>
        <p:nvSpPr>
          <p:cNvPr id="105" name="Text 96"/>
          <p:cNvSpPr/>
          <p:nvPr/>
        </p:nvSpPr>
        <p:spPr>
          <a:xfrm>
            <a:off x="360462" y="4369743"/>
            <a:ext cx="4202683" cy="46062"/>
          </a:xfrm>
          <a:prstGeom prst="rect">
            <a:avLst/>
          </a:prstGeom>
          <a:noFill/>
          <a:ln/>
        </p:spPr>
        <p:txBody>
          <a:bodyPr wrap="none" lIns="0" tIns="0" rIns="0" bIns="0" rtlCol="0" anchor="t"/>
          <a:lstStyle/>
          <a:p>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Learn to spot suspicious email domains, generic greetings, and threatening language that indicate phishing attempts.</a:t>
            </a:r>
            <a:endParaRPr lang="en-US" sz="300" dirty="0"/>
          </a:p>
        </p:txBody>
      </p:sp>
      <p:pic>
        <p:nvPicPr>
          <p:cNvPr id="106" name="Image 7"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580781" y="4288929"/>
            <a:ext cx="108719" cy="108719"/>
          </a:xfrm>
          <a:prstGeom prst="rect">
            <a:avLst/>
          </a:prstGeom>
        </p:spPr>
      </p:pic>
      <p:sp>
        <p:nvSpPr>
          <p:cNvPr id="107" name="Text 97"/>
          <p:cNvSpPr/>
          <p:nvPr/>
        </p:nvSpPr>
        <p:spPr>
          <a:xfrm>
            <a:off x="4707136" y="4288929"/>
            <a:ext cx="608707"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Detect Phishing Links</a:t>
            </a:r>
            <a:endParaRPr lang="en-US" sz="450" dirty="0"/>
          </a:p>
        </p:txBody>
      </p:sp>
      <p:sp>
        <p:nvSpPr>
          <p:cNvPr id="108" name="Text 98"/>
          <p:cNvSpPr/>
          <p:nvPr/>
        </p:nvSpPr>
        <p:spPr>
          <a:xfrm>
            <a:off x="4707136" y="4369743"/>
            <a:ext cx="4202757" cy="46062"/>
          </a:xfrm>
          <a:prstGeom prst="rect">
            <a:avLst/>
          </a:prstGeom>
          <a:noFill/>
          <a:ln/>
        </p:spPr>
        <p:txBody>
          <a:bodyPr wrap="none" lIns="0" tIns="0" rIns="0" bIns="0" rtlCol="0" anchor="t"/>
          <a:lstStyle/>
          <a:p>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Recognise shortened URLs, fake websites, and suspicious links that redirect to malicious pages designed to steal credentials.</a:t>
            </a:r>
            <a:endParaRPr lang="en-US" sz="300" dirty="0"/>
          </a:p>
        </p:txBody>
      </p:sp>
      <p:pic>
        <p:nvPicPr>
          <p:cNvPr id="109" name="Image 8"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4107" y="4444008"/>
            <a:ext cx="108719" cy="108719"/>
          </a:xfrm>
          <a:prstGeom prst="rect">
            <a:avLst/>
          </a:prstGeom>
        </p:spPr>
      </p:pic>
      <p:sp>
        <p:nvSpPr>
          <p:cNvPr id="110" name="Text 99"/>
          <p:cNvSpPr/>
          <p:nvPr/>
        </p:nvSpPr>
        <p:spPr>
          <a:xfrm>
            <a:off x="360462" y="4444008"/>
            <a:ext cx="793105"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Avoid Urgency Manipulation</a:t>
            </a:r>
            <a:endParaRPr lang="en-US" sz="450" dirty="0"/>
          </a:p>
        </p:txBody>
      </p:sp>
      <p:sp>
        <p:nvSpPr>
          <p:cNvPr id="111" name="Text 100"/>
          <p:cNvSpPr/>
          <p:nvPr/>
        </p:nvSpPr>
        <p:spPr>
          <a:xfrm>
            <a:off x="360462" y="4524821"/>
            <a:ext cx="4202683" cy="46062"/>
          </a:xfrm>
          <a:prstGeom prst="rect">
            <a:avLst/>
          </a:prstGeom>
          <a:noFill/>
          <a:ln/>
        </p:spPr>
        <p:txBody>
          <a:bodyPr wrap="none" lIns="0" tIns="0" rIns="0" bIns="0" rtlCol="0" anchor="t"/>
          <a:lstStyle/>
          <a:p>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Understand that legitimate universities will never pressure you to act immediately without proper verification channels.</a:t>
            </a:r>
            <a:endParaRPr lang="en-US" sz="300" dirty="0"/>
          </a:p>
        </p:txBody>
      </p:sp>
      <p:pic>
        <p:nvPicPr>
          <p:cNvPr id="112" name="Image 9"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580781" y="4444008"/>
            <a:ext cx="108719" cy="108719"/>
          </a:xfrm>
          <a:prstGeom prst="rect">
            <a:avLst/>
          </a:prstGeom>
        </p:spPr>
      </p:pic>
      <p:sp>
        <p:nvSpPr>
          <p:cNvPr id="113" name="Text 101"/>
          <p:cNvSpPr/>
          <p:nvPr/>
        </p:nvSpPr>
        <p:spPr>
          <a:xfrm>
            <a:off x="4707136" y="4444008"/>
            <a:ext cx="911796"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Verify Through Official Channels</a:t>
            </a:r>
            <a:endParaRPr lang="en-US" sz="450" dirty="0"/>
          </a:p>
        </p:txBody>
      </p:sp>
      <p:sp>
        <p:nvSpPr>
          <p:cNvPr id="114" name="Text 102"/>
          <p:cNvSpPr/>
          <p:nvPr/>
        </p:nvSpPr>
        <p:spPr>
          <a:xfrm>
            <a:off x="4707136" y="4524821"/>
            <a:ext cx="4202757" cy="46062"/>
          </a:xfrm>
          <a:prstGeom prst="rect">
            <a:avLst/>
          </a:prstGeom>
          <a:noFill/>
          <a:ln/>
        </p:spPr>
        <p:txBody>
          <a:bodyPr wrap="none" lIns="0" tIns="0" rIns="0" bIns="0" rtlCol="0" anchor="t"/>
          <a:lstStyle/>
          <a:p>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Always access university services through trusted platforms and official websites, never through email or SMS links.</a:t>
            </a:r>
            <a:endParaRPr lang="en-US" sz="300" dirty="0"/>
          </a:p>
        </p:txBody>
      </p:sp>
      <p:pic>
        <p:nvPicPr>
          <p:cNvPr id="115" name="Image 10"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34107" y="4599087"/>
            <a:ext cx="108719" cy="108719"/>
          </a:xfrm>
          <a:prstGeom prst="rect">
            <a:avLst/>
          </a:prstGeom>
        </p:spPr>
      </p:pic>
      <p:sp>
        <p:nvSpPr>
          <p:cNvPr id="116" name="Text 103"/>
          <p:cNvSpPr/>
          <p:nvPr/>
        </p:nvSpPr>
        <p:spPr>
          <a:xfrm>
            <a:off x="360462" y="4599087"/>
            <a:ext cx="832247"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Protect Financial Information</a:t>
            </a:r>
            <a:endParaRPr lang="en-US" sz="450" dirty="0"/>
          </a:p>
        </p:txBody>
      </p:sp>
      <p:sp>
        <p:nvSpPr>
          <p:cNvPr id="117" name="Text 104"/>
          <p:cNvSpPr/>
          <p:nvPr/>
        </p:nvSpPr>
        <p:spPr>
          <a:xfrm>
            <a:off x="360462" y="4679900"/>
            <a:ext cx="4202683" cy="46062"/>
          </a:xfrm>
          <a:prstGeom prst="rect">
            <a:avLst/>
          </a:prstGeom>
          <a:noFill/>
          <a:ln/>
        </p:spPr>
        <p:txBody>
          <a:bodyPr wrap="none" lIns="0" tIns="0" rIns="0" bIns="0" rtlCol="0" anchor="t"/>
          <a:lstStyle/>
          <a:p>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Universities never request banking details through unsolicited messages. Verify all financial notifications through official portals.</a:t>
            </a:r>
            <a:endParaRPr lang="en-US" sz="300" dirty="0"/>
          </a:p>
        </p:txBody>
      </p:sp>
      <p:pic>
        <p:nvPicPr>
          <p:cNvPr id="118" name="Image 11"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580781" y="4599087"/>
            <a:ext cx="108719" cy="108719"/>
          </a:xfrm>
          <a:prstGeom prst="rect">
            <a:avLst/>
          </a:prstGeom>
        </p:spPr>
      </p:pic>
      <p:sp>
        <p:nvSpPr>
          <p:cNvPr id="119" name="Text 105"/>
          <p:cNvSpPr/>
          <p:nvPr/>
        </p:nvSpPr>
        <p:spPr>
          <a:xfrm>
            <a:off x="4707136" y="4599087"/>
            <a:ext cx="698897" cy="72405"/>
          </a:xfrm>
          <a:prstGeom prst="rect">
            <a:avLst/>
          </a:prstGeom>
          <a:noFill/>
          <a:ln/>
        </p:spPr>
        <p:txBody>
          <a:bodyPr wrap="none" lIns="0" tIns="0" rIns="0" bIns="0" rtlCol="0" anchor="t"/>
          <a:lstStyle/>
          <a:p>
            <a:pPr algn="l" indent="0" marL="0">
              <a:lnSpc>
                <a:spcPts val="550"/>
              </a:lnSpc>
              <a:buNone/>
            </a:pPr>
            <a:r>
              <a:rPr lang="en-US" sz="450" b="1" dirty="0">
                <a:solidFill>
                  <a:srgbClr val="F4CAB8"/>
                </a:solidFill>
                <a:latin typeface="Brygada 1918 Bold" pitchFamily="34" charset="0"/>
                <a:ea typeface="Brygada 1918 Bold" pitchFamily="34" charset="-122"/>
                <a:cs typeface="Brygada 1918 Bold" pitchFamily="34" charset="-120"/>
              </a:rPr>
              <a:t>Secure Login Credentials</a:t>
            </a:r>
            <a:endParaRPr lang="en-US" sz="450" dirty="0"/>
          </a:p>
        </p:txBody>
      </p:sp>
      <p:sp>
        <p:nvSpPr>
          <p:cNvPr id="120" name="Text 106"/>
          <p:cNvSpPr/>
          <p:nvPr/>
        </p:nvSpPr>
        <p:spPr>
          <a:xfrm>
            <a:off x="4707136" y="4679900"/>
            <a:ext cx="4202757" cy="46062"/>
          </a:xfrm>
          <a:prstGeom prst="rect">
            <a:avLst/>
          </a:prstGeom>
          <a:noFill/>
          <a:ln/>
        </p:spPr>
        <p:txBody>
          <a:bodyPr wrap="none" lIns="0" tIns="0" rIns="0" bIns="0" rtlCol="0" anchor="t"/>
          <a:lstStyle/>
          <a:p>
            <a:pPr algn="l" indent="0" marL="0">
              <a:lnSpc>
                <a:spcPts val="350"/>
              </a:lnSpc>
              <a:buNone/>
            </a:pPr>
            <a:r>
              <a:rPr lang="en-US" sz="300" dirty="0">
                <a:solidFill>
                  <a:srgbClr val="F4CAB8"/>
                </a:solidFill>
                <a:latin typeface="Montserrat Medium" pitchFamily="34" charset="0"/>
                <a:ea typeface="Montserrat Medium" pitchFamily="34" charset="-122"/>
                <a:cs typeface="Montserrat Medium" pitchFamily="34" charset="-120"/>
              </a:rPr>
              <a:t>Never enter university login details on pages accessed through email links. Use official portals to protect your accounts.</a:t>
            </a:r>
            <a:endParaRPr lang="en-US" sz="300" dirty="0"/>
          </a:p>
        </p:txBody>
      </p:sp>
      <p:sp>
        <p:nvSpPr>
          <p:cNvPr id="121" name="Shape 107"/>
          <p:cNvSpPr/>
          <p:nvPr/>
        </p:nvSpPr>
        <p:spPr>
          <a:xfrm>
            <a:off x="234107" y="4741813"/>
            <a:ext cx="8675787" cy="191839"/>
          </a:xfrm>
          <a:prstGeom prst="roundRect">
            <a:avLst>
              <a:gd name="adj" fmla="val 3400"/>
            </a:avLst>
          </a:prstGeom>
          <a:solidFill>
            <a:srgbClr val="022349"/>
          </a:solidFill>
          <a:ln/>
        </p:spPr>
      </p:sp>
      <p:pic>
        <p:nvPicPr>
          <p:cNvPr id="122" name="Image 12" descr="preencoded.png">    </p:cNvPr>
          <p:cNvPicPr>
            <a:picLocks noChangeAspect="1"/>
          </p:cNvPicPr>
          <p:nvPr/>
        </p:nvPicPr>
        <p:blipFill>
          <a:blip r:embed="rId23"/>
          <a:stretch>
            <a:fillRect/>
          </a:stretch>
        </p:blipFill>
        <p:spPr>
          <a:xfrm>
            <a:off x="277564" y="4768379"/>
            <a:ext cx="72479" cy="57969"/>
          </a:xfrm>
          <a:prstGeom prst="rect">
            <a:avLst/>
          </a:prstGeom>
        </p:spPr>
      </p:pic>
      <p:sp>
        <p:nvSpPr>
          <p:cNvPr id="123" name="Text 108"/>
          <p:cNvSpPr/>
          <p:nvPr/>
        </p:nvSpPr>
        <p:spPr>
          <a:xfrm>
            <a:off x="393502" y="4766742"/>
            <a:ext cx="690116" cy="72405"/>
          </a:xfrm>
          <a:prstGeom prst="rect">
            <a:avLst/>
          </a:prstGeom>
          <a:noFill/>
          <a:ln/>
        </p:spPr>
        <p:txBody>
          <a:bodyPr wrap="none" lIns="0" tIns="0" rIns="0" bIns="0" rtlCol="0" anchor="t"/>
          <a:lstStyle/>
          <a:p>
            <a:pPr algn="l" indent="0" marL="0">
              <a:lnSpc>
                <a:spcPts val="550"/>
              </a:lnSpc>
              <a:buNone/>
            </a:pPr>
            <a:r>
              <a:rPr lang="en-US" sz="450" b="1" dirty="0">
                <a:solidFill>
                  <a:srgbClr val="FFFFFF"/>
                </a:solidFill>
                <a:latin typeface="Brygada 1918 Bold" pitchFamily="34" charset="0"/>
                <a:ea typeface="Brygada 1918 Bold" pitchFamily="34" charset="-122"/>
                <a:cs typeface="Brygada 1918 Bold" pitchFamily="34" charset="-120"/>
              </a:rPr>
              <a:t>Remember: Stay Vigilant</a:t>
            </a:r>
            <a:endParaRPr lang="en-US" sz="450" dirty="0"/>
          </a:p>
        </p:txBody>
      </p:sp>
      <p:sp>
        <p:nvSpPr>
          <p:cNvPr id="124" name="Text 109"/>
          <p:cNvSpPr/>
          <p:nvPr/>
        </p:nvSpPr>
        <p:spPr>
          <a:xfrm>
            <a:off x="393502" y="4853211"/>
            <a:ext cx="8472934" cy="46062"/>
          </a:xfrm>
          <a:prstGeom prst="rect">
            <a:avLst/>
          </a:prstGeom>
          <a:noFill/>
          <a:ln/>
        </p:spPr>
        <p:txBody>
          <a:bodyPr wrap="none" lIns="0" tIns="0" rIns="0" bIns="0" rtlCol="0" anchor="t"/>
          <a:lstStyle/>
          <a:p>
            <a:pPr algn="l" indent="0" marL="0">
              <a:lnSpc>
                <a:spcPts val="350"/>
              </a:lnSpc>
              <a:buNone/>
            </a:pPr>
            <a:r>
              <a:rPr lang="en-US" sz="300" dirty="0">
                <a:solidFill>
                  <a:srgbClr val="FFFFFF"/>
                </a:solidFill>
                <a:latin typeface="Montserrat Medium" pitchFamily="34" charset="0"/>
                <a:ea typeface="Montserrat Medium" pitchFamily="34" charset="-122"/>
                <a:cs typeface="Montserrat Medium" pitchFamily="34" charset="-120"/>
              </a:rPr>
              <a:t>Phishing attacks use fear, urgency, and excitement to pressure you into acting without thinking. Take a moment to verify any suspicious message through official university channels before clicking links or providing personal information.</a:t>
            </a:r>
            <a:endParaRPr lang="en-US" sz="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68288" y="2348731"/>
            <a:ext cx="3568378" cy="445963"/>
          </a:xfrm>
          <a:prstGeom prst="rect">
            <a:avLst/>
          </a:prstGeom>
          <a:noFill/>
          <a:ln/>
        </p:spPr>
        <p:txBody>
          <a:bodyPr wrap="none" lIns="0" tIns="0" rIns="0" bIns="0" rtlCol="0" anchor="t"/>
          <a:lstStyle/>
          <a:p>
            <a:pPr algn="l" indent="0" marL="0">
              <a:lnSpc>
                <a:spcPts val="3500"/>
              </a:lnSpc>
              <a:buNone/>
            </a:pP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2026-05-08T16:11:31Z</dcterms:created>
  <dcterms:modified xsi:type="dcterms:W3CDTF">2026-05-08T16:11:31Z</dcterms:modified>
</cp:coreProperties>
</file>